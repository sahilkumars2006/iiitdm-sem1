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88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B1E19-955A-456C-9E5D-553061E3F00B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BC38F-76A6-475D-9A87-1AA0B17B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79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34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390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257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61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863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828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981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948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176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441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192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04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4E50-9F75-4DA7-AD0F-4A53F33CAD7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9829-FB65-4A74-B93B-A2AC0DB3CA32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48FA-12EB-49D9-9A61-EBD84431EF7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4C9B-7394-44BA-BD30-2FF87C825A48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6D17-2118-47D8-B830-EFA5A080548D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7C01-0CB4-4708-85FC-6ABDAE56C6E9}" type="datetime1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CED3-45F8-402A-AA03-55028586046B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32DD-8FE3-42BF-9189-77504FF52A2E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DCB7-B57A-4F0A-B618-78C9CD8220ED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9BBA-3CEC-4F9D-8CFD-0F564BA72DCF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42067-29E4-4E30-A301-5F219282EE4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A31BE-42BD-4507-AD17-26440FDCE293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3053892"/>
            <a:ext cx="12192000" cy="701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dirty="0">
                <a:latin typeface="+mn-lt"/>
                <a:ea typeface="+mn-ea"/>
                <a:cs typeface="+mn-cs"/>
              </a:rPr>
              <a:t>Phase Diagrams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387522" y="4121624"/>
            <a:ext cx="9144000" cy="1450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</a:p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Terminology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605" y="823469"/>
            <a:ext cx="20881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Solvent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66348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Solubility Limit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604" y="823469"/>
            <a:ext cx="59504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continues to dissolve sugar till a certain limit called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solubility limit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this limit, sugar does not dissolve and thus, remain as a separate substance within the sugar–water solution.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Solubility is temperature dependent.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726" y="523220"/>
            <a:ext cx="5757274" cy="3953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63841" y="4476466"/>
            <a:ext cx="42990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solubility of sugar (C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a sugar–water syrup.</a:t>
            </a:r>
          </a:p>
        </p:txBody>
      </p:sp>
    </p:spTree>
    <p:extLst>
      <p:ext uri="{BB962C8B-B14F-4D97-AF65-F5344CB8AC3E}">
        <p14:creationId xmlns:p14="http://schemas.microsoft.com/office/powerpoint/2010/main" val="2435824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Definition of a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823469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Homogeneous portion of a system that has uniform physical and chemical characteristics.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pure material is considered to be a single phase system.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two phases exist in a system, they can differ in either physical properties or in chemical properties or in both.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Sugar–Water solution + Solid sugar; Ice + Water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 of a substance in two or more polymorphic forms, like FCC, BCC is possible. Then, each of these structures within the substance is a phase.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phase systems are termed “homogeneous”, while the ones with more than one phase are termed “mixtures” or “heterogeneous”. Alloys, ceramic, polymeric and composites systems are heterogeneous.</a:t>
            </a:r>
          </a:p>
        </p:txBody>
      </p:sp>
    </p:spTree>
    <p:extLst>
      <p:ext uri="{BB962C8B-B14F-4D97-AF65-F5344CB8AC3E}">
        <p14:creationId xmlns:p14="http://schemas.microsoft.com/office/powerpoint/2010/main" val="122171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Phase Equilibria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823469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Energy: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E–TS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internal energy of the system,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absolute temperature and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entropy.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is said to be in equilibrium when its free energy is at a minimum for a given pressure, temperature and composition.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equilibrium refers to the equilibrium of systems with more than one phases. Look at the figure showing sugar–water solution + solid sugar system at different temperatures and compositions.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equilibrium is relevant even in systems having only solid phases.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Non–equilibrium or metastable states exist in solid phase systems.</a:t>
            </a:r>
          </a:p>
        </p:txBody>
      </p:sp>
    </p:spTree>
    <p:extLst>
      <p:ext uri="{BB962C8B-B14F-4D97-AF65-F5344CB8AC3E}">
        <p14:creationId xmlns:p14="http://schemas.microsoft.com/office/powerpoint/2010/main" val="210672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One Component Phase Diagrams (Unary Phase Diagrams)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302" y="686991"/>
            <a:ext cx="55376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diagram of a pure substance. Only pressure and temperature are the variables.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point.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any other variable that the phase diagram of a pure substance will depend on?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225" y="523219"/>
            <a:ext cx="6367776" cy="35438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98" y="2891152"/>
            <a:ext cx="4818003" cy="396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72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Binary Phase Diagrams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302" y="686991"/>
            <a:ext cx="599819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and composition are variables. Pressure is held constant (normally at 1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– Ni System: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isomorphous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 solubility limit).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solubility below 1080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They have same crystal structure (FCC), nearly identical atomic radii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electronegativities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similar valences – which are all requirements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of defects.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Metallic solid solutions are commonly designated by lowercase Greek letters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phase boundary separating (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</a:t>
            </a:r>
            <a:r>
              <a:rPr lang="en-I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liquidus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one separating (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Solidus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intersection points of the these boundaries are the respective melting points.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514" y="571933"/>
            <a:ext cx="5941486" cy="628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4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Binary Phase Diagrams –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38836" y="809821"/>
                <a:ext cx="5998191" cy="5083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horizontal line in the phase diagram is an isotherm, also called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Tie line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Draw a tie line passing through the point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composition of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phase is given by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that of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given by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l-GR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find phase fractions</a:t>
                </a:r>
              </a:p>
              <a:p>
                <a:pPr algn="just"/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Hint: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 the distance from point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either of the phase boundaries.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fraction of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phase = R/(R+S) and for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phase is S/(R+S).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Equivalently,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36" y="809821"/>
                <a:ext cx="5998191" cy="5083315"/>
              </a:xfrm>
              <a:prstGeom prst="rect">
                <a:avLst/>
              </a:prstGeom>
              <a:blipFill rotWithShape="0">
                <a:blip r:embed="rId3"/>
                <a:stretch>
                  <a:fillRect l="-1016" t="-719" r="-1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493" y="686991"/>
            <a:ext cx="5815151" cy="49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5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Binary Phase Diagrams –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302" y="686991"/>
            <a:ext cx="5998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multi–phase alloys (more than two), volume fractions are preferred.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2" y="2172165"/>
            <a:ext cx="2017194" cy="1485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880" y="2172164"/>
            <a:ext cx="1935994" cy="1485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499" y="4038206"/>
            <a:ext cx="2708158" cy="22198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227" y="885951"/>
            <a:ext cx="2274078" cy="101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53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Development of Microstructure – Equilibrium Cooling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686" y="523220"/>
            <a:ext cx="5281684" cy="622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24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Development of Microstructure – </a:t>
            </a:r>
            <a:r>
              <a:rPr lang="en-IN" sz="2800" dirty="0" err="1"/>
              <a:t>Nonequilibrium</a:t>
            </a:r>
            <a:r>
              <a:rPr lang="en-IN" sz="2800" dirty="0"/>
              <a:t> Cooling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920" y="517833"/>
            <a:ext cx="4972334" cy="62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Properties of </a:t>
            </a:r>
            <a:r>
              <a:rPr lang="en-IN" sz="2800" dirty="0" err="1"/>
              <a:t>Isomorphous</a:t>
            </a:r>
            <a:r>
              <a:rPr lang="en-IN" sz="2800" dirty="0"/>
              <a:t> Alloys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25" y="1214652"/>
            <a:ext cx="11308277" cy="46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26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Binary Eutectic Systems – Cu + Ag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513" y="536583"/>
            <a:ext cx="8311487" cy="6321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724" y="714286"/>
            <a:ext cx="326863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Solubility limit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Solidus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Liquidus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Solvus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Melting temperature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and heating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Eutectic Reaction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Eutectic Isotherm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Eutectic system</a:t>
            </a:r>
          </a:p>
        </p:txBody>
      </p:sp>
    </p:spTree>
    <p:extLst>
      <p:ext uri="{BB962C8B-B14F-4D97-AF65-F5344CB8AC3E}">
        <p14:creationId xmlns:p14="http://schemas.microsoft.com/office/powerpoint/2010/main" val="2972935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512" y="523220"/>
            <a:ext cx="8170289" cy="63142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Binary Eutectic Systems – Pb + Sn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724" y="714286"/>
            <a:ext cx="326863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Solubility limit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Solidus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Liquidus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Solvus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Melting temperature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and heating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Eutectic Reaction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Eutectic Isotherm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Eutectic system</a:t>
            </a:r>
          </a:p>
        </p:txBody>
      </p:sp>
    </p:spTree>
    <p:extLst>
      <p:ext uri="{BB962C8B-B14F-4D97-AF65-F5344CB8AC3E}">
        <p14:creationId xmlns:p14="http://schemas.microsoft.com/office/powerpoint/2010/main" val="3184797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Lead–free solders – Sn +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724" y="714286"/>
            <a:ext cx="4775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Ternary alloys as lead–free solders.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066" y="714286"/>
            <a:ext cx="6927612" cy="54408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6132"/>
            <a:ext cx="5527343" cy="27068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6000" y="5108928"/>
            <a:ext cx="4775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Stands for eutectic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362" y="1564956"/>
            <a:ext cx="5366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alloy compositions for lead–free solders.</a:t>
            </a:r>
          </a:p>
        </p:txBody>
      </p:sp>
    </p:spTree>
    <p:extLst>
      <p:ext uri="{BB962C8B-B14F-4D97-AF65-F5344CB8AC3E}">
        <p14:creationId xmlns:p14="http://schemas.microsoft.com/office/powerpoint/2010/main" val="396031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Microstructure in Eutectic Alloys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1"/>
            <a:ext cx="4806786" cy="63347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402"/>
          <a:stretch/>
        </p:blipFill>
        <p:spPr>
          <a:xfrm>
            <a:off x="5172501" y="523220"/>
            <a:ext cx="4367284" cy="630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02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Microstructure in Eutectic Alloys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273" y="523220"/>
            <a:ext cx="8357791" cy="63347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3" y="3894217"/>
            <a:ext cx="4145380" cy="2825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362" y="1564956"/>
            <a:ext cx="4094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layers are of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–phase and bright layers are of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–phase.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64275" y="2279176"/>
            <a:ext cx="423080" cy="161504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289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Microstructure in Eutectic Alloys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429" y="523220"/>
            <a:ext cx="7827571" cy="6230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3702553" cy="290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65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Microstructure in Eutectic Alloys – Phase Fractions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008" r="1"/>
          <a:stretch/>
        </p:blipFill>
        <p:spPr>
          <a:xfrm>
            <a:off x="5281684" y="540000"/>
            <a:ext cx="6883842" cy="553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21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512" y="523220"/>
            <a:ext cx="8170289" cy="63142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Binary Eutectic Systems – Pb + Sn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724" y="714286"/>
            <a:ext cx="3268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all the phase fractions for a 40% tin and 60% Pb alloy at a temperature just below 183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3906565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Equilibrium Diagrams Having Intermediate Phases or Compounds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869"/>
          <a:stretch/>
        </p:blipFill>
        <p:spPr>
          <a:xfrm>
            <a:off x="1299452" y="523220"/>
            <a:ext cx="8787650" cy="633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00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Equilibrium Diagrams Having Intermediate Phases or Compounds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8" y="523221"/>
            <a:ext cx="8814245" cy="629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73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Eutectoid and </a:t>
            </a:r>
            <a:r>
              <a:rPr lang="en-IN" sz="2800" dirty="0" err="1"/>
              <a:t>Peritectic</a:t>
            </a:r>
            <a:r>
              <a:rPr lang="en-IN" sz="2800" dirty="0"/>
              <a:t> Reactions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823" y="523220"/>
            <a:ext cx="9458635" cy="5782046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5117910" y="3753134"/>
            <a:ext cx="395786" cy="3821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6120140" y="2841036"/>
            <a:ext cx="395786" cy="3821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4920017" y="1392071"/>
            <a:ext cx="395786" cy="3821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991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Congruent Phase Transformations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497" y="564241"/>
            <a:ext cx="5878900" cy="62732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1505856"/>
            <a:ext cx="3268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Ni–Ti system</a:t>
            </a:r>
          </a:p>
        </p:txBody>
      </p:sp>
    </p:spTree>
    <p:extLst>
      <p:ext uri="{BB962C8B-B14F-4D97-AF65-F5344CB8AC3E}">
        <p14:creationId xmlns:p14="http://schemas.microsoft.com/office/powerpoint/2010/main" val="3339706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Gibbs Phase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5773" y="837115"/>
            <a:ext cx="1883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+ F = C +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310" y="1551120"/>
            <a:ext cx="9553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Number of phases in the system		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Number of degrees of freedom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Number of components			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Number of non–compositional 						         variables</a:t>
            </a:r>
          </a:p>
        </p:txBody>
      </p:sp>
    </p:spTree>
    <p:extLst>
      <p:ext uri="{BB962C8B-B14F-4D97-AF65-F5344CB8AC3E}">
        <p14:creationId xmlns:p14="http://schemas.microsoft.com/office/powerpoint/2010/main" val="764546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liberty shi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739" y="589697"/>
            <a:ext cx="7687064" cy="537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Failure of Liberty Ships</a:t>
            </a:r>
          </a:p>
        </p:txBody>
      </p:sp>
    </p:spTree>
    <p:extLst>
      <p:ext uri="{BB962C8B-B14F-4D97-AF65-F5344CB8AC3E}">
        <p14:creationId xmlns:p14="http://schemas.microsoft.com/office/powerpoint/2010/main" val="1281434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Iron – Carbon System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178" t="972" r="1049"/>
          <a:stretch/>
        </p:blipFill>
        <p:spPr>
          <a:xfrm>
            <a:off x="2371150" y="523220"/>
            <a:ext cx="8533411" cy="6335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3880" y="1546799"/>
            <a:ext cx="1883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 – Fe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33784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Microstructure evolution in Fe – Fe</a:t>
            </a:r>
            <a:r>
              <a:rPr lang="en-IN" sz="2800" baseline="-25000" dirty="0"/>
              <a:t>3</a:t>
            </a:r>
            <a:r>
              <a:rPr lang="en-IN" sz="2800" dirty="0"/>
              <a:t>C systems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011" y="523220"/>
            <a:ext cx="4979132" cy="62936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94" y="1007830"/>
            <a:ext cx="3961924" cy="37969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2309" y="4781526"/>
            <a:ext cx="3839093" cy="10156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Pearlite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darker layers are of Fe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and the lighter ones are of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406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390" y="1581347"/>
            <a:ext cx="6102610" cy="4696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Microstructure evolution in Fe – Fe</a:t>
            </a:r>
            <a:r>
              <a:rPr lang="en-IN" sz="2800" baseline="-25000" dirty="0"/>
              <a:t>3</a:t>
            </a:r>
            <a:r>
              <a:rPr lang="en-IN" sz="2800" dirty="0"/>
              <a:t>C systems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94" y="1007830"/>
            <a:ext cx="3961924" cy="37969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2309" y="4781526"/>
            <a:ext cx="3839093" cy="10156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Pearlite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darker layers are of Fe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and the lighter ones are of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702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Hypoeutectoid</a:t>
            </a:r>
            <a:r>
              <a:rPr lang="en-IN" sz="2800" dirty="0"/>
              <a:t> alloys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337" y="2297634"/>
            <a:ext cx="3021603" cy="40011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pearlite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904" y="523220"/>
            <a:ext cx="4904096" cy="6357382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1282890" y="2697744"/>
            <a:ext cx="368489" cy="1901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6815" y="4581136"/>
            <a:ext cx="3021603" cy="70788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will start forming along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boundaries.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647667" y="1378424"/>
            <a:ext cx="382136" cy="919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4715" y="702541"/>
            <a:ext cx="6414450" cy="70788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structure consists of pro–eutectoid and eutectoid ferrite micro–constituents.</a:t>
            </a:r>
          </a:p>
        </p:txBody>
      </p:sp>
    </p:spTree>
    <p:extLst>
      <p:ext uri="{BB962C8B-B14F-4D97-AF65-F5344CB8AC3E}">
        <p14:creationId xmlns:p14="http://schemas.microsoft.com/office/powerpoint/2010/main" val="3774585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Hypoeutectoid</a:t>
            </a:r>
            <a:r>
              <a:rPr lang="en-IN" sz="2800" dirty="0"/>
              <a:t> alloys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904" y="523220"/>
            <a:ext cx="4904096" cy="63573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4715" y="702541"/>
            <a:ext cx="6414450" cy="70788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structure consists of pro–eutectoid and eutectoid ferrite micro–constituents.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4" y="1589747"/>
            <a:ext cx="7205427" cy="418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92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Hypereutectoid alloys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" y="523220"/>
            <a:ext cx="6387151" cy="70788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structure consists of pro–eutectoid and eutectoid cementite (Fe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micro–constituents.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612" y="523220"/>
            <a:ext cx="4899545" cy="63066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67" y="1454075"/>
            <a:ext cx="6342757" cy="491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4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413" y="700624"/>
            <a:ext cx="7700587" cy="58366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Finding compositions and phase fractions</a:t>
            </a:r>
          </a:p>
        </p:txBody>
      </p:sp>
    </p:spTree>
    <p:extLst>
      <p:ext uri="{BB962C8B-B14F-4D97-AF65-F5344CB8AC3E}">
        <p14:creationId xmlns:p14="http://schemas.microsoft.com/office/powerpoint/2010/main" val="1904666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Adding other alloying elements to Fe – C system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3979"/>
            <a:ext cx="5037816" cy="39799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827" y="673979"/>
            <a:ext cx="3917346" cy="380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464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4300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kilograms of nickel must be added to 1.75 kg of copper to yield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liquidus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temperature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1300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C?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kilograms of nickel must be added to 5.43 kg of copper to yield a solidus temperature of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1200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Concept Check?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027" y="1954262"/>
            <a:ext cx="5815151" cy="49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0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2322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hypothetical eutectic phase diagram for metals A and B. Assume that: (l)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phases exist at the A and B extremes of the phase diagram, respectively; (2) the eutectic composition is 36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A–64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B; and (3) the composition of the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 at the eutectic temperature is 88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A–12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B and that of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 is 8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% A–92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B. Melting temperatures of A and B are 327</a:t>
            </a:r>
            <a:r>
              <a:rPr lang="en-US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and 232</a:t>
            </a:r>
            <a:r>
              <a:rPr lang="en-US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eutectic phase transformation occurs at 183</a:t>
            </a:r>
            <a:r>
              <a:rPr lang="en-US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Construct the eutectic phase diagram. Determine what composition of the alloy will yield primary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eutectic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 fractions of 0.367 and 0.401, respectively.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Concept Check?</a:t>
            </a:r>
          </a:p>
        </p:txBody>
      </p:sp>
    </p:spTree>
    <p:extLst>
      <p:ext uri="{BB962C8B-B14F-4D97-AF65-F5344CB8AC3E}">
        <p14:creationId xmlns:p14="http://schemas.microsoft.com/office/powerpoint/2010/main" val="99941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4075</TotalTime>
  <Words>1185</Words>
  <Application>Microsoft Office PowerPoint</Application>
  <PresentationFormat>Widescreen</PresentationFormat>
  <Paragraphs>171</Paragraphs>
  <Slides>36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141</cp:revision>
  <dcterms:created xsi:type="dcterms:W3CDTF">2018-09-04T10:03:30Z</dcterms:created>
  <dcterms:modified xsi:type="dcterms:W3CDTF">2024-08-20T05:42:11Z</dcterms:modified>
</cp:coreProperties>
</file>