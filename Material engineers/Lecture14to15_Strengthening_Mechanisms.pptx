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87" r:id="rId3"/>
    <p:sldId id="261" r:id="rId4"/>
    <p:sldId id="262" r:id="rId5"/>
    <p:sldId id="263" r:id="rId6"/>
    <p:sldId id="264" r:id="rId7"/>
    <p:sldId id="265" r:id="rId8"/>
    <p:sldId id="266" r:id="rId9"/>
    <p:sldId id="267" r:id="rId10"/>
    <p:sldId id="268" r:id="rId11"/>
    <p:sldId id="270" r:id="rId12"/>
    <p:sldId id="271" r:id="rId13"/>
    <p:sldId id="288" r:id="rId14"/>
    <p:sldId id="272" r:id="rId15"/>
    <p:sldId id="273" r:id="rId16"/>
    <p:sldId id="274" r:id="rId17"/>
    <p:sldId id="275" r:id="rId18"/>
    <p:sldId id="276" r:id="rId19"/>
    <p:sldId id="277" r:id="rId20"/>
    <p:sldId id="278" r:id="rId21"/>
    <p:sldId id="279" r:id="rId22"/>
    <p:sldId id="280" r:id="rId23"/>
    <p:sldId id="289"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63" d="100"/>
          <a:sy n="63" d="100"/>
        </p:scale>
        <p:origin x="804"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CB1E19-955A-456C-9E5D-553061E3F00B}" type="datetimeFigureOut">
              <a:rPr lang="en-IN" smtClean="0"/>
              <a:t>20-08-2024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FBC38F-76A6-475D-9A87-1AA0B17BE2AC}" type="slidenum">
              <a:rPr lang="en-IN" smtClean="0"/>
              <a:t>‹#›</a:t>
            </a:fld>
            <a:endParaRPr lang="en-IN"/>
          </a:p>
        </p:txBody>
      </p:sp>
    </p:spTree>
    <p:extLst>
      <p:ext uri="{BB962C8B-B14F-4D97-AF65-F5344CB8AC3E}">
        <p14:creationId xmlns:p14="http://schemas.microsoft.com/office/powerpoint/2010/main" val="25707959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5</a:t>
            </a:fld>
            <a:endParaRPr lang="en-IN"/>
          </a:p>
        </p:txBody>
      </p:sp>
    </p:spTree>
    <p:extLst>
      <p:ext uri="{BB962C8B-B14F-4D97-AF65-F5344CB8AC3E}">
        <p14:creationId xmlns:p14="http://schemas.microsoft.com/office/powerpoint/2010/main" val="28197910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6</a:t>
            </a:fld>
            <a:endParaRPr lang="en-IN"/>
          </a:p>
        </p:txBody>
      </p:sp>
    </p:spTree>
    <p:extLst>
      <p:ext uri="{BB962C8B-B14F-4D97-AF65-F5344CB8AC3E}">
        <p14:creationId xmlns:p14="http://schemas.microsoft.com/office/powerpoint/2010/main" val="9375904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7</a:t>
            </a:fld>
            <a:endParaRPr lang="en-IN"/>
          </a:p>
        </p:txBody>
      </p:sp>
    </p:spTree>
    <p:extLst>
      <p:ext uri="{BB962C8B-B14F-4D97-AF65-F5344CB8AC3E}">
        <p14:creationId xmlns:p14="http://schemas.microsoft.com/office/powerpoint/2010/main" val="29457993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8</a:t>
            </a:fld>
            <a:endParaRPr lang="en-IN"/>
          </a:p>
        </p:txBody>
      </p:sp>
    </p:spTree>
    <p:extLst>
      <p:ext uri="{BB962C8B-B14F-4D97-AF65-F5344CB8AC3E}">
        <p14:creationId xmlns:p14="http://schemas.microsoft.com/office/powerpoint/2010/main" val="3810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9</a:t>
            </a:fld>
            <a:endParaRPr lang="en-IN"/>
          </a:p>
        </p:txBody>
      </p:sp>
    </p:spTree>
    <p:extLst>
      <p:ext uri="{BB962C8B-B14F-4D97-AF65-F5344CB8AC3E}">
        <p14:creationId xmlns:p14="http://schemas.microsoft.com/office/powerpoint/2010/main" val="3144287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10</a:t>
            </a:fld>
            <a:endParaRPr lang="en-IN"/>
          </a:p>
        </p:txBody>
      </p:sp>
    </p:spTree>
    <p:extLst>
      <p:ext uri="{BB962C8B-B14F-4D97-AF65-F5344CB8AC3E}">
        <p14:creationId xmlns:p14="http://schemas.microsoft.com/office/powerpoint/2010/main" val="18323702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11</a:t>
            </a:fld>
            <a:endParaRPr lang="en-IN"/>
          </a:p>
        </p:txBody>
      </p:sp>
    </p:spTree>
    <p:extLst>
      <p:ext uri="{BB962C8B-B14F-4D97-AF65-F5344CB8AC3E}">
        <p14:creationId xmlns:p14="http://schemas.microsoft.com/office/powerpoint/2010/main" val="28455063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12</a:t>
            </a:fld>
            <a:endParaRPr lang="en-IN"/>
          </a:p>
        </p:txBody>
      </p:sp>
    </p:spTree>
    <p:extLst>
      <p:ext uri="{BB962C8B-B14F-4D97-AF65-F5344CB8AC3E}">
        <p14:creationId xmlns:p14="http://schemas.microsoft.com/office/powerpoint/2010/main" val="22324018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13</a:t>
            </a:fld>
            <a:endParaRPr lang="en-IN"/>
          </a:p>
        </p:txBody>
      </p:sp>
    </p:spTree>
    <p:extLst>
      <p:ext uri="{BB962C8B-B14F-4D97-AF65-F5344CB8AC3E}">
        <p14:creationId xmlns:p14="http://schemas.microsoft.com/office/powerpoint/2010/main" val="37379969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14</a:t>
            </a:fld>
            <a:endParaRPr lang="en-IN"/>
          </a:p>
        </p:txBody>
      </p:sp>
    </p:spTree>
    <p:extLst>
      <p:ext uri="{BB962C8B-B14F-4D97-AF65-F5344CB8AC3E}">
        <p14:creationId xmlns:p14="http://schemas.microsoft.com/office/powerpoint/2010/main" val="40138093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15</a:t>
            </a:fld>
            <a:endParaRPr lang="en-IN"/>
          </a:p>
        </p:txBody>
      </p:sp>
    </p:spTree>
    <p:extLst>
      <p:ext uri="{BB962C8B-B14F-4D97-AF65-F5344CB8AC3E}">
        <p14:creationId xmlns:p14="http://schemas.microsoft.com/office/powerpoint/2010/main" val="32433519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16</a:t>
            </a:fld>
            <a:endParaRPr lang="en-IN"/>
          </a:p>
        </p:txBody>
      </p:sp>
    </p:spTree>
    <p:extLst>
      <p:ext uri="{BB962C8B-B14F-4D97-AF65-F5344CB8AC3E}">
        <p14:creationId xmlns:p14="http://schemas.microsoft.com/office/powerpoint/2010/main" val="183209631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17</a:t>
            </a:fld>
            <a:endParaRPr lang="en-IN"/>
          </a:p>
        </p:txBody>
      </p:sp>
    </p:spTree>
    <p:extLst>
      <p:ext uri="{BB962C8B-B14F-4D97-AF65-F5344CB8AC3E}">
        <p14:creationId xmlns:p14="http://schemas.microsoft.com/office/powerpoint/2010/main" val="15743431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18</a:t>
            </a:fld>
            <a:endParaRPr lang="en-IN"/>
          </a:p>
        </p:txBody>
      </p:sp>
    </p:spTree>
    <p:extLst>
      <p:ext uri="{BB962C8B-B14F-4D97-AF65-F5344CB8AC3E}">
        <p14:creationId xmlns:p14="http://schemas.microsoft.com/office/powerpoint/2010/main" val="40312604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19</a:t>
            </a:fld>
            <a:endParaRPr lang="en-IN"/>
          </a:p>
        </p:txBody>
      </p:sp>
    </p:spTree>
    <p:extLst>
      <p:ext uri="{BB962C8B-B14F-4D97-AF65-F5344CB8AC3E}">
        <p14:creationId xmlns:p14="http://schemas.microsoft.com/office/powerpoint/2010/main" val="373478888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20</a:t>
            </a:fld>
            <a:endParaRPr lang="en-IN"/>
          </a:p>
        </p:txBody>
      </p:sp>
    </p:spTree>
    <p:extLst>
      <p:ext uri="{BB962C8B-B14F-4D97-AF65-F5344CB8AC3E}">
        <p14:creationId xmlns:p14="http://schemas.microsoft.com/office/powerpoint/2010/main" val="278014637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21</a:t>
            </a:fld>
            <a:endParaRPr lang="en-IN"/>
          </a:p>
        </p:txBody>
      </p:sp>
    </p:spTree>
    <p:extLst>
      <p:ext uri="{BB962C8B-B14F-4D97-AF65-F5344CB8AC3E}">
        <p14:creationId xmlns:p14="http://schemas.microsoft.com/office/powerpoint/2010/main" val="4931312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A6B66782-D957-489F-AB85-B3D9DA15E9DD}" type="slidenum">
              <a:rPr lang="en-IN" smtClean="0"/>
              <a:t>22</a:t>
            </a:fld>
            <a:endParaRPr lang="en-IN"/>
          </a:p>
        </p:txBody>
      </p:sp>
    </p:spTree>
    <p:extLst>
      <p:ext uri="{BB962C8B-B14F-4D97-AF65-F5344CB8AC3E}">
        <p14:creationId xmlns:p14="http://schemas.microsoft.com/office/powerpoint/2010/main" val="39162706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19C99A3-A339-4C6A-A623-A71567999525}" type="datetimeFigureOut">
              <a:rPr lang="en-IN" smtClean="0"/>
              <a:t>20-08-2024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B3AEBA-54C1-46AE-B9E9-BABC12F758AA}" type="slidenum">
              <a:rPr lang="en-IN" smtClean="0"/>
              <a:t>‹#›</a:t>
            </a:fld>
            <a:endParaRPr lang="en-IN"/>
          </a:p>
        </p:txBody>
      </p:sp>
    </p:spTree>
    <p:extLst>
      <p:ext uri="{BB962C8B-B14F-4D97-AF65-F5344CB8AC3E}">
        <p14:creationId xmlns:p14="http://schemas.microsoft.com/office/powerpoint/2010/main" val="98673752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19C99A3-A339-4C6A-A623-A71567999525}" type="datetimeFigureOut">
              <a:rPr lang="en-IN" smtClean="0"/>
              <a:t>20-08-2024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B3AEBA-54C1-46AE-B9E9-BABC12F758AA}" type="slidenum">
              <a:rPr lang="en-IN" smtClean="0"/>
              <a:t>‹#›</a:t>
            </a:fld>
            <a:endParaRPr lang="en-IN"/>
          </a:p>
        </p:txBody>
      </p:sp>
    </p:spTree>
    <p:extLst>
      <p:ext uri="{BB962C8B-B14F-4D97-AF65-F5344CB8AC3E}">
        <p14:creationId xmlns:p14="http://schemas.microsoft.com/office/powerpoint/2010/main" val="26243069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19C99A3-A339-4C6A-A623-A71567999525}" type="datetimeFigureOut">
              <a:rPr lang="en-IN" smtClean="0"/>
              <a:t>20-08-2024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B3AEBA-54C1-46AE-B9E9-BABC12F758AA}" type="slidenum">
              <a:rPr lang="en-IN" smtClean="0"/>
              <a:t>‹#›</a:t>
            </a:fld>
            <a:endParaRPr lang="en-IN"/>
          </a:p>
        </p:txBody>
      </p:sp>
    </p:spTree>
    <p:extLst>
      <p:ext uri="{BB962C8B-B14F-4D97-AF65-F5344CB8AC3E}">
        <p14:creationId xmlns:p14="http://schemas.microsoft.com/office/powerpoint/2010/main" val="1669411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619C99A3-A339-4C6A-A623-A71567999525}" type="datetimeFigureOut">
              <a:rPr lang="en-IN" smtClean="0"/>
              <a:t>20-08-2024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B3AEBA-54C1-46AE-B9E9-BABC12F758AA}" type="slidenum">
              <a:rPr lang="en-IN" smtClean="0"/>
              <a:t>‹#›</a:t>
            </a:fld>
            <a:endParaRPr lang="en-IN"/>
          </a:p>
        </p:txBody>
      </p:sp>
    </p:spTree>
    <p:extLst>
      <p:ext uri="{BB962C8B-B14F-4D97-AF65-F5344CB8AC3E}">
        <p14:creationId xmlns:p14="http://schemas.microsoft.com/office/powerpoint/2010/main" val="19756529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619C99A3-A339-4C6A-A623-A71567999525}" type="datetimeFigureOut">
              <a:rPr lang="en-IN" smtClean="0"/>
              <a:t>20-08-2024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1B3AEBA-54C1-46AE-B9E9-BABC12F758AA}" type="slidenum">
              <a:rPr lang="en-IN" smtClean="0"/>
              <a:t>‹#›</a:t>
            </a:fld>
            <a:endParaRPr lang="en-IN"/>
          </a:p>
        </p:txBody>
      </p:sp>
    </p:spTree>
    <p:extLst>
      <p:ext uri="{BB962C8B-B14F-4D97-AF65-F5344CB8AC3E}">
        <p14:creationId xmlns:p14="http://schemas.microsoft.com/office/powerpoint/2010/main" val="176130401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19C99A3-A339-4C6A-A623-A71567999525}" type="datetimeFigureOut">
              <a:rPr lang="en-IN" smtClean="0"/>
              <a:t>20-08-2024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1B3AEBA-54C1-46AE-B9E9-BABC12F758AA}" type="slidenum">
              <a:rPr lang="en-IN" smtClean="0"/>
              <a:t>‹#›</a:t>
            </a:fld>
            <a:endParaRPr lang="en-IN"/>
          </a:p>
        </p:txBody>
      </p:sp>
    </p:spTree>
    <p:extLst>
      <p:ext uri="{BB962C8B-B14F-4D97-AF65-F5344CB8AC3E}">
        <p14:creationId xmlns:p14="http://schemas.microsoft.com/office/powerpoint/2010/main" val="15515801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19C99A3-A339-4C6A-A623-A71567999525}" type="datetimeFigureOut">
              <a:rPr lang="en-IN" smtClean="0"/>
              <a:t>20-08-2024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1B3AEBA-54C1-46AE-B9E9-BABC12F758AA}" type="slidenum">
              <a:rPr lang="en-IN" smtClean="0"/>
              <a:t>‹#›</a:t>
            </a:fld>
            <a:endParaRPr lang="en-IN"/>
          </a:p>
        </p:txBody>
      </p:sp>
    </p:spTree>
    <p:extLst>
      <p:ext uri="{BB962C8B-B14F-4D97-AF65-F5344CB8AC3E}">
        <p14:creationId xmlns:p14="http://schemas.microsoft.com/office/powerpoint/2010/main" val="7061652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19C99A3-A339-4C6A-A623-A71567999525}" type="datetimeFigureOut">
              <a:rPr lang="en-IN" smtClean="0"/>
              <a:t>20-08-2024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B3AEBA-54C1-46AE-B9E9-BABC12F758AA}" type="slidenum">
              <a:rPr lang="en-IN" smtClean="0"/>
              <a:t>‹#›</a:t>
            </a:fld>
            <a:endParaRPr lang="en-IN"/>
          </a:p>
        </p:txBody>
      </p:sp>
    </p:spTree>
    <p:extLst>
      <p:ext uri="{BB962C8B-B14F-4D97-AF65-F5344CB8AC3E}">
        <p14:creationId xmlns:p14="http://schemas.microsoft.com/office/powerpoint/2010/main" val="1871769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19C99A3-A339-4C6A-A623-A71567999525}" type="datetimeFigureOut">
              <a:rPr lang="en-IN" smtClean="0"/>
              <a:t>20-08-2024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1B3AEBA-54C1-46AE-B9E9-BABC12F758AA}" type="slidenum">
              <a:rPr lang="en-IN" smtClean="0"/>
              <a:t>‹#›</a:t>
            </a:fld>
            <a:endParaRPr lang="en-IN"/>
          </a:p>
        </p:txBody>
      </p:sp>
    </p:spTree>
    <p:extLst>
      <p:ext uri="{BB962C8B-B14F-4D97-AF65-F5344CB8AC3E}">
        <p14:creationId xmlns:p14="http://schemas.microsoft.com/office/powerpoint/2010/main" val="17479914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19C99A3-A339-4C6A-A623-A71567999525}" type="datetimeFigureOut">
              <a:rPr lang="en-IN" smtClean="0"/>
              <a:t>20-08-2024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B3AEBA-54C1-46AE-B9E9-BABC12F758AA}" type="slidenum">
              <a:rPr lang="en-IN" smtClean="0"/>
              <a:t>‹#›</a:t>
            </a:fld>
            <a:endParaRPr lang="en-IN"/>
          </a:p>
        </p:txBody>
      </p:sp>
    </p:spTree>
    <p:extLst>
      <p:ext uri="{BB962C8B-B14F-4D97-AF65-F5344CB8AC3E}">
        <p14:creationId xmlns:p14="http://schemas.microsoft.com/office/powerpoint/2010/main" val="17655837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19C99A3-A339-4C6A-A623-A71567999525}" type="datetimeFigureOut">
              <a:rPr lang="en-IN" smtClean="0"/>
              <a:t>20-08-2024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1B3AEBA-54C1-46AE-B9E9-BABC12F758AA}" type="slidenum">
              <a:rPr lang="en-IN" smtClean="0"/>
              <a:t>‹#›</a:t>
            </a:fld>
            <a:endParaRPr lang="en-IN"/>
          </a:p>
        </p:txBody>
      </p:sp>
    </p:spTree>
    <p:extLst>
      <p:ext uri="{BB962C8B-B14F-4D97-AF65-F5344CB8AC3E}">
        <p14:creationId xmlns:p14="http://schemas.microsoft.com/office/powerpoint/2010/main" val="27493488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19C99A3-A339-4C6A-A623-A71567999525}" type="datetimeFigureOut">
              <a:rPr lang="en-IN" smtClean="0"/>
              <a:t>20-08-2024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B3AEBA-54C1-46AE-B9E9-BABC12F758AA}" type="slidenum">
              <a:rPr lang="en-IN" smtClean="0"/>
              <a:t>‹#›</a:t>
            </a:fld>
            <a:endParaRPr lang="en-IN"/>
          </a:p>
        </p:txBody>
      </p:sp>
    </p:spTree>
    <p:extLst>
      <p:ext uri="{BB962C8B-B14F-4D97-AF65-F5344CB8AC3E}">
        <p14:creationId xmlns:p14="http://schemas.microsoft.com/office/powerpoint/2010/main" val="23671747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emf"/><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4.emf"/></Relationships>
</file>

<file path=ppt/slides/_rels/slide4.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8.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11.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jpeg"/><Relationship Id="rId4" Type="http://schemas.openxmlformats.org/officeDocument/2006/relationships/image" Target="../media/image16.emf"/></Relationships>
</file>

<file path=ppt/slides/_rels/slide1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0.emf"/></Relationships>
</file>

<file path=ppt/slides/_rels/slide15.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22.emf"/></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emf"/><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4.emf"/><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25.emf"/></Relationships>
</file>

<file path=ppt/slides/_rels/slide19.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28.emf"/><Relationship Id="rId4" Type="http://schemas.openxmlformats.org/officeDocument/2006/relationships/image" Target="../media/image27.emf"/></Relationships>
</file>

<file path=ppt/slides/_rels/slide20.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notesSlide" Target="../notesSlides/notesSlide16.xml"/><Relationship Id="rId1" Type="http://schemas.openxmlformats.org/officeDocument/2006/relationships/slideLayout" Target="../slideLayouts/slideLayout2.xml"/><Relationship Id="rId6" Type="http://schemas.openxmlformats.org/officeDocument/2006/relationships/image" Target="../media/image32.emf"/><Relationship Id="rId5" Type="http://schemas.openxmlformats.org/officeDocument/2006/relationships/image" Target="../media/image31.emf"/><Relationship Id="rId4" Type="http://schemas.openxmlformats.org/officeDocument/2006/relationships/image" Target="../media/image30.emf"/></Relationships>
</file>

<file path=ppt/slides/_rels/slide21.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35.emf"/><Relationship Id="rId5" Type="http://schemas.openxmlformats.org/officeDocument/2006/relationships/image" Target="../media/image45.png"/><Relationship Id="rId4" Type="http://schemas.openxmlformats.org/officeDocument/2006/relationships/image" Target="../media/image34.emf"/></Relationships>
</file>

<file path=ppt/slides/_rels/slide22.x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preferRelativeResize="0">
            <a:picLocks noChangeAspect="1"/>
          </p:cNvPicPr>
          <p:nvPr/>
        </p:nvPicPr>
        <p:blipFill rotWithShape="1">
          <a:blip r:embed="rId2" cstate="print">
            <a:extLst>
              <a:ext uri="{28A0092B-C50C-407E-A947-70E740481C1C}">
                <a14:useLocalDpi xmlns:a14="http://schemas.microsoft.com/office/drawing/2010/main" val="0"/>
              </a:ext>
            </a:extLst>
          </a:blip>
          <a:srcRect l="6353" t="5329" r="5306" b="2876"/>
          <a:stretch/>
        </p:blipFill>
        <p:spPr>
          <a:xfrm>
            <a:off x="8707278" y="6"/>
            <a:ext cx="2700843" cy="2700843"/>
          </a:xfrm>
          <a:prstGeom prst="rect">
            <a:avLst/>
          </a:prstGeom>
        </p:spPr>
      </p:pic>
      <p:sp>
        <p:nvSpPr>
          <p:cNvPr id="7" name="Title 1"/>
          <p:cNvSpPr txBox="1">
            <a:spLocks/>
          </p:cNvSpPr>
          <p:nvPr/>
        </p:nvSpPr>
        <p:spPr>
          <a:xfrm>
            <a:off x="0" y="3053892"/>
            <a:ext cx="12192000" cy="701731"/>
          </a:xfrm>
          <a:prstGeom prst="rect">
            <a:avLst/>
          </a:prstGeom>
          <a:solidFill>
            <a:schemeClr val="tx2">
              <a:lumMod val="20000"/>
              <a:lumOff val="80000"/>
            </a:schemeClr>
          </a:solidFill>
        </p:spPr>
        <p:txBody>
          <a:bodyPr vert="horz" wrap="square" lIns="91440" tIns="45720" rIns="91440" bIns="45720" rtlCol="0" anchor="b">
            <a:sp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IN" sz="4400" dirty="0">
                <a:latin typeface="+mn-lt"/>
                <a:ea typeface="+mn-ea"/>
                <a:cs typeface="+mn-cs"/>
              </a:rPr>
              <a:t>Strengthening Mechanisms</a:t>
            </a:r>
          </a:p>
        </p:txBody>
      </p:sp>
      <p:sp>
        <p:nvSpPr>
          <p:cNvPr id="8" name="Subtitle 2"/>
          <p:cNvSpPr txBox="1">
            <a:spLocks/>
          </p:cNvSpPr>
          <p:nvPr/>
        </p:nvSpPr>
        <p:spPr>
          <a:xfrm>
            <a:off x="1387522" y="4121624"/>
            <a:ext cx="9144000" cy="1450074"/>
          </a:xfrm>
          <a:prstGeom prst="rect">
            <a:avLst/>
          </a:prstGeom>
        </p:spPr>
        <p:txBody>
          <a:bodyPr vert="horz" lIns="91440" tIns="45720" rIns="91440" bIns="45720" rtlCol="0" anchor="ctr">
            <a:normAutofit fontScale="62500" lnSpcReduction="2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IN" b="1" dirty="0"/>
              <a:t> </a:t>
            </a:r>
          </a:p>
          <a:p>
            <a:r>
              <a:rPr lang="en-IN" b="1" dirty="0"/>
              <a:t> </a:t>
            </a:r>
          </a:p>
          <a:p>
            <a:r>
              <a:rPr lang="en-IN" b="1" dirty="0" err="1"/>
              <a:t>Dr.</a:t>
            </a:r>
            <a:r>
              <a:rPr lang="en-IN" b="1" dirty="0"/>
              <a:t> J. </a:t>
            </a:r>
            <a:r>
              <a:rPr lang="en-IN" b="1" dirty="0" err="1"/>
              <a:t>Venkatramani</a:t>
            </a:r>
            <a:endParaRPr lang="en-IN" b="1" dirty="0"/>
          </a:p>
          <a:p>
            <a:r>
              <a:rPr lang="en-IN" b="1" dirty="0"/>
              <a:t>219-B</a:t>
            </a:r>
          </a:p>
          <a:p>
            <a:r>
              <a:rPr lang="en-IN" b="1" dirty="0"/>
              <a:t>venkatramani@iiitdm.ac.in</a:t>
            </a:r>
          </a:p>
        </p:txBody>
      </p:sp>
    </p:spTree>
    <p:extLst>
      <p:ext uri="{BB962C8B-B14F-4D97-AF65-F5344CB8AC3E}">
        <p14:creationId xmlns:p14="http://schemas.microsoft.com/office/powerpoint/2010/main" val="18875963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Dislocation motion – Plastic Deformation</a:t>
            </a:r>
          </a:p>
        </p:txBody>
      </p:sp>
      <p:sp>
        <p:nvSpPr>
          <p:cNvPr id="9" name="TextBox 8"/>
          <p:cNvSpPr txBox="1"/>
          <p:nvPr/>
        </p:nvSpPr>
        <p:spPr>
          <a:xfrm>
            <a:off x="0" y="523220"/>
            <a:ext cx="12192000" cy="2862322"/>
          </a:xfrm>
          <a:prstGeom prst="rect">
            <a:avLst/>
          </a:prstGeom>
          <a:noFill/>
        </p:spPr>
        <p:txBody>
          <a:bodyPr wrap="square" rtlCol="0">
            <a:spAutoFit/>
          </a:bodyPr>
          <a:lstStyle/>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Large scale movement of dislocations is the microscopic cause behind plastic deformation in most of the metals.</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“Arresting these dislocations” prevents plastic deformation so that, the yield strength of the metal increases.</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Higher the dislocation density lesser mobility for the dislocations and hence, the material becomes stronger.</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Grain boundaries act as obstacles to dislocation motion. Thus, they too strengthen the materials.</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Presence of impurities will strengthen the materials by hindering dislocation motion.</a:t>
            </a:r>
          </a:p>
        </p:txBody>
      </p:sp>
    </p:spTree>
    <p:extLst>
      <p:ext uri="{BB962C8B-B14F-4D97-AF65-F5344CB8AC3E}">
        <p14:creationId xmlns:p14="http://schemas.microsoft.com/office/powerpoint/2010/main" val="561191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Dislocation motion – Plastic Deformation</a:t>
            </a:r>
          </a:p>
        </p:txBody>
      </p:sp>
      <p:sp>
        <p:nvSpPr>
          <p:cNvPr id="9" name="TextBox 8"/>
          <p:cNvSpPr txBox="1"/>
          <p:nvPr/>
        </p:nvSpPr>
        <p:spPr>
          <a:xfrm>
            <a:off x="0" y="523220"/>
            <a:ext cx="4831307" cy="400110"/>
          </a:xfrm>
          <a:prstGeom prst="rect">
            <a:avLst/>
          </a:prstGeom>
          <a:noFill/>
        </p:spPr>
        <p:txBody>
          <a:bodyPr wrap="square" rtlCol="0">
            <a:spAutoFit/>
          </a:bodyPr>
          <a:lstStyle/>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Dislocation motion – Plastic Deformation</a:t>
            </a:r>
          </a:p>
        </p:txBody>
      </p:sp>
      <p:pic>
        <p:nvPicPr>
          <p:cNvPr id="2" name="Picture 1"/>
          <p:cNvPicPr>
            <a:picLocks noChangeAspect="1"/>
          </p:cNvPicPr>
          <p:nvPr/>
        </p:nvPicPr>
        <p:blipFill>
          <a:blip r:embed="rId2"/>
          <a:stretch>
            <a:fillRect/>
          </a:stretch>
        </p:blipFill>
        <p:spPr>
          <a:xfrm>
            <a:off x="290025" y="923330"/>
            <a:ext cx="3463109" cy="3309638"/>
          </a:xfrm>
          <a:prstGeom prst="rect">
            <a:avLst/>
          </a:prstGeom>
        </p:spPr>
      </p:pic>
      <p:pic>
        <p:nvPicPr>
          <p:cNvPr id="6" name="Picture 5"/>
          <p:cNvPicPr>
            <a:picLocks noChangeAspect="1"/>
          </p:cNvPicPr>
          <p:nvPr/>
        </p:nvPicPr>
        <p:blipFill>
          <a:blip r:embed="rId3"/>
          <a:stretch>
            <a:fillRect/>
          </a:stretch>
        </p:blipFill>
        <p:spPr>
          <a:xfrm>
            <a:off x="4493570" y="1142078"/>
            <a:ext cx="2671505" cy="3043153"/>
          </a:xfrm>
          <a:prstGeom prst="rect">
            <a:avLst/>
          </a:prstGeom>
        </p:spPr>
      </p:pic>
      <p:pic>
        <p:nvPicPr>
          <p:cNvPr id="10" name="Picture 9"/>
          <p:cNvPicPr>
            <a:picLocks noChangeAspect="1"/>
          </p:cNvPicPr>
          <p:nvPr/>
        </p:nvPicPr>
        <p:blipFill>
          <a:blip r:embed="rId4"/>
          <a:stretch>
            <a:fillRect/>
          </a:stretch>
        </p:blipFill>
        <p:spPr>
          <a:xfrm>
            <a:off x="7905510" y="1142078"/>
            <a:ext cx="3164385" cy="3043153"/>
          </a:xfrm>
          <a:prstGeom prst="rect">
            <a:avLst/>
          </a:prstGeom>
        </p:spPr>
      </p:pic>
      <p:cxnSp>
        <p:nvCxnSpPr>
          <p:cNvPr id="12" name="Straight Arrow Connector 11"/>
          <p:cNvCxnSpPr/>
          <p:nvPr/>
        </p:nvCxnSpPr>
        <p:spPr>
          <a:xfrm>
            <a:off x="3753134" y="2975212"/>
            <a:ext cx="740436" cy="0"/>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a:off x="7165075" y="2975212"/>
            <a:ext cx="740436" cy="0"/>
          </a:xfrm>
          <a:prstGeom prst="straightConnector1">
            <a:avLst/>
          </a:prstGeom>
          <a:ln w="28575">
            <a:solidFill>
              <a:schemeClr val="tx1"/>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pic>
        <p:nvPicPr>
          <p:cNvPr id="14" name="Picture 13"/>
          <p:cNvPicPr>
            <a:picLocks noChangeAspect="1"/>
          </p:cNvPicPr>
          <p:nvPr/>
        </p:nvPicPr>
        <p:blipFill>
          <a:blip r:embed="rId5"/>
          <a:stretch>
            <a:fillRect/>
          </a:stretch>
        </p:blipFill>
        <p:spPr>
          <a:xfrm>
            <a:off x="1450142" y="4420774"/>
            <a:ext cx="9314318" cy="2216449"/>
          </a:xfrm>
          <a:prstGeom prst="rect">
            <a:avLst/>
          </a:prstGeom>
        </p:spPr>
      </p:pic>
    </p:spTree>
    <p:extLst>
      <p:ext uri="{BB962C8B-B14F-4D97-AF65-F5344CB8AC3E}">
        <p14:creationId xmlns:p14="http://schemas.microsoft.com/office/powerpoint/2010/main" val="24442125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Dislocation motion – Plastic Deformation</a:t>
            </a:r>
          </a:p>
        </p:txBody>
      </p:sp>
      <p:sp>
        <p:nvSpPr>
          <p:cNvPr id="9" name="TextBox 8"/>
          <p:cNvSpPr txBox="1"/>
          <p:nvPr/>
        </p:nvSpPr>
        <p:spPr>
          <a:xfrm>
            <a:off x="0" y="523220"/>
            <a:ext cx="7397087" cy="400110"/>
          </a:xfrm>
          <a:prstGeom prst="rect">
            <a:avLst/>
          </a:prstGeom>
          <a:noFill/>
        </p:spPr>
        <p:txBody>
          <a:bodyPr wrap="square" rtlCol="0">
            <a:spAutoFit/>
          </a:bodyPr>
          <a:lstStyle/>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Dislocation motion – Edge Vs Screw Dislocation</a:t>
            </a:r>
          </a:p>
        </p:txBody>
      </p:sp>
      <p:pic>
        <p:nvPicPr>
          <p:cNvPr id="3" name="Picture 2"/>
          <p:cNvPicPr>
            <a:picLocks noChangeAspect="1"/>
          </p:cNvPicPr>
          <p:nvPr/>
        </p:nvPicPr>
        <p:blipFill>
          <a:blip r:embed="rId2"/>
          <a:stretch>
            <a:fillRect/>
          </a:stretch>
        </p:blipFill>
        <p:spPr>
          <a:xfrm>
            <a:off x="3024897" y="1160060"/>
            <a:ext cx="7231384" cy="2409895"/>
          </a:xfrm>
          <a:prstGeom prst="rect">
            <a:avLst/>
          </a:prstGeom>
        </p:spPr>
      </p:pic>
      <p:pic>
        <p:nvPicPr>
          <p:cNvPr id="5" name="Picture 4"/>
          <p:cNvPicPr>
            <a:picLocks noChangeAspect="1"/>
          </p:cNvPicPr>
          <p:nvPr/>
        </p:nvPicPr>
        <p:blipFill>
          <a:blip r:embed="rId3"/>
          <a:stretch>
            <a:fillRect/>
          </a:stretch>
        </p:blipFill>
        <p:spPr>
          <a:xfrm>
            <a:off x="2552483" y="3934013"/>
            <a:ext cx="8176211" cy="2521378"/>
          </a:xfrm>
          <a:prstGeom prst="rect">
            <a:avLst/>
          </a:prstGeom>
        </p:spPr>
      </p:pic>
    </p:spTree>
    <p:extLst>
      <p:ext uri="{BB962C8B-B14F-4D97-AF65-F5344CB8AC3E}">
        <p14:creationId xmlns:p14="http://schemas.microsoft.com/office/powerpoint/2010/main" val="8528772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Dislocation motion – Plastic Deformation</a:t>
            </a:r>
          </a:p>
        </p:txBody>
      </p:sp>
      <p:sp>
        <p:nvSpPr>
          <p:cNvPr id="9" name="TextBox 8"/>
          <p:cNvSpPr txBox="1"/>
          <p:nvPr/>
        </p:nvSpPr>
        <p:spPr>
          <a:xfrm>
            <a:off x="600502" y="1000891"/>
            <a:ext cx="11015003" cy="3785652"/>
          </a:xfrm>
          <a:prstGeom prst="rect">
            <a:avLst/>
          </a:prstGeom>
          <a:noFill/>
        </p:spPr>
        <p:txBody>
          <a:bodyPr wrap="square" rtlCol="0">
            <a:spAutoFit/>
          </a:bodyPr>
          <a:lstStyle/>
          <a:p>
            <a:pPr algn="just"/>
            <a:r>
              <a:rPr lang="en-IN" sz="2000" b="1" dirty="0">
                <a:latin typeface="Times New Roman" panose="02020603050405020304" pitchFamily="18" charset="0"/>
                <a:cs typeface="Times New Roman" panose="02020603050405020304" pitchFamily="18" charset="0"/>
              </a:rPr>
              <a:t>Dislocation Density</a:t>
            </a:r>
            <a:r>
              <a:rPr lang="en-IN" sz="2000" dirty="0">
                <a:latin typeface="Times New Roman" panose="02020603050405020304" pitchFamily="18" charset="0"/>
                <a:cs typeface="Times New Roman" panose="02020603050405020304" pitchFamily="18" charset="0"/>
              </a:rPr>
              <a:t>: Number of dislocations per unit area intercepted by the dislocations</a:t>
            </a:r>
          </a:p>
          <a:p>
            <a:pPr algn="just"/>
            <a:r>
              <a:rPr lang="en-IN" sz="2000" dirty="0">
                <a:latin typeface="Times New Roman" panose="02020603050405020304" pitchFamily="18" charset="0"/>
                <a:cs typeface="Times New Roman" panose="02020603050405020304" pitchFamily="18" charset="0"/>
              </a:rPr>
              <a:t>						or</a:t>
            </a:r>
          </a:p>
          <a:p>
            <a:pPr algn="just"/>
            <a:r>
              <a:rPr lang="en-IN" sz="2000" dirty="0">
                <a:latin typeface="Times New Roman" panose="02020603050405020304" pitchFamily="18" charset="0"/>
                <a:cs typeface="Times New Roman" panose="02020603050405020304" pitchFamily="18" charset="0"/>
              </a:rPr>
              <a:t>		      Length of the dislocation line per unit volume</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For metals cast by controlled solidification, the dislocation density is in the order of 10</a:t>
            </a:r>
            <a:r>
              <a:rPr lang="en-IN" sz="2000" baseline="30000" dirty="0">
                <a:latin typeface="Times New Roman" panose="02020603050405020304" pitchFamily="18" charset="0"/>
                <a:cs typeface="Times New Roman" panose="02020603050405020304" pitchFamily="18" charset="0"/>
              </a:rPr>
              <a:t>3</a:t>
            </a:r>
            <a:r>
              <a:rPr lang="en-IN" sz="2000" dirty="0">
                <a:latin typeface="Times New Roman" panose="02020603050405020304" pitchFamily="18" charset="0"/>
                <a:cs typeface="Times New Roman" panose="02020603050405020304" pitchFamily="18" charset="0"/>
              </a:rPr>
              <a:t>/mm</a:t>
            </a:r>
            <a:r>
              <a:rPr lang="en-IN" sz="2000" baseline="30000" dirty="0">
                <a:latin typeface="Times New Roman" panose="02020603050405020304" pitchFamily="18" charset="0"/>
                <a:cs typeface="Times New Roman" panose="02020603050405020304" pitchFamily="18" charset="0"/>
              </a:rPr>
              <a:t>2</a:t>
            </a:r>
            <a:r>
              <a:rPr lang="en-IN" sz="2000" dirty="0">
                <a:latin typeface="Times New Roman" panose="02020603050405020304" pitchFamily="18" charset="0"/>
                <a:cs typeface="Times New Roman" panose="02020603050405020304" pitchFamily="18" charset="0"/>
              </a:rPr>
              <a:t>.</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For heavily processed metals, it can be as high as 10</a:t>
            </a:r>
            <a:r>
              <a:rPr lang="en-IN" sz="2000" baseline="30000" dirty="0">
                <a:latin typeface="Times New Roman" panose="02020603050405020304" pitchFamily="18" charset="0"/>
                <a:cs typeface="Times New Roman" panose="02020603050405020304" pitchFamily="18" charset="0"/>
              </a:rPr>
              <a:t>9</a:t>
            </a:r>
            <a:r>
              <a:rPr lang="en-IN" sz="2000" dirty="0">
                <a:latin typeface="Times New Roman" panose="02020603050405020304" pitchFamily="18" charset="0"/>
                <a:cs typeface="Times New Roman" panose="02020603050405020304" pitchFamily="18" charset="0"/>
              </a:rPr>
              <a:t> to 10</a:t>
            </a:r>
            <a:r>
              <a:rPr lang="en-IN" sz="2000" baseline="30000" dirty="0">
                <a:latin typeface="Times New Roman" panose="02020603050405020304" pitchFamily="18" charset="0"/>
                <a:cs typeface="Times New Roman" panose="02020603050405020304" pitchFamily="18" charset="0"/>
              </a:rPr>
              <a:t>10</a:t>
            </a:r>
            <a:r>
              <a:rPr lang="en-IN" sz="2000" dirty="0">
                <a:latin typeface="Times New Roman" panose="02020603050405020304" pitchFamily="18" charset="0"/>
                <a:cs typeface="Times New Roman" panose="02020603050405020304" pitchFamily="18" charset="0"/>
              </a:rPr>
              <a:t> mm</a:t>
            </a:r>
            <a:r>
              <a:rPr lang="en-IN" sz="2000" baseline="30000" dirty="0">
                <a:latin typeface="Times New Roman" panose="02020603050405020304" pitchFamily="18" charset="0"/>
                <a:cs typeface="Times New Roman" panose="02020603050405020304" pitchFamily="18" charset="0"/>
              </a:rPr>
              <a:t>–2</a:t>
            </a:r>
            <a:r>
              <a:rPr lang="en-IN" sz="2000" dirty="0">
                <a:latin typeface="Times New Roman" panose="02020603050405020304" pitchFamily="18" charset="0"/>
                <a:cs typeface="Times New Roman" panose="02020603050405020304" pitchFamily="18" charset="0"/>
              </a:rPr>
              <a:t>. A further treatment of these metals may reduce the dislocation densities to an order of 10</a:t>
            </a:r>
            <a:r>
              <a:rPr lang="en-IN" sz="2000" baseline="30000" dirty="0">
                <a:latin typeface="Times New Roman" panose="02020603050405020304" pitchFamily="18" charset="0"/>
                <a:cs typeface="Times New Roman" panose="02020603050405020304" pitchFamily="18" charset="0"/>
              </a:rPr>
              <a:t>5</a:t>
            </a:r>
            <a:r>
              <a:rPr lang="en-IN" sz="2000" dirty="0">
                <a:latin typeface="Times New Roman" panose="02020603050405020304" pitchFamily="18" charset="0"/>
                <a:cs typeface="Times New Roman" panose="02020603050405020304" pitchFamily="18" charset="0"/>
              </a:rPr>
              <a:t> to 10</a:t>
            </a:r>
            <a:r>
              <a:rPr lang="en-IN" sz="2000" baseline="30000" dirty="0">
                <a:latin typeface="Times New Roman" panose="02020603050405020304" pitchFamily="18" charset="0"/>
                <a:cs typeface="Times New Roman" panose="02020603050405020304" pitchFamily="18" charset="0"/>
              </a:rPr>
              <a:t>6</a:t>
            </a:r>
            <a:r>
              <a:rPr lang="en-IN" sz="2000" dirty="0">
                <a:latin typeface="Times New Roman" panose="02020603050405020304" pitchFamily="18" charset="0"/>
                <a:cs typeface="Times New Roman" panose="02020603050405020304" pitchFamily="18" charset="0"/>
              </a:rPr>
              <a:t> mm</a:t>
            </a:r>
            <a:r>
              <a:rPr lang="en-IN" sz="2000" baseline="30000" dirty="0">
                <a:latin typeface="Times New Roman" panose="02020603050405020304" pitchFamily="18" charset="0"/>
                <a:cs typeface="Times New Roman" panose="02020603050405020304" pitchFamily="18" charset="0"/>
              </a:rPr>
              <a:t>–2</a:t>
            </a:r>
            <a:r>
              <a:rPr lang="en-IN" sz="2000" dirty="0">
                <a:latin typeface="Times New Roman" panose="02020603050405020304" pitchFamily="18" charset="0"/>
                <a:cs typeface="Times New Roman" panose="02020603050405020304" pitchFamily="18" charset="0"/>
              </a:rPr>
              <a:t>.</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For ceramic materials, this number lies in the range 10</a:t>
            </a:r>
            <a:r>
              <a:rPr lang="en-IN" sz="2000" baseline="30000" dirty="0">
                <a:latin typeface="Times New Roman" panose="02020603050405020304" pitchFamily="18" charset="0"/>
                <a:cs typeface="Times New Roman" panose="02020603050405020304" pitchFamily="18" charset="0"/>
              </a:rPr>
              <a:t>2</a:t>
            </a:r>
            <a:r>
              <a:rPr lang="en-IN" sz="2000" dirty="0">
                <a:latin typeface="Times New Roman" panose="02020603050405020304" pitchFamily="18" charset="0"/>
                <a:cs typeface="Times New Roman" panose="02020603050405020304" pitchFamily="18" charset="0"/>
              </a:rPr>
              <a:t> to 10</a:t>
            </a:r>
            <a:r>
              <a:rPr lang="en-IN" sz="2000" baseline="30000" dirty="0">
                <a:latin typeface="Times New Roman" panose="02020603050405020304" pitchFamily="18" charset="0"/>
                <a:cs typeface="Times New Roman" panose="02020603050405020304" pitchFamily="18" charset="0"/>
              </a:rPr>
              <a:t>4</a:t>
            </a:r>
            <a:r>
              <a:rPr lang="en-IN" sz="2000" dirty="0">
                <a:latin typeface="Times New Roman" panose="02020603050405020304" pitchFamily="18" charset="0"/>
                <a:cs typeface="Times New Roman" panose="02020603050405020304" pitchFamily="18" charset="0"/>
              </a:rPr>
              <a:t> mm</a:t>
            </a:r>
            <a:r>
              <a:rPr lang="en-IN" sz="2000" baseline="30000" dirty="0">
                <a:latin typeface="Times New Roman" panose="02020603050405020304" pitchFamily="18" charset="0"/>
                <a:cs typeface="Times New Roman" panose="02020603050405020304" pitchFamily="18" charset="0"/>
              </a:rPr>
              <a:t>–2</a:t>
            </a:r>
            <a:r>
              <a:rPr lang="en-IN" sz="2000" dirty="0">
                <a:latin typeface="Times New Roman" panose="02020603050405020304" pitchFamily="18" charset="0"/>
                <a:cs typeface="Times New Roman" panose="02020603050405020304" pitchFamily="18" charset="0"/>
              </a:rPr>
              <a:t>.</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For single silicon crystals used in integrated circuits, it is in the range 0.1 to 1 mm</a:t>
            </a:r>
            <a:r>
              <a:rPr lang="en-IN" sz="2000" baseline="30000" dirty="0">
                <a:latin typeface="Times New Roman" panose="02020603050405020304" pitchFamily="18" charset="0"/>
                <a:cs typeface="Times New Roman" panose="02020603050405020304" pitchFamily="18" charset="0"/>
              </a:rPr>
              <a:t>–2</a:t>
            </a:r>
            <a:r>
              <a:rPr lang="en-IN" sz="2000"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8755743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Strains around dislocations – Dislocation motion</a:t>
            </a:r>
          </a:p>
        </p:txBody>
      </p:sp>
      <p:sp>
        <p:nvSpPr>
          <p:cNvPr id="9" name="TextBox 8"/>
          <p:cNvSpPr txBox="1"/>
          <p:nvPr/>
        </p:nvSpPr>
        <p:spPr>
          <a:xfrm>
            <a:off x="470850" y="1381977"/>
            <a:ext cx="6073251" cy="1631216"/>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In an edge dislocation, the atoms beside the extra half–plane feel repulsion between each other. Hence, </a:t>
            </a:r>
            <a:r>
              <a:rPr lang="en-IN" sz="2000" b="1" dirty="0">
                <a:latin typeface="Times New Roman" panose="02020603050405020304" pitchFamily="18" charset="0"/>
                <a:cs typeface="Times New Roman" panose="02020603050405020304" pitchFamily="18" charset="0"/>
              </a:rPr>
              <a:t>compressive</a:t>
            </a:r>
            <a:r>
              <a:rPr lang="en-IN" sz="2000" dirty="0">
                <a:latin typeface="Times New Roman" panose="02020603050405020304" pitchFamily="18" charset="0"/>
                <a:cs typeface="Times New Roman" panose="02020603050405020304" pitchFamily="18" charset="0"/>
              </a:rPr>
              <a:t> strains are induced. With a similar argument, one may conclude that </a:t>
            </a:r>
            <a:r>
              <a:rPr lang="en-IN" sz="2000" b="1" dirty="0">
                <a:latin typeface="Times New Roman" panose="02020603050405020304" pitchFamily="18" charset="0"/>
                <a:cs typeface="Times New Roman" panose="02020603050405020304" pitchFamily="18" charset="0"/>
              </a:rPr>
              <a:t>tensile</a:t>
            </a:r>
            <a:r>
              <a:rPr lang="en-IN" sz="2000" dirty="0">
                <a:latin typeface="Times New Roman" panose="02020603050405020304" pitchFamily="18" charset="0"/>
                <a:cs typeface="Times New Roman" panose="02020603050405020304" pitchFamily="18" charset="0"/>
              </a:rPr>
              <a:t> strains exist in the region below the extra half–plane. </a:t>
            </a:r>
          </a:p>
        </p:txBody>
      </p:sp>
      <p:pic>
        <p:nvPicPr>
          <p:cNvPr id="2" name="Picture 1"/>
          <p:cNvPicPr>
            <a:picLocks noChangeAspect="1"/>
          </p:cNvPicPr>
          <p:nvPr/>
        </p:nvPicPr>
        <p:blipFill rotWithShape="1">
          <a:blip r:embed="rId3"/>
          <a:srcRect l="5511" t="11718" b="5129"/>
          <a:stretch/>
        </p:blipFill>
        <p:spPr>
          <a:xfrm>
            <a:off x="6933063" y="523220"/>
            <a:ext cx="4456489" cy="3348731"/>
          </a:xfrm>
          <a:prstGeom prst="rect">
            <a:avLst/>
          </a:prstGeom>
        </p:spPr>
      </p:pic>
      <p:sp>
        <p:nvSpPr>
          <p:cNvPr id="5" name="TextBox 4"/>
          <p:cNvSpPr txBox="1"/>
          <p:nvPr/>
        </p:nvSpPr>
        <p:spPr>
          <a:xfrm>
            <a:off x="470850" y="3518007"/>
            <a:ext cx="6073251" cy="707886"/>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In a screw–dislocation case, the strains are purely </a:t>
            </a:r>
            <a:r>
              <a:rPr lang="en-IN" sz="2000" b="1" dirty="0">
                <a:latin typeface="Times New Roman" panose="02020603050405020304" pitchFamily="18" charset="0"/>
                <a:cs typeface="Times New Roman" panose="02020603050405020304" pitchFamily="18" charset="0"/>
              </a:rPr>
              <a:t>shear</a:t>
            </a:r>
            <a:r>
              <a:rPr lang="en-IN" sz="2000" dirty="0">
                <a:latin typeface="Times New Roman" panose="02020603050405020304" pitchFamily="18" charset="0"/>
                <a:cs typeface="Times New Roman" panose="02020603050405020304" pitchFamily="18" charset="0"/>
              </a:rPr>
              <a:t> type. </a:t>
            </a:r>
          </a:p>
        </p:txBody>
      </p:sp>
      <p:sp>
        <p:nvSpPr>
          <p:cNvPr id="6" name="TextBox 5"/>
          <p:cNvSpPr txBox="1"/>
          <p:nvPr/>
        </p:nvSpPr>
        <p:spPr>
          <a:xfrm>
            <a:off x="470850" y="4730707"/>
            <a:ext cx="9737675" cy="707886"/>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These strains around dislocations of close proximity will interact with each other such that forces are imposed on each dislocation by all the neighbouring dislocations.</a:t>
            </a:r>
          </a:p>
        </p:txBody>
      </p:sp>
    </p:spTree>
    <p:extLst>
      <p:ext uri="{BB962C8B-B14F-4D97-AF65-F5344CB8AC3E}">
        <p14:creationId xmlns:p14="http://schemas.microsoft.com/office/powerpoint/2010/main" val="41810954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Strains around dislocations – Dislocation motion</a:t>
            </a:r>
          </a:p>
        </p:txBody>
      </p:sp>
      <p:sp>
        <p:nvSpPr>
          <p:cNvPr id="9" name="TextBox 8"/>
          <p:cNvSpPr txBox="1"/>
          <p:nvPr/>
        </p:nvSpPr>
        <p:spPr>
          <a:xfrm>
            <a:off x="470850" y="1381977"/>
            <a:ext cx="6073251" cy="1938992"/>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Dislocations of same type (same sign) on the same slip plane repel each other. </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Whereas, the dislocations of opposite type attract each other and annihilate to combine and form a perfect crystal.</a:t>
            </a:r>
          </a:p>
        </p:txBody>
      </p:sp>
      <p:pic>
        <p:nvPicPr>
          <p:cNvPr id="3" name="Picture 2"/>
          <p:cNvPicPr>
            <a:picLocks noChangeAspect="1"/>
          </p:cNvPicPr>
          <p:nvPr/>
        </p:nvPicPr>
        <p:blipFill rotWithShape="1">
          <a:blip r:embed="rId3"/>
          <a:srcRect l="3830" t="4598" r="1674"/>
          <a:stretch/>
        </p:blipFill>
        <p:spPr>
          <a:xfrm>
            <a:off x="7076025" y="735896"/>
            <a:ext cx="4913872" cy="2569434"/>
          </a:xfrm>
          <a:prstGeom prst="rect">
            <a:avLst/>
          </a:prstGeom>
        </p:spPr>
      </p:pic>
      <p:pic>
        <p:nvPicPr>
          <p:cNvPr id="7" name="Picture 6"/>
          <p:cNvPicPr>
            <a:picLocks noChangeAspect="1"/>
          </p:cNvPicPr>
          <p:nvPr/>
        </p:nvPicPr>
        <p:blipFill>
          <a:blip r:embed="rId4"/>
          <a:stretch>
            <a:fillRect/>
          </a:stretch>
        </p:blipFill>
        <p:spPr>
          <a:xfrm>
            <a:off x="4588379" y="3643040"/>
            <a:ext cx="7090877" cy="2321031"/>
          </a:xfrm>
          <a:prstGeom prst="rect">
            <a:avLst/>
          </a:prstGeom>
        </p:spPr>
      </p:pic>
      <p:sp>
        <p:nvSpPr>
          <p:cNvPr id="10" name="TextBox 9"/>
          <p:cNvSpPr txBox="1"/>
          <p:nvPr/>
        </p:nvSpPr>
        <p:spPr>
          <a:xfrm>
            <a:off x="470850" y="3643040"/>
            <a:ext cx="4117529" cy="1938992"/>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Upon severe deformation, dislocations multiply causing increase in dislocation density. Further, the grain boundaries, internal defects, surface irregularities also act as source of dislocation nucleation.</a:t>
            </a:r>
          </a:p>
        </p:txBody>
      </p:sp>
    </p:spTree>
    <p:extLst>
      <p:ext uri="{BB962C8B-B14F-4D97-AF65-F5344CB8AC3E}">
        <p14:creationId xmlns:p14="http://schemas.microsoft.com/office/powerpoint/2010/main" val="200538173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Slip Systems</a:t>
            </a:r>
          </a:p>
        </p:txBody>
      </p:sp>
      <p:sp>
        <p:nvSpPr>
          <p:cNvPr id="9" name="TextBox 8"/>
          <p:cNvSpPr txBox="1"/>
          <p:nvPr/>
        </p:nvSpPr>
        <p:spPr>
          <a:xfrm>
            <a:off x="129656" y="658646"/>
            <a:ext cx="11075156" cy="2862322"/>
          </a:xfrm>
          <a:prstGeom prst="rect">
            <a:avLst/>
          </a:prstGeom>
          <a:noFill/>
        </p:spPr>
        <p:txBody>
          <a:bodyPr wrap="square" rtlCol="0">
            <a:spAutoFit/>
          </a:bodyPr>
          <a:lstStyle/>
          <a:p>
            <a:pPr algn="just"/>
            <a:r>
              <a:rPr lang="en-IN" sz="2000" b="1" dirty="0">
                <a:solidFill>
                  <a:srgbClr val="FF0000"/>
                </a:solidFill>
                <a:latin typeface="Times New Roman" panose="02020603050405020304" pitchFamily="18" charset="0"/>
                <a:cs typeface="Times New Roman" panose="02020603050405020304" pitchFamily="18" charset="0"/>
              </a:rPr>
              <a:t>Dislocations do not move with the same degree of ease on all crystallographic planes. </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The preferred planes on which slip occurs are called </a:t>
            </a:r>
            <a:r>
              <a:rPr lang="en-IN" sz="2000" b="1" dirty="0">
                <a:latin typeface="Times New Roman" panose="02020603050405020304" pitchFamily="18" charset="0"/>
                <a:cs typeface="Times New Roman" panose="02020603050405020304" pitchFamily="18" charset="0"/>
              </a:rPr>
              <a:t>slip planes</a:t>
            </a:r>
            <a:r>
              <a:rPr lang="en-IN" sz="2000" dirty="0">
                <a:latin typeface="Times New Roman" panose="02020603050405020304" pitchFamily="18" charset="0"/>
                <a:cs typeface="Times New Roman" panose="02020603050405020304" pitchFamily="18" charset="0"/>
              </a:rPr>
              <a:t>. And, the direction in which slip occurs is called </a:t>
            </a:r>
            <a:r>
              <a:rPr lang="en-IN" sz="2000" b="1" dirty="0">
                <a:latin typeface="Times New Roman" panose="02020603050405020304" pitchFamily="18" charset="0"/>
                <a:cs typeface="Times New Roman" panose="02020603050405020304" pitchFamily="18" charset="0"/>
              </a:rPr>
              <a:t>slip direction</a:t>
            </a:r>
            <a:r>
              <a:rPr lang="en-IN" sz="2000" dirty="0">
                <a:latin typeface="Times New Roman" panose="02020603050405020304" pitchFamily="18" charset="0"/>
                <a:cs typeface="Times New Roman" panose="02020603050405020304" pitchFamily="18" charset="0"/>
              </a:rPr>
              <a:t>. The combination of a </a:t>
            </a:r>
            <a:r>
              <a:rPr lang="en-IN" sz="2000" b="1" dirty="0">
                <a:latin typeface="Times New Roman" panose="02020603050405020304" pitchFamily="18" charset="0"/>
                <a:cs typeface="Times New Roman" panose="02020603050405020304" pitchFamily="18" charset="0"/>
              </a:rPr>
              <a:t>slip plane</a:t>
            </a:r>
            <a:r>
              <a:rPr lang="en-IN" sz="2000" dirty="0">
                <a:latin typeface="Times New Roman" panose="02020603050405020304" pitchFamily="18" charset="0"/>
                <a:cs typeface="Times New Roman" panose="02020603050405020304" pitchFamily="18" charset="0"/>
              </a:rPr>
              <a:t> and a </a:t>
            </a:r>
            <a:r>
              <a:rPr lang="en-IN" sz="2000" b="1" dirty="0">
                <a:latin typeface="Times New Roman" panose="02020603050405020304" pitchFamily="18" charset="0"/>
                <a:cs typeface="Times New Roman" panose="02020603050405020304" pitchFamily="18" charset="0"/>
              </a:rPr>
              <a:t>slip direction</a:t>
            </a:r>
            <a:r>
              <a:rPr lang="en-IN" sz="2000" dirty="0">
                <a:latin typeface="Times New Roman" panose="02020603050405020304" pitchFamily="18" charset="0"/>
                <a:cs typeface="Times New Roman" panose="02020603050405020304" pitchFamily="18" charset="0"/>
              </a:rPr>
              <a:t> is called a </a:t>
            </a:r>
            <a:r>
              <a:rPr lang="en-IN" sz="2000" b="1" i="1" dirty="0">
                <a:latin typeface="Times New Roman" panose="02020603050405020304" pitchFamily="18" charset="0"/>
                <a:cs typeface="Times New Roman" panose="02020603050405020304" pitchFamily="18" charset="0"/>
              </a:rPr>
              <a:t>slip system</a:t>
            </a:r>
            <a:r>
              <a:rPr lang="en-IN" sz="2000" dirty="0">
                <a:latin typeface="Times New Roman" panose="02020603050405020304" pitchFamily="18" charset="0"/>
                <a:cs typeface="Times New Roman" panose="02020603050405020304" pitchFamily="18" charset="0"/>
              </a:rPr>
              <a:t>.</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Slip system depends on the crystal structure and will be such that the atomic distortion caused by </a:t>
            </a:r>
            <a:r>
              <a:rPr lang="en-IN" sz="2000" i="1" dirty="0">
                <a:latin typeface="Times New Roman" panose="02020603050405020304" pitchFamily="18" charset="0"/>
                <a:cs typeface="Times New Roman" panose="02020603050405020304" pitchFamily="18" charset="0"/>
              </a:rPr>
              <a:t>slipping</a:t>
            </a:r>
            <a:r>
              <a:rPr lang="en-IN" sz="2000" dirty="0">
                <a:latin typeface="Times New Roman" panose="02020603050405020304" pitchFamily="18" charset="0"/>
                <a:cs typeface="Times New Roman" panose="02020603050405020304" pitchFamily="18" charset="0"/>
              </a:rPr>
              <a:t> of a dislocation is minimum. For a given crystal structure, the slip plane is the one that has highest planar density and the slip direction is the direction on this slip plane, along which the atoms are closest packed, highest linear density.</a:t>
            </a:r>
          </a:p>
        </p:txBody>
      </p:sp>
      <p:pic>
        <p:nvPicPr>
          <p:cNvPr id="2" name="Picture 1"/>
          <p:cNvPicPr>
            <a:picLocks noChangeAspect="1"/>
          </p:cNvPicPr>
          <p:nvPr/>
        </p:nvPicPr>
        <p:blipFill rotWithShape="1">
          <a:blip r:embed="rId3"/>
          <a:srcRect t="3944"/>
          <a:stretch/>
        </p:blipFill>
        <p:spPr>
          <a:xfrm>
            <a:off x="5064968" y="3520968"/>
            <a:ext cx="6910976" cy="2743354"/>
          </a:xfrm>
          <a:prstGeom prst="rect">
            <a:avLst/>
          </a:prstGeom>
        </p:spPr>
      </p:pic>
      <p:sp>
        <p:nvSpPr>
          <p:cNvPr id="8" name="TextBox 7"/>
          <p:cNvSpPr txBox="1"/>
          <p:nvPr/>
        </p:nvSpPr>
        <p:spPr>
          <a:xfrm>
            <a:off x="129656" y="3656394"/>
            <a:ext cx="4210332" cy="1938992"/>
          </a:xfrm>
          <a:prstGeom prst="rect">
            <a:avLst/>
          </a:prstGeom>
          <a:noFill/>
        </p:spPr>
        <p:txBody>
          <a:bodyPr wrap="square" rtlCol="0">
            <a:spAutoFit/>
          </a:bodyPr>
          <a:lstStyle/>
          <a:p>
            <a:pPr algn="just"/>
            <a:r>
              <a:rPr lang="en-IN" sz="2000" b="1" dirty="0">
                <a:latin typeface="Times New Roman" panose="02020603050405020304" pitchFamily="18" charset="0"/>
                <a:cs typeface="Times New Roman" panose="02020603050405020304" pitchFamily="18" charset="0"/>
              </a:rPr>
              <a:t>Example: FCC</a:t>
            </a:r>
          </a:p>
          <a:p>
            <a:pPr algn="just"/>
            <a:endParaRPr lang="en-IN" sz="2000" b="1"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Slip planes – {111}</a:t>
            </a:r>
          </a:p>
          <a:p>
            <a:pPr algn="just"/>
            <a:r>
              <a:rPr lang="en-IN" sz="2000" dirty="0">
                <a:latin typeface="Times New Roman" panose="02020603050405020304" pitchFamily="18" charset="0"/>
                <a:cs typeface="Times New Roman" panose="02020603050405020304" pitchFamily="18" charset="0"/>
              </a:rPr>
              <a:t>Slip directions – &lt;110&gt;</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Slip systems – {111}&lt;110&gt;</a:t>
            </a:r>
          </a:p>
        </p:txBody>
      </p:sp>
    </p:spTree>
    <p:extLst>
      <p:ext uri="{BB962C8B-B14F-4D97-AF65-F5344CB8AC3E}">
        <p14:creationId xmlns:p14="http://schemas.microsoft.com/office/powerpoint/2010/main" val="22119108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Slip Systems</a:t>
            </a:r>
          </a:p>
        </p:txBody>
      </p:sp>
      <p:sp>
        <p:nvSpPr>
          <p:cNvPr id="9" name="TextBox 8"/>
          <p:cNvSpPr txBox="1"/>
          <p:nvPr/>
        </p:nvSpPr>
        <p:spPr>
          <a:xfrm>
            <a:off x="0" y="500004"/>
            <a:ext cx="11075156" cy="400110"/>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12 independent slip systems for FCC Crystal structure. </a:t>
            </a:r>
          </a:p>
        </p:txBody>
      </p:sp>
      <p:pic>
        <p:nvPicPr>
          <p:cNvPr id="3" name="Picture 2"/>
          <p:cNvPicPr>
            <a:picLocks noChangeAspect="1"/>
          </p:cNvPicPr>
          <p:nvPr/>
        </p:nvPicPr>
        <p:blipFill>
          <a:blip r:embed="rId3"/>
          <a:stretch>
            <a:fillRect/>
          </a:stretch>
        </p:blipFill>
        <p:spPr>
          <a:xfrm>
            <a:off x="-1" y="1023224"/>
            <a:ext cx="12005711" cy="5834776"/>
          </a:xfrm>
          <a:prstGeom prst="rect">
            <a:avLst/>
          </a:prstGeom>
        </p:spPr>
      </p:pic>
    </p:spTree>
    <p:extLst>
      <p:ext uri="{BB962C8B-B14F-4D97-AF65-F5344CB8AC3E}">
        <p14:creationId xmlns:p14="http://schemas.microsoft.com/office/powerpoint/2010/main" val="107008610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Slip Systems</a:t>
            </a:r>
          </a:p>
        </p:txBody>
      </p:sp>
      <p:sp>
        <p:nvSpPr>
          <p:cNvPr id="9" name="TextBox 8"/>
          <p:cNvSpPr txBox="1"/>
          <p:nvPr/>
        </p:nvSpPr>
        <p:spPr>
          <a:xfrm>
            <a:off x="129656" y="658646"/>
            <a:ext cx="11075156" cy="400110"/>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Independent slip systems for FCC, BCC and HCP Crystal structures. </a:t>
            </a:r>
          </a:p>
        </p:txBody>
      </p:sp>
      <p:pic>
        <p:nvPicPr>
          <p:cNvPr id="2" name="Picture 1"/>
          <p:cNvPicPr>
            <a:picLocks noChangeAspect="1"/>
          </p:cNvPicPr>
          <p:nvPr/>
        </p:nvPicPr>
        <p:blipFill>
          <a:blip r:embed="rId3"/>
          <a:stretch>
            <a:fillRect/>
          </a:stretch>
        </p:blipFill>
        <p:spPr>
          <a:xfrm>
            <a:off x="129656" y="1194182"/>
            <a:ext cx="9274517" cy="4483287"/>
          </a:xfrm>
          <a:prstGeom prst="rect">
            <a:avLst/>
          </a:prstGeom>
        </p:spPr>
      </p:pic>
      <mc:AlternateContent xmlns:mc="http://schemas.openxmlformats.org/markup-compatibility/2006" xmlns:a14="http://schemas.microsoft.com/office/drawing/2010/main">
        <mc:Choice Requires="a14">
          <p:sp>
            <p:nvSpPr>
              <p:cNvPr id="3" name="TextBox 2"/>
              <p:cNvSpPr txBox="1"/>
              <p:nvPr/>
            </p:nvSpPr>
            <p:spPr>
              <a:xfrm>
                <a:off x="9662616" y="2419873"/>
                <a:ext cx="2047164" cy="2031903"/>
              </a:xfrm>
              <a:prstGeom prst="rect">
                <a:avLst/>
              </a:prstGeom>
              <a:noFill/>
              <a:ln w="28575">
                <a:solidFill>
                  <a:schemeClr val="tx1"/>
                </a:solidFill>
              </a:ln>
            </p:spPr>
            <p:txBody>
              <a:bodyPr wrap="square" rtlCol="0">
                <a:spAutoFit/>
              </a:bodyPr>
              <a:lstStyle/>
              <a:p>
                <a:r>
                  <a:rPr lang="en-IN" dirty="0">
                    <a:latin typeface="Times New Roman" panose="02020603050405020304" pitchFamily="18" charset="0"/>
                    <a:cs typeface="Times New Roman" panose="02020603050405020304" pitchFamily="18" charset="0"/>
                  </a:rPr>
                  <a:t>Burger’s vector:</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FCC: </a:t>
                </a:r>
                <a:r>
                  <a:rPr lang="en-IN" i="1" dirty="0">
                    <a:latin typeface="Times New Roman" panose="02020603050405020304" pitchFamily="18" charset="0"/>
                    <a:cs typeface="Times New Roman" panose="02020603050405020304" pitchFamily="18" charset="0"/>
                  </a:rPr>
                  <a:t>a</a:t>
                </a:r>
                <a:r>
                  <a:rPr lang="en-IN" dirty="0">
                    <a:latin typeface="Times New Roman" panose="02020603050405020304" pitchFamily="18" charset="0"/>
                    <a:cs typeface="Times New Roman" panose="02020603050405020304" pitchFamily="18" charset="0"/>
                  </a:rPr>
                  <a:t>/2 &lt;1 1 0&gt;</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BCC: </a:t>
                </a:r>
                <a:r>
                  <a:rPr lang="en-IN" i="1" dirty="0">
                    <a:latin typeface="Times New Roman" panose="02020603050405020304" pitchFamily="18" charset="0"/>
                    <a:cs typeface="Times New Roman" panose="02020603050405020304" pitchFamily="18" charset="0"/>
                  </a:rPr>
                  <a:t>a</a:t>
                </a:r>
                <a:r>
                  <a:rPr lang="en-IN" dirty="0">
                    <a:latin typeface="Times New Roman" panose="02020603050405020304" pitchFamily="18" charset="0"/>
                    <a:cs typeface="Times New Roman" panose="02020603050405020304" pitchFamily="18" charset="0"/>
                  </a:rPr>
                  <a:t>/2 &lt;1 1 1&gt;</a:t>
                </a:r>
              </a:p>
              <a:p>
                <a:endParaRPr lang="en-IN" dirty="0">
                  <a:latin typeface="Times New Roman" panose="02020603050405020304" pitchFamily="18" charset="0"/>
                  <a:cs typeface="Times New Roman" panose="02020603050405020304" pitchFamily="18" charset="0"/>
                </a:endParaRPr>
              </a:p>
              <a:p>
                <a:r>
                  <a:rPr lang="en-IN" dirty="0">
                    <a:latin typeface="Times New Roman" panose="02020603050405020304" pitchFamily="18" charset="0"/>
                    <a:cs typeface="Times New Roman" panose="02020603050405020304" pitchFamily="18" charset="0"/>
                  </a:rPr>
                  <a:t>HCP: </a:t>
                </a:r>
                <a:r>
                  <a:rPr lang="en-IN" i="1" dirty="0">
                    <a:latin typeface="Times New Roman" panose="02020603050405020304" pitchFamily="18" charset="0"/>
                    <a:cs typeface="Times New Roman" panose="02020603050405020304" pitchFamily="18" charset="0"/>
                  </a:rPr>
                  <a:t>a</a:t>
                </a:r>
                <a:r>
                  <a:rPr lang="en-IN" dirty="0">
                    <a:latin typeface="Times New Roman" panose="02020603050405020304" pitchFamily="18" charset="0"/>
                    <a:cs typeface="Times New Roman" panose="02020603050405020304" pitchFamily="18" charset="0"/>
                  </a:rPr>
                  <a:t>/3 &lt;1 1 </a:t>
                </a:r>
                <a14:m>
                  <m:oMath xmlns:m="http://schemas.openxmlformats.org/officeDocument/2006/math">
                    <m:acc>
                      <m:accPr>
                        <m:chr m:val="̅"/>
                        <m:ctrlPr>
                          <a:rPr lang="en-IN" i="1" dirty="0" smtClean="0">
                            <a:latin typeface="Cambria Math" panose="02040503050406030204" pitchFamily="18" charset="0"/>
                          </a:rPr>
                        </m:ctrlPr>
                      </m:accPr>
                      <m:e>
                        <m:r>
                          <a:rPr lang="en-IN" b="0" i="0" dirty="0" smtClean="0">
                            <a:latin typeface="Cambria Math" panose="02040503050406030204" pitchFamily="18" charset="0"/>
                          </a:rPr>
                          <m:t>2</m:t>
                        </m:r>
                      </m:e>
                    </m:acc>
                  </m:oMath>
                </a14:m>
                <a:r>
                  <a:rPr lang="en-IN" dirty="0">
                    <a:latin typeface="Times New Roman" panose="02020603050405020304" pitchFamily="18" charset="0"/>
                    <a:cs typeface="Times New Roman" panose="02020603050405020304" pitchFamily="18" charset="0"/>
                  </a:rPr>
                  <a:t> 0&gt;</a:t>
                </a:r>
              </a:p>
            </p:txBody>
          </p:sp>
        </mc:Choice>
        <mc:Fallback xmlns="">
          <p:sp>
            <p:nvSpPr>
              <p:cNvPr id="3" name="TextBox 2"/>
              <p:cNvSpPr txBox="1">
                <a:spLocks noRot="1" noChangeAspect="1" noMove="1" noResize="1" noEditPoints="1" noAdjustHandles="1" noChangeArrowheads="1" noChangeShapeType="1" noTextEdit="1"/>
              </p:cNvSpPr>
              <p:nvPr/>
            </p:nvSpPr>
            <p:spPr>
              <a:xfrm>
                <a:off x="9662616" y="2419873"/>
                <a:ext cx="2047164" cy="2031903"/>
              </a:xfrm>
              <a:prstGeom prst="rect">
                <a:avLst/>
              </a:prstGeom>
              <a:blipFill rotWithShape="0">
                <a:blip r:embed="rId4"/>
                <a:stretch>
                  <a:fillRect l="-1760" t="-1183" b="-2959"/>
                </a:stretch>
              </a:blipFill>
              <a:ln w="28575">
                <a:solidFill>
                  <a:schemeClr val="tx1"/>
                </a:solidFill>
              </a:ln>
            </p:spPr>
            <p:txBody>
              <a:bodyPr/>
              <a:lstStyle/>
              <a:p>
                <a:r>
                  <a:rPr lang="en-IN">
                    <a:noFill/>
                  </a:rPr>
                  <a:t> </a:t>
                </a:r>
              </a:p>
            </p:txBody>
          </p:sp>
        </mc:Fallback>
      </mc:AlternateContent>
    </p:spTree>
    <p:extLst>
      <p:ext uri="{BB962C8B-B14F-4D97-AF65-F5344CB8AC3E}">
        <p14:creationId xmlns:p14="http://schemas.microsoft.com/office/powerpoint/2010/main" val="41683962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Slip in Single Crystals</a:t>
            </a:r>
          </a:p>
        </p:txBody>
      </p:sp>
      <p:sp>
        <p:nvSpPr>
          <p:cNvPr id="9" name="TextBox 8"/>
          <p:cNvSpPr txBox="1"/>
          <p:nvPr/>
        </p:nvSpPr>
        <p:spPr>
          <a:xfrm>
            <a:off x="129656" y="658646"/>
            <a:ext cx="2941090" cy="400110"/>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Resolved shear stress</a:t>
            </a:r>
          </a:p>
        </p:txBody>
      </p:sp>
      <p:pic>
        <p:nvPicPr>
          <p:cNvPr id="8" name="Picture 7"/>
          <p:cNvPicPr>
            <a:picLocks noChangeAspect="1"/>
          </p:cNvPicPr>
          <p:nvPr/>
        </p:nvPicPr>
        <p:blipFill rotWithShape="1">
          <a:blip r:embed="rId3"/>
          <a:srcRect t="1899" r="3487"/>
          <a:stretch/>
        </p:blipFill>
        <p:spPr>
          <a:xfrm>
            <a:off x="0" y="1058756"/>
            <a:ext cx="3284869" cy="5677034"/>
          </a:xfrm>
          <a:prstGeom prst="rect">
            <a:avLst/>
          </a:prstGeom>
        </p:spPr>
      </p:pic>
      <p:sp>
        <p:nvSpPr>
          <p:cNvPr id="13" name="TextBox 12"/>
          <p:cNvSpPr txBox="1"/>
          <p:nvPr/>
        </p:nvSpPr>
        <p:spPr>
          <a:xfrm>
            <a:off x="4326339" y="658646"/>
            <a:ext cx="6359858" cy="707886"/>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What is the resolved shear stress for different slip systems in a FCC crystal when </a:t>
            </a:r>
            <a:r>
              <a:rPr lang="en-IN" sz="2000" i="1" dirty="0">
                <a:latin typeface="Times New Roman" panose="02020603050405020304" pitchFamily="18" charset="0"/>
                <a:cs typeface="Times New Roman" panose="02020603050405020304" pitchFamily="18" charset="0"/>
              </a:rPr>
              <a:t>F</a:t>
            </a:r>
            <a:r>
              <a:rPr lang="en-IN" sz="2000" dirty="0">
                <a:latin typeface="Times New Roman" panose="02020603050405020304" pitchFamily="18" charset="0"/>
                <a:cs typeface="Times New Roman" panose="02020603050405020304" pitchFamily="18" charset="0"/>
              </a:rPr>
              <a:t> is applied along [0 0 1]?</a:t>
            </a:r>
          </a:p>
        </p:txBody>
      </p:sp>
      <p:sp>
        <p:nvSpPr>
          <p:cNvPr id="14" name="TextBox 13"/>
          <p:cNvSpPr txBox="1"/>
          <p:nvPr/>
        </p:nvSpPr>
        <p:spPr>
          <a:xfrm>
            <a:off x="4326340" y="1968832"/>
            <a:ext cx="6523630" cy="707886"/>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The system that has the maximum resolved shear stress is the most favourable slip system.</a:t>
            </a:r>
          </a:p>
        </p:txBody>
      </p:sp>
      <mc:AlternateContent xmlns:mc="http://schemas.openxmlformats.org/markup-compatibility/2006" xmlns:a14="http://schemas.microsoft.com/office/drawing/2010/main">
        <mc:Choice Requires="a14">
          <p:sp>
            <p:nvSpPr>
              <p:cNvPr id="15" name="TextBox 14"/>
              <p:cNvSpPr txBox="1"/>
              <p:nvPr/>
            </p:nvSpPr>
            <p:spPr>
              <a:xfrm>
                <a:off x="4326340" y="3047006"/>
                <a:ext cx="6523630" cy="2387064"/>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Every material has a critical resolved shear stress, a threshold above which slip can occur. So, when the resolved shear stress for the most favourable system exceeds this threshold value, slip occurs.</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This critical resolved shear stress on a slip plane can be related to the yield strength </a:t>
                </a:r>
                <a:r>
                  <a:rPr lang="el-GR" sz="2000" i="1" dirty="0">
                    <a:latin typeface="Times New Roman" panose="02020603050405020304" pitchFamily="18" charset="0"/>
                    <a:cs typeface="Times New Roman" panose="02020603050405020304" pitchFamily="18" charset="0"/>
                  </a:rPr>
                  <a:t>σ</a:t>
                </a:r>
                <a:r>
                  <a:rPr lang="en-IN" sz="2000" baseline="-25000" dirty="0">
                    <a:latin typeface="Times New Roman" panose="02020603050405020304" pitchFamily="18" charset="0"/>
                    <a:cs typeface="Times New Roman" panose="02020603050405020304" pitchFamily="18" charset="0"/>
                  </a:rPr>
                  <a:t>Y</a:t>
                </a:r>
                <a:r>
                  <a:rPr lang="en-IN" sz="2000" dirty="0">
                    <a:latin typeface="Times New Roman" panose="02020603050405020304" pitchFamily="18" charset="0"/>
                    <a:cs typeface="Times New Roman" panose="02020603050405020304" pitchFamily="18" charset="0"/>
                  </a:rPr>
                  <a:t> as </a:t>
                </a:r>
                <a14:m>
                  <m:oMath xmlns:m="http://schemas.openxmlformats.org/officeDocument/2006/math">
                    <m:sSub>
                      <m:sSubPr>
                        <m:ctrlPr>
                          <a:rPr lang="en-IN" sz="2000" i="1" smtClean="0">
                            <a:latin typeface="Cambria Math" panose="02040503050406030204" pitchFamily="18" charset="0"/>
                            <a:cs typeface="Times New Roman" panose="02020603050405020304" pitchFamily="18" charset="0"/>
                          </a:rPr>
                        </m:ctrlPr>
                      </m:sSubPr>
                      <m:e>
                        <m:r>
                          <a:rPr lang="en-IN" sz="2000" i="1" smtClean="0">
                            <a:latin typeface="Cambria Math" panose="02040503050406030204" pitchFamily="18" charset="0"/>
                            <a:ea typeface="Cambria Math" panose="02040503050406030204" pitchFamily="18" charset="0"/>
                            <a:cs typeface="Times New Roman" panose="02020603050405020304" pitchFamily="18" charset="0"/>
                          </a:rPr>
                          <m:t>𝜎</m:t>
                        </m:r>
                      </m:e>
                      <m:sub>
                        <m:r>
                          <a:rPr lang="en-IN" sz="2000" b="0" i="1" smtClean="0">
                            <a:latin typeface="Cambria Math" panose="02040503050406030204" pitchFamily="18" charset="0"/>
                            <a:cs typeface="Times New Roman" panose="02020603050405020304" pitchFamily="18" charset="0"/>
                          </a:rPr>
                          <m:t>𝑌</m:t>
                        </m:r>
                      </m:sub>
                    </m:sSub>
                    <m:r>
                      <a:rPr lang="en-IN" sz="2000" b="0" i="1" smtClean="0">
                        <a:latin typeface="Cambria Math" panose="02040503050406030204" pitchFamily="18" charset="0"/>
                        <a:cs typeface="Times New Roman" panose="02020603050405020304" pitchFamily="18" charset="0"/>
                      </a:rPr>
                      <m:t>=</m:t>
                    </m:r>
                    <m:f>
                      <m:fPr>
                        <m:ctrlPr>
                          <a:rPr lang="en-IN" sz="2000" b="0" i="1" smtClean="0">
                            <a:latin typeface="Cambria Math" panose="02040503050406030204" pitchFamily="18" charset="0"/>
                            <a:cs typeface="Times New Roman" panose="02020603050405020304" pitchFamily="18" charset="0"/>
                          </a:rPr>
                        </m:ctrlPr>
                      </m:fPr>
                      <m:num>
                        <m:sSub>
                          <m:sSubPr>
                            <m:ctrlPr>
                              <a:rPr lang="en-IN" sz="20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IN" sz="2000" i="1">
                                <a:latin typeface="Cambria Math" panose="02040503050406030204" pitchFamily="18" charset="0"/>
                                <a:ea typeface="Cambria Math" panose="02040503050406030204" pitchFamily="18" charset="0"/>
                                <a:cs typeface="Times New Roman" panose="02020603050405020304" pitchFamily="18" charset="0"/>
                              </a:rPr>
                              <m:t>𝜏</m:t>
                            </m:r>
                          </m:e>
                          <m:sub>
                            <m:r>
                              <a:rPr lang="en-IN" sz="2000" b="0" i="1" smtClean="0">
                                <a:latin typeface="Cambria Math" panose="02040503050406030204" pitchFamily="18" charset="0"/>
                                <a:ea typeface="Cambria Math" panose="02040503050406030204" pitchFamily="18" charset="0"/>
                                <a:cs typeface="Times New Roman" panose="02020603050405020304" pitchFamily="18" charset="0"/>
                              </a:rPr>
                              <m:t>𝑐𝑟𝑠𝑠</m:t>
                            </m:r>
                          </m:sub>
                        </m:sSub>
                      </m:num>
                      <m:den>
                        <m:sSub>
                          <m:sSubPr>
                            <m:ctrlPr>
                              <a:rPr lang="en-IN" sz="2000" b="0" i="1" smtClean="0">
                                <a:latin typeface="Cambria Math" panose="02040503050406030204" pitchFamily="18" charset="0"/>
                                <a:cs typeface="Times New Roman" panose="02020603050405020304" pitchFamily="18" charset="0"/>
                              </a:rPr>
                            </m:ctrlPr>
                          </m:sSubPr>
                          <m:e>
                            <m:d>
                              <m:dPr>
                                <m:ctrlPr>
                                  <a:rPr lang="en-IN" sz="2000" i="1">
                                    <a:latin typeface="Cambria Math" panose="02040503050406030204" pitchFamily="18" charset="0"/>
                                    <a:cs typeface="Times New Roman" panose="02020603050405020304" pitchFamily="18" charset="0"/>
                                  </a:rPr>
                                </m:ctrlPr>
                              </m:dPr>
                              <m:e>
                                <m:r>
                                  <m:rPr>
                                    <m:sty m:val="p"/>
                                  </m:rPr>
                                  <a:rPr lang="en-IN" sz="2000">
                                    <a:latin typeface="Cambria Math" panose="02040503050406030204" pitchFamily="18" charset="0"/>
                                    <a:cs typeface="Times New Roman" panose="02020603050405020304" pitchFamily="18" charset="0"/>
                                  </a:rPr>
                                  <m:t>cos</m:t>
                                </m:r>
                                <m:r>
                                  <a:rPr lang="en-IN" sz="2000" i="1">
                                    <a:latin typeface="Cambria Math" panose="02040503050406030204" pitchFamily="18" charset="0"/>
                                    <a:ea typeface="Cambria Math" panose="02040503050406030204" pitchFamily="18" charset="0"/>
                                    <a:cs typeface="Times New Roman" panose="02020603050405020304" pitchFamily="18" charset="0"/>
                                  </a:rPr>
                                  <m:t>𝜑</m:t>
                                </m:r>
                                <m:r>
                                  <a:rPr lang="en-IN" sz="2000" i="1">
                                    <a:latin typeface="Cambria Math" panose="02040503050406030204" pitchFamily="18" charset="0"/>
                                    <a:ea typeface="Cambria Math" panose="02040503050406030204" pitchFamily="18" charset="0"/>
                                    <a:cs typeface="Times New Roman" panose="02020603050405020304" pitchFamily="18" charset="0"/>
                                  </a:rPr>
                                  <m:t> </m:t>
                                </m:r>
                                <m:r>
                                  <m:rPr>
                                    <m:sty m:val="p"/>
                                  </m:rPr>
                                  <a:rPr lang="en-IN" sz="2000">
                                    <a:latin typeface="Cambria Math" panose="02040503050406030204" pitchFamily="18" charset="0"/>
                                    <a:ea typeface="Cambria Math" panose="02040503050406030204" pitchFamily="18" charset="0"/>
                                    <a:cs typeface="Times New Roman" panose="02020603050405020304" pitchFamily="18" charset="0"/>
                                  </a:rPr>
                                  <m:t>cos</m:t>
                                </m:r>
                                <m:r>
                                  <m:rPr>
                                    <m:sty m:val="p"/>
                                  </m:rPr>
                                  <a:rPr lang="el-GR" sz="2000" i="1">
                                    <a:latin typeface="Cambria Math" panose="02040503050406030204" pitchFamily="18" charset="0"/>
                                    <a:ea typeface="Cambria Math" panose="02040503050406030204" pitchFamily="18" charset="0"/>
                                    <a:cs typeface="Times New Roman" panose="02020603050405020304" pitchFamily="18" charset="0"/>
                                  </a:rPr>
                                  <m:t>λ</m:t>
                                </m:r>
                              </m:e>
                            </m:d>
                          </m:e>
                          <m:sub>
                            <m:r>
                              <m:rPr>
                                <m:sty m:val="p"/>
                              </m:rPr>
                              <a:rPr lang="en-IN" sz="2000" b="0" i="0" smtClean="0">
                                <a:latin typeface="Cambria Math" panose="02040503050406030204" pitchFamily="18" charset="0"/>
                                <a:cs typeface="Times New Roman" panose="02020603050405020304" pitchFamily="18" charset="0"/>
                              </a:rPr>
                              <m:t>max</m:t>
                            </m:r>
                          </m:sub>
                        </m:sSub>
                      </m:den>
                    </m:f>
                  </m:oMath>
                </a14:m>
                <a:r>
                  <a:rPr lang="en-IN" sz="2000" dirty="0">
                    <a:latin typeface="Times New Roman" panose="02020603050405020304" pitchFamily="18" charset="0"/>
                    <a:cs typeface="Times New Roman" panose="02020603050405020304" pitchFamily="18" charset="0"/>
                  </a:rPr>
                  <a:t> </a:t>
                </a:r>
              </a:p>
            </p:txBody>
          </p:sp>
        </mc:Choice>
        <mc:Fallback xmlns="">
          <p:sp>
            <p:nvSpPr>
              <p:cNvPr id="15" name="TextBox 14"/>
              <p:cNvSpPr txBox="1">
                <a:spLocks noRot="1" noChangeAspect="1" noMove="1" noResize="1" noEditPoints="1" noAdjustHandles="1" noChangeArrowheads="1" noChangeShapeType="1" noTextEdit="1"/>
              </p:cNvSpPr>
              <p:nvPr/>
            </p:nvSpPr>
            <p:spPr>
              <a:xfrm>
                <a:off x="4326340" y="3047006"/>
                <a:ext cx="6523630" cy="2387064"/>
              </a:xfrm>
              <a:prstGeom prst="rect">
                <a:avLst/>
              </a:prstGeom>
              <a:blipFill rotWithShape="0">
                <a:blip r:embed="rId4"/>
                <a:stretch>
                  <a:fillRect l="-1028" t="-1535" r="-935"/>
                </a:stretch>
              </a:blipFill>
            </p:spPr>
            <p:txBody>
              <a:bodyPr/>
              <a:lstStyle/>
              <a:p>
                <a:r>
                  <a:rPr lang="en-IN">
                    <a:noFill/>
                  </a:rPr>
                  <a:t> </a:t>
                </a:r>
              </a:p>
            </p:txBody>
          </p:sp>
        </mc:Fallback>
      </mc:AlternateContent>
    </p:spTree>
    <p:extLst>
      <p:ext uri="{BB962C8B-B14F-4D97-AF65-F5344CB8AC3E}">
        <p14:creationId xmlns:p14="http://schemas.microsoft.com/office/powerpoint/2010/main" val="3637443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Image result for cup cone fractur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2409" y="4845384"/>
            <a:ext cx="2971444" cy="191073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Slip in Single Crystals</a:t>
            </a:r>
          </a:p>
        </p:txBody>
      </p:sp>
      <p:pic>
        <p:nvPicPr>
          <p:cNvPr id="2" name="Picture 1"/>
          <p:cNvPicPr>
            <a:picLocks noChangeAspect="1"/>
          </p:cNvPicPr>
          <p:nvPr/>
        </p:nvPicPr>
        <p:blipFill>
          <a:blip r:embed="rId4"/>
          <a:stretch>
            <a:fillRect/>
          </a:stretch>
        </p:blipFill>
        <p:spPr>
          <a:xfrm>
            <a:off x="439989" y="1366532"/>
            <a:ext cx="3070506" cy="4703345"/>
          </a:xfrm>
          <a:prstGeom prst="rect">
            <a:avLst/>
          </a:prstGeom>
        </p:spPr>
      </p:pic>
      <p:pic>
        <p:nvPicPr>
          <p:cNvPr id="1026" name="Picture 2" descr="Image result for slip in single crystal"/>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43951" y="1058756"/>
            <a:ext cx="4080683" cy="3237876"/>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p:cNvSpPr txBox="1"/>
          <p:nvPr/>
        </p:nvSpPr>
        <p:spPr>
          <a:xfrm>
            <a:off x="3643951" y="4478225"/>
            <a:ext cx="3629046" cy="707886"/>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Slip lines seen on the surface of a deformed thin metallic wire</a:t>
            </a:r>
          </a:p>
        </p:txBody>
      </p:sp>
      <p:pic>
        <p:nvPicPr>
          <p:cNvPr id="5" name="Picture 4"/>
          <p:cNvPicPr>
            <a:picLocks noChangeAspect="1"/>
          </p:cNvPicPr>
          <p:nvPr/>
        </p:nvPicPr>
        <p:blipFill>
          <a:blip r:embed="rId6"/>
          <a:stretch>
            <a:fillRect/>
          </a:stretch>
        </p:blipFill>
        <p:spPr>
          <a:xfrm>
            <a:off x="8452571" y="512413"/>
            <a:ext cx="3064790" cy="4441724"/>
          </a:xfrm>
          <a:prstGeom prst="rect">
            <a:avLst/>
          </a:prstGeom>
        </p:spPr>
      </p:pic>
      <p:sp>
        <p:nvSpPr>
          <p:cNvPr id="6" name="Oval 5"/>
          <p:cNvSpPr/>
          <p:nvPr/>
        </p:nvSpPr>
        <p:spPr>
          <a:xfrm>
            <a:off x="10112991" y="2006221"/>
            <a:ext cx="368490" cy="477672"/>
          </a:xfrm>
          <a:prstGeom prst="ellipse">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8" name="Straight Arrow Connector 7"/>
          <p:cNvCxnSpPr>
            <a:stCxn id="6" idx="3"/>
          </p:cNvCxnSpPr>
          <p:nvPr/>
        </p:nvCxnSpPr>
        <p:spPr>
          <a:xfrm flipH="1">
            <a:off x="8311487" y="2413940"/>
            <a:ext cx="1855468" cy="2540197"/>
          </a:xfrm>
          <a:prstGeom prst="straightConnector1">
            <a:avLst/>
          </a:prstGeom>
          <a:ln>
            <a:solidFill>
              <a:srgbClr val="FF0000"/>
            </a:solidFill>
            <a:headEnd type="none" w="med" len="med"/>
            <a:tailEnd type="arrow"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822724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Slip in Single Crystals</a:t>
            </a:r>
          </a:p>
        </p:txBody>
      </p:sp>
      <mc:AlternateContent xmlns:mc="http://schemas.openxmlformats.org/markup-compatibility/2006" xmlns:a14="http://schemas.microsoft.com/office/drawing/2010/main">
        <mc:Choice Requires="a14">
          <p:sp>
            <p:nvSpPr>
              <p:cNvPr id="11" name="TextBox 10"/>
              <p:cNvSpPr txBox="1"/>
              <p:nvPr/>
            </p:nvSpPr>
            <p:spPr>
              <a:xfrm>
                <a:off x="0" y="523220"/>
                <a:ext cx="12192000" cy="2248180"/>
              </a:xfrm>
              <a:prstGeom prst="rect">
                <a:avLst/>
              </a:prstGeom>
              <a:noFill/>
            </p:spPr>
            <p:txBody>
              <a:bodyPr wrap="square" rtlCol="0">
                <a:spAutoFit/>
              </a:bodyPr>
              <a:lstStyle/>
              <a:p>
                <a:pPr algn="just"/>
                <a:r>
                  <a:rPr lang="en-US" sz="2000" dirty="0">
                    <a:latin typeface="Times New Roman" panose="02020603050405020304" pitchFamily="18" charset="0"/>
                    <a:cs typeface="Times New Roman" panose="02020603050405020304" pitchFamily="18" charset="0"/>
                  </a:rPr>
                  <a:t>Consider a single crystal of BCC iron oriented such that a tensile stress is applied along a [010] direction.</a:t>
                </a:r>
              </a:p>
              <a:p>
                <a:pPr algn="just"/>
                <a:endParaRPr lang="en-US" sz="2000" dirty="0">
                  <a:latin typeface="Times New Roman" panose="02020603050405020304" pitchFamily="18" charset="0"/>
                  <a:cs typeface="Times New Roman" panose="02020603050405020304" pitchFamily="18" charset="0"/>
                </a:endParaRPr>
              </a:p>
              <a:p>
                <a:pPr marL="457200" indent="-457200" algn="just">
                  <a:buFont typeface="+mj-lt"/>
                  <a:buAutoNum type="alphaLcParenR"/>
                </a:pPr>
                <a:r>
                  <a:rPr lang="en-US" sz="2000" dirty="0">
                    <a:latin typeface="Times New Roman" panose="02020603050405020304" pitchFamily="18" charset="0"/>
                    <a:cs typeface="Times New Roman" panose="02020603050405020304" pitchFamily="18" charset="0"/>
                  </a:rPr>
                  <a:t>Compute the resolved shear stress along a (110) plane and in a </a:t>
                </a:r>
                <a14:m>
                  <m:oMath xmlns:m="http://schemas.openxmlformats.org/officeDocument/2006/math">
                    <m:d>
                      <m:dPr>
                        <m:begChr m:val="["/>
                        <m:endChr m:val="]"/>
                        <m:ctrlPr>
                          <a:rPr lang="en-US" sz="2000" i="1" smtClean="0">
                            <a:latin typeface="Cambria Math" panose="02040503050406030204" pitchFamily="18" charset="0"/>
                            <a:cs typeface="Times New Roman" panose="02020603050405020304" pitchFamily="18" charset="0"/>
                          </a:rPr>
                        </m:ctrlPr>
                      </m:dPr>
                      <m:e>
                        <m:acc>
                          <m:accPr>
                            <m:chr m:val="̅"/>
                            <m:ctrlPr>
                              <a:rPr lang="en-US" sz="2000" i="1" smtClean="0">
                                <a:latin typeface="Cambria Math" panose="02040503050406030204" pitchFamily="18" charset="0"/>
                                <a:cs typeface="Times New Roman" panose="02020603050405020304" pitchFamily="18" charset="0"/>
                              </a:rPr>
                            </m:ctrlPr>
                          </m:accPr>
                          <m:e>
                            <m:r>
                              <a:rPr lang="en-IN" sz="2000" b="0" i="1" smtClean="0">
                                <a:latin typeface="Cambria Math" panose="02040503050406030204" pitchFamily="18" charset="0"/>
                                <a:cs typeface="Times New Roman" panose="02020603050405020304" pitchFamily="18" charset="0"/>
                              </a:rPr>
                              <m:t>1</m:t>
                            </m:r>
                          </m:e>
                        </m:acc>
                        <m:r>
                          <a:rPr lang="en-IN" sz="2000" b="0" i="1" smtClean="0">
                            <a:latin typeface="Cambria Math" panose="02040503050406030204" pitchFamily="18" charset="0"/>
                            <a:cs typeface="Times New Roman" panose="02020603050405020304" pitchFamily="18" charset="0"/>
                          </a:rPr>
                          <m:t>11</m:t>
                        </m:r>
                      </m:e>
                    </m:d>
                  </m:oMath>
                </a14:m>
                <a:r>
                  <a:rPr lang="en-US" sz="2000" dirty="0">
                    <a:latin typeface="Times New Roman" panose="02020603050405020304" pitchFamily="18" charset="0"/>
                    <a:cs typeface="Times New Roman" panose="02020603050405020304" pitchFamily="18" charset="0"/>
                  </a:rPr>
                  <a:t> direction when a tensile stress of 52 MPa is applied.</a:t>
                </a:r>
              </a:p>
              <a:p>
                <a:pPr marL="457200" indent="-457200" algn="just">
                  <a:buFont typeface="+mj-lt"/>
                  <a:buAutoNum type="alphaLcParenR"/>
                </a:pPr>
                <a:endParaRPr lang="en-US" sz="2000" dirty="0">
                  <a:latin typeface="Times New Roman" panose="02020603050405020304" pitchFamily="18" charset="0"/>
                  <a:cs typeface="Times New Roman" panose="02020603050405020304" pitchFamily="18" charset="0"/>
                </a:endParaRPr>
              </a:p>
              <a:p>
                <a:pPr marL="457200" indent="-457200" algn="just">
                  <a:buFont typeface="+mj-lt"/>
                  <a:buAutoNum type="alphaLcParenR"/>
                </a:pPr>
                <a:r>
                  <a:rPr lang="en-US" sz="2000" dirty="0">
                    <a:latin typeface="Times New Roman" panose="02020603050405020304" pitchFamily="18" charset="0"/>
                    <a:cs typeface="Times New Roman" panose="02020603050405020304" pitchFamily="18" charset="0"/>
                  </a:rPr>
                  <a:t>If slip occurs on a (110) plane and in a  </a:t>
                </a:r>
                <a14:m>
                  <m:oMath xmlns:m="http://schemas.openxmlformats.org/officeDocument/2006/math">
                    <m:d>
                      <m:dPr>
                        <m:begChr m:val="["/>
                        <m:endChr m:val="]"/>
                        <m:ctrlPr>
                          <a:rPr lang="en-US" sz="2000" i="1">
                            <a:latin typeface="Cambria Math" panose="02040503050406030204" pitchFamily="18" charset="0"/>
                            <a:cs typeface="Times New Roman" panose="02020603050405020304" pitchFamily="18" charset="0"/>
                          </a:rPr>
                        </m:ctrlPr>
                      </m:dPr>
                      <m:e>
                        <m:acc>
                          <m:accPr>
                            <m:chr m:val="̅"/>
                            <m:ctrlPr>
                              <a:rPr lang="en-US" sz="2000" i="1">
                                <a:latin typeface="Cambria Math" panose="02040503050406030204" pitchFamily="18" charset="0"/>
                                <a:cs typeface="Times New Roman" panose="02020603050405020304" pitchFamily="18" charset="0"/>
                              </a:rPr>
                            </m:ctrlPr>
                          </m:accPr>
                          <m:e>
                            <m:r>
                              <a:rPr lang="en-IN" sz="2000" i="1">
                                <a:latin typeface="Cambria Math" panose="02040503050406030204" pitchFamily="18" charset="0"/>
                                <a:cs typeface="Times New Roman" panose="02020603050405020304" pitchFamily="18" charset="0"/>
                              </a:rPr>
                              <m:t>1</m:t>
                            </m:r>
                          </m:e>
                        </m:acc>
                        <m:r>
                          <a:rPr lang="en-IN" sz="2000" i="1">
                            <a:latin typeface="Cambria Math" panose="02040503050406030204" pitchFamily="18" charset="0"/>
                            <a:cs typeface="Times New Roman" panose="02020603050405020304" pitchFamily="18" charset="0"/>
                          </a:rPr>
                          <m:t>11</m:t>
                        </m:r>
                      </m:e>
                    </m:d>
                  </m:oMath>
                </a14:m>
                <a:r>
                  <a:rPr lang="en-IN" sz="2000" dirty="0">
                    <a:latin typeface="Times New Roman" panose="02020603050405020304" pitchFamily="18" charset="0"/>
                    <a:cs typeface="Times New Roman" panose="02020603050405020304" pitchFamily="18" charset="0"/>
                  </a:rPr>
                  <a:t> direction</a:t>
                </a:r>
                <a:r>
                  <a:rPr lang="en-US" sz="2000" dirty="0">
                    <a:latin typeface="Times New Roman" panose="02020603050405020304" pitchFamily="18" charset="0"/>
                    <a:cs typeface="Times New Roman" panose="02020603050405020304" pitchFamily="18" charset="0"/>
                  </a:rPr>
                  <a:t>, and the critical resolved shear stress is 30 MPa, calculate the magnitude of the applied tensile stress necessary to initiate yielding.</a:t>
                </a:r>
                <a:endParaRPr lang="en-IN" sz="2000" dirty="0">
                  <a:latin typeface="Times New Roman" panose="02020603050405020304" pitchFamily="18" charset="0"/>
                  <a:cs typeface="Times New Roman" panose="02020603050405020304" pitchFamily="18" charset="0"/>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0" y="523220"/>
                <a:ext cx="12192000" cy="2248180"/>
              </a:xfrm>
              <a:prstGeom prst="rect">
                <a:avLst/>
              </a:prstGeom>
              <a:blipFill rotWithShape="0">
                <a:blip r:embed="rId3"/>
                <a:stretch>
                  <a:fillRect l="-500" t="-1626" r="-500" b="-3794"/>
                </a:stretch>
              </a:blipFill>
            </p:spPr>
            <p:txBody>
              <a:bodyPr/>
              <a:lstStyle/>
              <a:p>
                <a:r>
                  <a:rPr lang="en-IN">
                    <a:noFill/>
                  </a:rPr>
                  <a:t> </a:t>
                </a:r>
              </a:p>
            </p:txBody>
          </p:sp>
        </mc:Fallback>
      </mc:AlternateContent>
    </p:spTree>
    <p:extLst>
      <p:ext uri="{BB962C8B-B14F-4D97-AF65-F5344CB8AC3E}">
        <p14:creationId xmlns:p14="http://schemas.microsoft.com/office/powerpoint/2010/main" val="4082331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Plastic Deformation in Polycrystalline Materials</a:t>
            </a:r>
          </a:p>
        </p:txBody>
      </p:sp>
      <p:sp>
        <p:nvSpPr>
          <p:cNvPr id="11" name="TextBox 10"/>
          <p:cNvSpPr txBox="1"/>
          <p:nvPr/>
        </p:nvSpPr>
        <p:spPr>
          <a:xfrm>
            <a:off x="8562954" y="6081837"/>
            <a:ext cx="3629046" cy="707886"/>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Slip lines on the surface of a polycrystalline copper specimen</a:t>
            </a:r>
          </a:p>
        </p:txBody>
      </p:sp>
      <p:pic>
        <p:nvPicPr>
          <p:cNvPr id="3" name="Picture 2"/>
          <p:cNvPicPr>
            <a:picLocks noChangeAspect="1"/>
          </p:cNvPicPr>
          <p:nvPr/>
        </p:nvPicPr>
        <p:blipFill>
          <a:blip r:embed="rId3"/>
          <a:stretch>
            <a:fillRect/>
          </a:stretch>
        </p:blipFill>
        <p:spPr>
          <a:xfrm>
            <a:off x="8753238" y="632740"/>
            <a:ext cx="2792293" cy="5319563"/>
          </a:xfrm>
          <a:prstGeom prst="rect">
            <a:avLst/>
          </a:prstGeom>
        </p:spPr>
      </p:pic>
      <p:pic>
        <p:nvPicPr>
          <p:cNvPr id="6" name="Picture 5"/>
          <p:cNvPicPr>
            <a:picLocks noChangeAspect="1"/>
          </p:cNvPicPr>
          <p:nvPr/>
        </p:nvPicPr>
        <p:blipFill>
          <a:blip r:embed="rId4"/>
          <a:stretch>
            <a:fillRect/>
          </a:stretch>
        </p:blipFill>
        <p:spPr>
          <a:xfrm>
            <a:off x="561681" y="774811"/>
            <a:ext cx="5954446" cy="3565176"/>
          </a:xfrm>
          <a:prstGeom prst="rect">
            <a:avLst/>
          </a:prstGeom>
        </p:spPr>
      </p:pic>
      <p:sp>
        <p:nvSpPr>
          <p:cNvPr id="12" name="TextBox 11"/>
          <p:cNvSpPr txBox="1"/>
          <p:nvPr/>
        </p:nvSpPr>
        <p:spPr>
          <a:xfrm>
            <a:off x="327546" y="4591578"/>
            <a:ext cx="7110483" cy="707886"/>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Micrographs showing how initially </a:t>
            </a:r>
            <a:r>
              <a:rPr lang="en-IN" sz="2000" dirty="0" err="1">
                <a:latin typeface="Times New Roman" panose="02020603050405020304" pitchFamily="18" charset="0"/>
                <a:cs typeface="Times New Roman" panose="02020603050405020304" pitchFamily="18" charset="0"/>
              </a:rPr>
              <a:t>equi</a:t>
            </a:r>
            <a:r>
              <a:rPr lang="en-IN" sz="2000" dirty="0">
                <a:latin typeface="Times New Roman" panose="02020603050405020304" pitchFamily="18" charset="0"/>
                <a:cs typeface="Times New Roman" panose="02020603050405020304" pitchFamily="18" charset="0"/>
              </a:rPr>
              <a:t>–axed grains become directionally oriented due to elongation along a particular direction</a:t>
            </a:r>
          </a:p>
        </p:txBody>
      </p:sp>
      <p:sp>
        <p:nvSpPr>
          <p:cNvPr id="13" name="TextBox 12"/>
          <p:cNvSpPr txBox="1"/>
          <p:nvPr/>
        </p:nvSpPr>
        <p:spPr>
          <a:xfrm>
            <a:off x="327546" y="5552193"/>
            <a:ext cx="7772855" cy="707886"/>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Polycrystalline materials are stronger than their single–crystal equivalents. </a:t>
            </a:r>
            <a:r>
              <a:rPr lang="en-IN" sz="2000" b="1" dirty="0">
                <a:latin typeface="Times New Roman" panose="02020603050405020304" pitchFamily="18" charset="0"/>
                <a:cs typeface="Times New Roman" panose="02020603050405020304" pitchFamily="18" charset="0"/>
              </a:rPr>
              <a:t>Why?</a:t>
            </a:r>
          </a:p>
        </p:txBody>
      </p:sp>
    </p:spTree>
    <p:extLst>
      <p:ext uri="{BB962C8B-B14F-4D97-AF65-F5344CB8AC3E}">
        <p14:creationId xmlns:p14="http://schemas.microsoft.com/office/powerpoint/2010/main" val="5896611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Plastic Deformation by twinning</a:t>
            </a:r>
          </a:p>
        </p:txBody>
      </p:sp>
      <p:sp>
        <p:nvSpPr>
          <p:cNvPr id="12" name="TextBox 11"/>
          <p:cNvSpPr txBox="1"/>
          <p:nvPr/>
        </p:nvSpPr>
        <p:spPr>
          <a:xfrm>
            <a:off x="0" y="542798"/>
            <a:ext cx="11614245" cy="707886"/>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Deformation by formation of mechanical twins. The twin plane about which twinning occurs depends on crystal structure.</a:t>
            </a:r>
          </a:p>
        </p:txBody>
      </p:sp>
      <p:pic>
        <p:nvPicPr>
          <p:cNvPr id="2" name="Picture 1"/>
          <p:cNvPicPr>
            <a:picLocks noChangeAspect="1"/>
          </p:cNvPicPr>
          <p:nvPr/>
        </p:nvPicPr>
        <p:blipFill rotWithShape="1">
          <a:blip r:embed="rId3"/>
          <a:srcRect t="3614" r="2160"/>
          <a:stretch/>
        </p:blipFill>
        <p:spPr>
          <a:xfrm>
            <a:off x="3666342" y="1405719"/>
            <a:ext cx="8255876" cy="4148919"/>
          </a:xfrm>
          <a:prstGeom prst="rect">
            <a:avLst/>
          </a:prstGeom>
        </p:spPr>
      </p:pic>
      <p:pic>
        <p:nvPicPr>
          <p:cNvPr id="5" name="Picture 4"/>
          <p:cNvPicPr>
            <a:picLocks noChangeAspect="1"/>
          </p:cNvPicPr>
          <p:nvPr/>
        </p:nvPicPr>
        <p:blipFill>
          <a:blip r:embed="rId4"/>
          <a:stretch>
            <a:fillRect/>
          </a:stretch>
        </p:blipFill>
        <p:spPr>
          <a:xfrm>
            <a:off x="0" y="3783965"/>
            <a:ext cx="5132185" cy="2439414"/>
          </a:xfrm>
          <a:prstGeom prst="rect">
            <a:avLst/>
          </a:prstGeom>
        </p:spPr>
      </p:pic>
      <p:sp>
        <p:nvSpPr>
          <p:cNvPr id="10" name="TextBox 9"/>
          <p:cNvSpPr txBox="1"/>
          <p:nvPr/>
        </p:nvSpPr>
        <p:spPr>
          <a:xfrm>
            <a:off x="805217" y="6223379"/>
            <a:ext cx="3057099" cy="400110"/>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Twin Vs Slip Comparison</a:t>
            </a:r>
          </a:p>
        </p:txBody>
      </p:sp>
      <p:sp>
        <p:nvSpPr>
          <p:cNvPr id="14" name="TextBox 13"/>
          <p:cNvSpPr txBox="1"/>
          <p:nvPr/>
        </p:nvSpPr>
        <p:spPr>
          <a:xfrm>
            <a:off x="0" y="1314790"/>
            <a:ext cx="3302757" cy="1938992"/>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Low temperatures and higher rates of loading.</a:t>
            </a:r>
          </a:p>
          <a:p>
            <a:pPr algn="just"/>
            <a:endParaRPr lang="en-IN" sz="2000" dirty="0">
              <a:latin typeface="Times New Roman" panose="02020603050405020304" pitchFamily="18" charset="0"/>
              <a:cs typeface="Times New Roman" panose="02020603050405020304" pitchFamily="18" charset="0"/>
            </a:endParaRPr>
          </a:p>
          <a:p>
            <a:pPr algn="just"/>
            <a:r>
              <a:rPr lang="en-IN" sz="2000" dirty="0">
                <a:latin typeface="Times New Roman" panose="02020603050405020304" pitchFamily="18" charset="0"/>
                <a:cs typeface="Times New Roman" panose="02020603050405020304" pitchFamily="18" charset="0"/>
              </a:rPr>
              <a:t>The amount of bulk plastic deformation through twinning is small compared to slip.</a:t>
            </a:r>
          </a:p>
        </p:txBody>
      </p:sp>
    </p:spTree>
    <p:extLst>
      <p:ext uri="{BB962C8B-B14F-4D97-AF65-F5344CB8AC3E}">
        <p14:creationId xmlns:p14="http://schemas.microsoft.com/office/powerpoint/2010/main" val="24259959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Strengthening </a:t>
            </a:r>
            <a:r>
              <a:rPr lang="en-IN" sz="2800"/>
              <a:t>Mechanisms in Metals</a:t>
            </a:r>
            <a:endParaRPr lang="en-IN" sz="2800" dirty="0"/>
          </a:p>
        </p:txBody>
      </p:sp>
      <p:sp>
        <p:nvSpPr>
          <p:cNvPr id="12" name="TextBox 11"/>
          <p:cNvSpPr txBox="1"/>
          <p:nvPr/>
        </p:nvSpPr>
        <p:spPr>
          <a:xfrm>
            <a:off x="0" y="555064"/>
            <a:ext cx="9758149" cy="400110"/>
          </a:xfrm>
          <a:prstGeom prst="rect">
            <a:avLst/>
          </a:prstGeom>
          <a:noFill/>
        </p:spPr>
        <p:txBody>
          <a:bodyPr wrap="square" rtlCol="0">
            <a:spAutoFit/>
          </a:bodyPr>
          <a:lstStyle/>
          <a:p>
            <a:pPr algn="just"/>
            <a:r>
              <a:rPr lang="en-IN" sz="2000" b="1" dirty="0">
                <a:latin typeface="Times New Roman" panose="02020603050405020304" pitchFamily="18" charset="0"/>
                <a:cs typeface="Times New Roman" panose="02020603050405020304" pitchFamily="18" charset="0"/>
              </a:rPr>
              <a:t>“</a:t>
            </a:r>
            <a:r>
              <a:rPr lang="en-IN" sz="2000" b="1" i="1" dirty="0">
                <a:latin typeface="Times New Roman" panose="02020603050405020304" pitchFamily="18" charset="0"/>
                <a:cs typeface="Times New Roman" panose="02020603050405020304" pitchFamily="18" charset="0"/>
              </a:rPr>
              <a:t>Restricting or hindering dislocation motion renders a material harder and stronger</a:t>
            </a:r>
            <a:r>
              <a:rPr lang="en-IN" sz="2000" b="1" dirty="0">
                <a:latin typeface="Times New Roman" panose="02020603050405020304" pitchFamily="18" charset="0"/>
                <a:cs typeface="Times New Roman" panose="02020603050405020304" pitchFamily="18" charset="0"/>
              </a:rPr>
              <a:t>”</a:t>
            </a:r>
          </a:p>
        </p:txBody>
      </p:sp>
      <p:sp>
        <p:nvSpPr>
          <p:cNvPr id="8" name="TextBox 7"/>
          <p:cNvSpPr txBox="1"/>
          <p:nvPr/>
        </p:nvSpPr>
        <p:spPr>
          <a:xfrm>
            <a:off x="122830" y="1810658"/>
            <a:ext cx="9758149" cy="1631216"/>
          </a:xfrm>
          <a:prstGeom prst="rect">
            <a:avLst/>
          </a:prstGeom>
          <a:noFill/>
        </p:spPr>
        <p:txBody>
          <a:bodyPr wrap="square" rtlCol="0">
            <a:spAutoFit/>
          </a:bodyPr>
          <a:lstStyle/>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Grain size reduction</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Solid – Solution Strengthening </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Strain Hardening</a:t>
            </a:r>
          </a:p>
        </p:txBody>
      </p:sp>
    </p:spTree>
    <p:extLst>
      <p:ext uri="{BB962C8B-B14F-4D97-AF65-F5344CB8AC3E}">
        <p14:creationId xmlns:p14="http://schemas.microsoft.com/office/powerpoint/2010/main" val="20568428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Strengthening Mechanisms in Metals – Grain size reduction</a:t>
            </a:r>
          </a:p>
        </p:txBody>
      </p:sp>
      <p:sp>
        <p:nvSpPr>
          <p:cNvPr id="8" name="TextBox 7"/>
          <p:cNvSpPr txBox="1"/>
          <p:nvPr/>
        </p:nvSpPr>
        <p:spPr>
          <a:xfrm>
            <a:off x="136478" y="523220"/>
            <a:ext cx="4408226" cy="5324535"/>
          </a:xfrm>
          <a:prstGeom prst="rect">
            <a:avLst/>
          </a:prstGeom>
          <a:noFill/>
        </p:spPr>
        <p:txBody>
          <a:bodyPr wrap="square" rtlCol="0">
            <a:spAutoFit/>
          </a:bodyPr>
          <a:lstStyle/>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Grain boundary is a discontinuity in atomic order.</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direction and plane of dislocation motion has to change.</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As a result grain boundary acts as an obstacle to dislocation motion.</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The dislocations tend to pile up at the high–angle grain boundaries</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Smaller the grains are in a polycrystalline material, higher the grain boundary area. Hence, a fine–grained material is harder and stronger.</a:t>
            </a:r>
          </a:p>
        </p:txBody>
      </p:sp>
      <p:pic>
        <p:nvPicPr>
          <p:cNvPr id="2" name="Picture 1"/>
          <p:cNvPicPr>
            <a:picLocks noChangeAspect="1"/>
          </p:cNvPicPr>
          <p:nvPr/>
        </p:nvPicPr>
        <p:blipFill>
          <a:blip r:embed="rId3"/>
          <a:stretch>
            <a:fillRect/>
          </a:stretch>
        </p:blipFill>
        <p:spPr>
          <a:xfrm>
            <a:off x="4763069" y="798357"/>
            <a:ext cx="7410738" cy="4054153"/>
          </a:xfrm>
          <a:prstGeom prst="rect">
            <a:avLst/>
          </a:prstGeom>
        </p:spPr>
      </p:pic>
    </p:spTree>
    <p:extLst>
      <p:ext uri="{BB962C8B-B14F-4D97-AF65-F5344CB8AC3E}">
        <p14:creationId xmlns:p14="http://schemas.microsoft.com/office/powerpoint/2010/main" val="16126751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Strengthening Mechanisms in Metals – Grain size reduction</a:t>
            </a:r>
          </a:p>
        </p:txBody>
      </p:sp>
      <p:sp>
        <p:nvSpPr>
          <p:cNvPr id="8" name="TextBox 7"/>
          <p:cNvSpPr txBox="1"/>
          <p:nvPr/>
        </p:nvSpPr>
        <p:spPr>
          <a:xfrm>
            <a:off x="217983" y="1954226"/>
            <a:ext cx="6059988" cy="3785652"/>
          </a:xfrm>
          <a:prstGeom prst="rect">
            <a:avLst/>
          </a:prstGeom>
          <a:noFill/>
        </p:spPr>
        <p:txBody>
          <a:bodyPr wrap="square" rtlCol="0">
            <a:spAutoFit/>
          </a:bodyPr>
          <a:lstStyle/>
          <a:p>
            <a:pPr marL="342900" indent="-342900" algn="just">
              <a:buFont typeface="Arial" panose="020B0604020202020204" pitchFamily="34" charset="0"/>
              <a:buChar char="•"/>
            </a:pPr>
            <a:r>
              <a:rPr lang="en-IN" sz="2000" i="1" dirty="0">
                <a:latin typeface="Times New Roman" panose="02020603050405020304" pitchFamily="18" charset="0"/>
                <a:cs typeface="Times New Roman" panose="02020603050405020304" pitchFamily="18" charset="0"/>
              </a:rPr>
              <a:t>d</a:t>
            </a:r>
            <a:r>
              <a:rPr lang="en-IN" sz="2000" dirty="0">
                <a:latin typeface="Times New Roman" panose="02020603050405020304" pitchFamily="18" charset="0"/>
                <a:cs typeface="Times New Roman" panose="02020603050405020304" pitchFamily="18" charset="0"/>
              </a:rPr>
              <a:t> is the average grain size.</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l-GR" sz="2000" i="1" dirty="0">
                <a:latin typeface="Times New Roman" panose="02020603050405020304" pitchFamily="18" charset="0"/>
                <a:cs typeface="Times New Roman" panose="02020603050405020304" pitchFamily="18" charset="0"/>
              </a:rPr>
              <a:t>σ</a:t>
            </a:r>
            <a:r>
              <a:rPr lang="en-IN" sz="2000" baseline="-25000" dirty="0">
                <a:latin typeface="Times New Roman" panose="02020603050405020304" pitchFamily="18" charset="0"/>
                <a:cs typeface="Times New Roman" panose="02020603050405020304" pitchFamily="18" charset="0"/>
              </a:rPr>
              <a:t>0</a:t>
            </a:r>
            <a:r>
              <a:rPr lang="en-IN" sz="2000" dirty="0">
                <a:latin typeface="Times New Roman" panose="02020603050405020304" pitchFamily="18" charset="0"/>
                <a:cs typeface="Times New Roman" panose="02020603050405020304" pitchFamily="18" charset="0"/>
              </a:rPr>
              <a:t> and </a:t>
            </a:r>
            <a:r>
              <a:rPr lang="en-IN" sz="2000" i="1" dirty="0">
                <a:latin typeface="Times New Roman" panose="02020603050405020304" pitchFamily="18" charset="0"/>
                <a:cs typeface="Times New Roman" panose="02020603050405020304" pitchFamily="18" charset="0"/>
              </a:rPr>
              <a:t>d </a:t>
            </a:r>
            <a:r>
              <a:rPr lang="en-IN" sz="2000" dirty="0">
                <a:latin typeface="Times New Roman" panose="02020603050405020304" pitchFamily="18" charset="0"/>
                <a:cs typeface="Times New Roman" panose="02020603050405020304" pitchFamily="18" charset="0"/>
              </a:rPr>
              <a:t>are constants for a particular material.</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Small angle grain boundaries are not as effective in hindering the slipping process.</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Twin boundaries, again, can block the dislocation motion.</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For more complex alloys, phase boundaries act as obstacles to dislocation motion.</a:t>
            </a:r>
          </a:p>
        </p:txBody>
      </p:sp>
      <p:pic>
        <p:nvPicPr>
          <p:cNvPr id="3" name="Picture 2"/>
          <p:cNvPicPr>
            <a:picLocks noChangeAspect="1"/>
          </p:cNvPicPr>
          <p:nvPr/>
        </p:nvPicPr>
        <p:blipFill>
          <a:blip r:embed="rId3"/>
          <a:stretch>
            <a:fillRect/>
          </a:stretch>
        </p:blipFill>
        <p:spPr>
          <a:xfrm>
            <a:off x="3024371" y="932238"/>
            <a:ext cx="2592312" cy="632348"/>
          </a:xfrm>
          <a:prstGeom prst="rect">
            <a:avLst/>
          </a:prstGeom>
        </p:spPr>
      </p:pic>
      <p:cxnSp>
        <p:nvCxnSpPr>
          <p:cNvPr id="6" name="Straight Arrow Connector 5"/>
          <p:cNvCxnSpPr>
            <a:stCxn id="3" idx="3"/>
          </p:cNvCxnSpPr>
          <p:nvPr/>
        </p:nvCxnSpPr>
        <p:spPr>
          <a:xfrm flipV="1">
            <a:off x="5616683" y="1225976"/>
            <a:ext cx="1024345"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9" name="TextBox 8"/>
          <p:cNvSpPr txBox="1"/>
          <p:nvPr/>
        </p:nvSpPr>
        <p:spPr>
          <a:xfrm>
            <a:off x="6715959" y="872033"/>
            <a:ext cx="4408226" cy="707886"/>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Yield Strength Variation With Grain Size: </a:t>
            </a:r>
            <a:r>
              <a:rPr lang="en-IN" sz="2000" b="1" dirty="0">
                <a:latin typeface="Times New Roman" panose="02020603050405020304" pitchFamily="18" charset="0"/>
                <a:cs typeface="Times New Roman" panose="02020603050405020304" pitchFamily="18" charset="0"/>
              </a:rPr>
              <a:t>Hall – </a:t>
            </a:r>
            <a:r>
              <a:rPr lang="en-IN" sz="2000" b="1" dirty="0" err="1">
                <a:latin typeface="Times New Roman" panose="02020603050405020304" pitchFamily="18" charset="0"/>
                <a:cs typeface="Times New Roman" panose="02020603050405020304" pitchFamily="18" charset="0"/>
              </a:rPr>
              <a:t>Petch</a:t>
            </a:r>
            <a:r>
              <a:rPr lang="en-IN" sz="2000" b="1" dirty="0">
                <a:latin typeface="Times New Roman" panose="02020603050405020304" pitchFamily="18" charset="0"/>
                <a:cs typeface="Times New Roman" panose="02020603050405020304" pitchFamily="18" charset="0"/>
              </a:rPr>
              <a:t> relation</a:t>
            </a:r>
          </a:p>
        </p:txBody>
      </p:sp>
      <p:pic>
        <p:nvPicPr>
          <p:cNvPr id="5" name="Picture 4"/>
          <p:cNvPicPr>
            <a:picLocks noChangeAspect="1"/>
          </p:cNvPicPr>
          <p:nvPr/>
        </p:nvPicPr>
        <p:blipFill>
          <a:blip r:embed="rId4"/>
          <a:stretch>
            <a:fillRect/>
          </a:stretch>
        </p:blipFill>
        <p:spPr>
          <a:xfrm>
            <a:off x="6354967" y="1564585"/>
            <a:ext cx="5718368" cy="5293415"/>
          </a:xfrm>
          <a:prstGeom prst="rect">
            <a:avLst/>
          </a:prstGeom>
        </p:spPr>
      </p:pic>
    </p:spTree>
    <p:extLst>
      <p:ext uri="{BB962C8B-B14F-4D97-AF65-F5344CB8AC3E}">
        <p14:creationId xmlns:p14="http://schemas.microsoft.com/office/powerpoint/2010/main" val="69973869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Strengthening Mechanisms in Metals – Solid Solution Strengthening</a:t>
            </a:r>
          </a:p>
        </p:txBody>
      </p:sp>
      <p:sp>
        <p:nvSpPr>
          <p:cNvPr id="8" name="TextBox 7"/>
          <p:cNvSpPr txBox="1"/>
          <p:nvPr/>
        </p:nvSpPr>
        <p:spPr>
          <a:xfrm>
            <a:off x="-1" y="523220"/>
            <a:ext cx="6687403" cy="1015663"/>
          </a:xfrm>
          <a:prstGeom prst="rect">
            <a:avLst/>
          </a:prstGeom>
          <a:noFill/>
        </p:spPr>
        <p:txBody>
          <a:bodyPr wrap="square" rtlCol="0">
            <a:spAutoFit/>
          </a:bodyPr>
          <a:lstStyle/>
          <a:p>
            <a:pPr marL="342900" indent="-342900" algn="just">
              <a:buFont typeface="Arial" panose="020B0604020202020204" pitchFamily="34" charset="0"/>
              <a:buChar char="•"/>
            </a:pPr>
            <a:r>
              <a:rPr lang="en-IN" sz="2000" dirty="0" err="1">
                <a:latin typeface="Times New Roman" panose="02020603050405020304" pitchFamily="18" charset="0"/>
                <a:cs typeface="Times New Roman" panose="02020603050405020304" pitchFamily="18" charset="0"/>
              </a:rPr>
              <a:t>Substitutional</a:t>
            </a:r>
            <a:r>
              <a:rPr lang="en-IN" sz="2000" dirty="0">
                <a:latin typeface="Times New Roman" panose="02020603050405020304" pitchFamily="18" charset="0"/>
                <a:cs typeface="Times New Roman" panose="02020603050405020304" pitchFamily="18" charset="0"/>
              </a:rPr>
              <a:t> or interstitial impurity atoms act as obstacles to dislocation motion. This phenomenon is called Solid–Solution strengthening.</a:t>
            </a:r>
          </a:p>
        </p:txBody>
      </p:sp>
      <p:pic>
        <p:nvPicPr>
          <p:cNvPr id="2" name="Picture 1"/>
          <p:cNvPicPr>
            <a:picLocks noChangeAspect="1"/>
          </p:cNvPicPr>
          <p:nvPr/>
        </p:nvPicPr>
        <p:blipFill>
          <a:blip r:embed="rId3"/>
          <a:stretch>
            <a:fillRect/>
          </a:stretch>
        </p:blipFill>
        <p:spPr>
          <a:xfrm>
            <a:off x="6789912" y="523220"/>
            <a:ext cx="4549540" cy="3345263"/>
          </a:xfrm>
          <a:prstGeom prst="rect">
            <a:avLst/>
          </a:prstGeom>
        </p:spPr>
      </p:pic>
      <p:pic>
        <p:nvPicPr>
          <p:cNvPr id="7" name="Picture 6"/>
          <p:cNvPicPr>
            <a:picLocks noChangeAspect="1"/>
          </p:cNvPicPr>
          <p:nvPr/>
        </p:nvPicPr>
        <p:blipFill>
          <a:blip r:embed="rId4"/>
          <a:stretch>
            <a:fillRect/>
          </a:stretch>
        </p:blipFill>
        <p:spPr>
          <a:xfrm>
            <a:off x="152704" y="1511587"/>
            <a:ext cx="4596716" cy="3450547"/>
          </a:xfrm>
          <a:prstGeom prst="rect">
            <a:avLst/>
          </a:prstGeom>
        </p:spPr>
      </p:pic>
      <p:pic>
        <p:nvPicPr>
          <p:cNvPr id="10" name="Picture 9"/>
          <p:cNvPicPr>
            <a:picLocks noChangeAspect="1"/>
          </p:cNvPicPr>
          <p:nvPr/>
        </p:nvPicPr>
        <p:blipFill>
          <a:blip r:embed="rId5"/>
          <a:stretch>
            <a:fillRect/>
          </a:stretch>
        </p:blipFill>
        <p:spPr>
          <a:xfrm>
            <a:off x="4773186" y="3642809"/>
            <a:ext cx="3828431" cy="3215191"/>
          </a:xfrm>
          <a:prstGeom prst="rect">
            <a:avLst/>
          </a:prstGeom>
        </p:spPr>
      </p:pic>
    </p:spTree>
    <p:extLst>
      <p:ext uri="{BB962C8B-B14F-4D97-AF65-F5344CB8AC3E}">
        <p14:creationId xmlns:p14="http://schemas.microsoft.com/office/powerpoint/2010/main" val="37276776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Strengthening Mechanisms in Metals – Solid Solution Strengthening</a:t>
            </a:r>
          </a:p>
        </p:txBody>
      </p:sp>
      <p:sp>
        <p:nvSpPr>
          <p:cNvPr id="8" name="TextBox 7"/>
          <p:cNvSpPr txBox="1"/>
          <p:nvPr/>
        </p:nvSpPr>
        <p:spPr>
          <a:xfrm>
            <a:off x="0" y="2215542"/>
            <a:ext cx="4449170" cy="1015663"/>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Tensile strains induced in the case where, a smaller atom “substitutes” a parent atom.</a:t>
            </a:r>
          </a:p>
        </p:txBody>
      </p:sp>
      <p:pic>
        <p:nvPicPr>
          <p:cNvPr id="3" name="Picture 2"/>
          <p:cNvPicPr>
            <a:picLocks noChangeAspect="1"/>
          </p:cNvPicPr>
          <p:nvPr/>
        </p:nvPicPr>
        <p:blipFill>
          <a:blip r:embed="rId3"/>
          <a:stretch>
            <a:fillRect/>
          </a:stretch>
        </p:blipFill>
        <p:spPr>
          <a:xfrm>
            <a:off x="585436" y="616619"/>
            <a:ext cx="2403424" cy="1598923"/>
          </a:xfrm>
          <a:prstGeom prst="rect">
            <a:avLst/>
          </a:prstGeom>
        </p:spPr>
      </p:pic>
      <p:pic>
        <p:nvPicPr>
          <p:cNvPr id="5" name="Picture 4"/>
          <p:cNvPicPr>
            <a:picLocks noChangeAspect="1"/>
          </p:cNvPicPr>
          <p:nvPr/>
        </p:nvPicPr>
        <p:blipFill>
          <a:blip r:embed="rId4"/>
          <a:stretch>
            <a:fillRect/>
          </a:stretch>
        </p:blipFill>
        <p:spPr>
          <a:xfrm>
            <a:off x="5051996" y="593236"/>
            <a:ext cx="2908233" cy="2352488"/>
          </a:xfrm>
          <a:prstGeom prst="rect">
            <a:avLst/>
          </a:prstGeom>
        </p:spPr>
      </p:pic>
      <p:sp>
        <p:nvSpPr>
          <p:cNvPr id="9" name="TextBox 8"/>
          <p:cNvSpPr txBox="1"/>
          <p:nvPr/>
        </p:nvSpPr>
        <p:spPr>
          <a:xfrm>
            <a:off x="7960230" y="787355"/>
            <a:ext cx="4077096" cy="1631216"/>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Tensile strains due to smaller </a:t>
            </a:r>
            <a:r>
              <a:rPr lang="en-IN" sz="2000" dirty="0" err="1">
                <a:latin typeface="Times New Roman" panose="02020603050405020304" pitchFamily="18" charset="0"/>
                <a:cs typeface="Times New Roman" panose="02020603050405020304" pitchFamily="18" charset="0"/>
              </a:rPr>
              <a:t>substitutional</a:t>
            </a:r>
            <a:r>
              <a:rPr lang="en-IN" sz="2000" dirty="0">
                <a:latin typeface="Times New Roman" panose="02020603050405020304" pitchFamily="18" charset="0"/>
                <a:cs typeface="Times New Roman" panose="02020603050405020304" pitchFamily="18" charset="0"/>
              </a:rPr>
              <a:t> atoms interact the with compressive strains of a dislocation, restricting further motion of the dislocation. </a:t>
            </a:r>
          </a:p>
        </p:txBody>
      </p:sp>
      <p:pic>
        <p:nvPicPr>
          <p:cNvPr id="6" name="Picture 5"/>
          <p:cNvPicPr>
            <a:picLocks noChangeAspect="1"/>
          </p:cNvPicPr>
          <p:nvPr/>
        </p:nvPicPr>
        <p:blipFill>
          <a:blip r:embed="rId5"/>
          <a:stretch>
            <a:fillRect/>
          </a:stretch>
        </p:blipFill>
        <p:spPr>
          <a:xfrm>
            <a:off x="699667" y="3477874"/>
            <a:ext cx="2289193" cy="1626389"/>
          </a:xfrm>
          <a:prstGeom prst="rect">
            <a:avLst/>
          </a:prstGeom>
        </p:spPr>
      </p:pic>
      <p:pic>
        <p:nvPicPr>
          <p:cNvPr id="11" name="Picture 10"/>
          <p:cNvPicPr>
            <a:picLocks noChangeAspect="1"/>
          </p:cNvPicPr>
          <p:nvPr/>
        </p:nvPicPr>
        <p:blipFill>
          <a:blip r:embed="rId6"/>
          <a:stretch>
            <a:fillRect/>
          </a:stretch>
        </p:blipFill>
        <p:spPr>
          <a:xfrm>
            <a:off x="5051996" y="3477874"/>
            <a:ext cx="3025153" cy="2537084"/>
          </a:xfrm>
          <a:prstGeom prst="rect">
            <a:avLst/>
          </a:prstGeom>
        </p:spPr>
      </p:pic>
      <p:sp>
        <p:nvSpPr>
          <p:cNvPr id="12" name="TextBox 11"/>
          <p:cNvSpPr txBox="1"/>
          <p:nvPr/>
        </p:nvSpPr>
        <p:spPr>
          <a:xfrm>
            <a:off x="259307" y="5104263"/>
            <a:ext cx="4449170" cy="1015663"/>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Compressive strains induced in the case where, a bigger atom “substitutes” a parent atom.</a:t>
            </a:r>
          </a:p>
        </p:txBody>
      </p:sp>
      <p:sp>
        <p:nvSpPr>
          <p:cNvPr id="13" name="TextBox 12"/>
          <p:cNvSpPr txBox="1"/>
          <p:nvPr/>
        </p:nvSpPr>
        <p:spPr>
          <a:xfrm>
            <a:off x="8077149" y="3980878"/>
            <a:ext cx="4077096" cy="1631216"/>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Compressive strains due to bigger </a:t>
            </a:r>
            <a:r>
              <a:rPr lang="en-IN" sz="2000" dirty="0" err="1">
                <a:latin typeface="Times New Roman" panose="02020603050405020304" pitchFamily="18" charset="0"/>
                <a:cs typeface="Times New Roman" panose="02020603050405020304" pitchFamily="18" charset="0"/>
              </a:rPr>
              <a:t>substitutional</a:t>
            </a:r>
            <a:r>
              <a:rPr lang="en-IN" sz="2000" dirty="0">
                <a:latin typeface="Times New Roman" panose="02020603050405020304" pitchFamily="18" charset="0"/>
                <a:cs typeface="Times New Roman" panose="02020603050405020304" pitchFamily="18" charset="0"/>
              </a:rPr>
              <a:t> atoms interact the with tensile strains of a dislocation, restricting further motion of the dislocation. </a:t>
            </a:r>
          </a:p>
        </p:txBody>
      </p:sp>
    </p:spTree>
    <p:extLst>
      <p:ext uri="{BB962C8B-B14F-4D97-AF65-F5344CB8AC3E}">
        <p14:creationId xmlns:p14="http://schemas.microsoft.com/office/powerpoint/2010/main" val="41384895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Strengthening Mechanisms in Metals – Strain Hardening</a:t>
            </a:r>
          </a:p>
        </p:txBody>
      </p:sp>
      <p:sp>
        <p:nvSpPr>
          <p:cNvPr id="8" name="TextBox 7"/>
          <p:cNvSpPr txBox="1"/>
          <p:nvPr/>
        </p:nvSpPr>
        <p:spPr>
          <a:xfrm>
            <a:off x="0" y="523220"/>
            <a:ext cx="10399594" cy="400110"/>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Also called “Work Hardening” or “Cold Working”.</a:t>
            </a:r>
          </a:p>
        </p:txBody>
      </p:sp>
      <p:pic>
        <p:nvPicPr>
          <p:cNvPr id="7" name="Picture 6"/>
          <p:cNvPicPr>
            <a:picLocks noChangeAspect="1"/>
          </p:cNvPicPr>
          <p:nvPr/>
        </p:nvPicPr>
        <p:blipFill>
          <a:blip r:embed="rId3"/>
          <a:stretch>
            <a:fillRect/>
          </a:stretch>
        </p:blipFill>
        <p:spPr>
          <a:xfrm>
            <a:off x="4210684" y="1046440"/>
            <a:ext cx="3786902" cy="4156857"/>
          </a:xfrm>
          <a:prstGeom prst="rect">
            <a:avLst/>
          </a:prstGeom>
        </p:spPr>
      </p:pic>
      <p:pic>
        <p:nvPicPr>
          <p:cNvPr id="10" name="Picture 9"/>
          <p:cNvPicPr>
            <a:picLocks noChangeAspect="1"/>
          </p:cNvPicPr>
          <p:nvPr/>
        </p:nvPicPr>
        <p:blipFill>
          <a:blip r:embed="rId4"/>
          <a:stretch>
            <a:fillRect/>
          </a:stretch>
        </p:blipFill>
        <p:spPr>
          <a:xfrm>
            <a:off x="13649" y="1046440"/>
            <a:ext cx="3957850" cy="4220426"/>
          </a:xfrm>
          <a:prstGeom prst="rect">
            <a:avLst/>
          </a:prstGeom>
        </p:spPr>
      </p:pic>
      <mc:AlternateContent xmlns:mc="http://schemas.openxmlformats.org/markup-compatibility/2006" xmlns:a14="http://schemas.microsoft.com/office/drawing/2010/main">
        <mc:Choice Requires="a14">
          <p:sp>
            <p:nvSpPr>
              <p:cNvPr id="15" name="TextBox 14"/>
              <p:cNvSpPr txBox="1"/>
              <p:nvPr/>
            </p:nvSpPr>
            <p:spPr>
              <a:xfrm>
                <a:off x="4439106" y="5722080"/>
                <a:ext cx="3558480" cy="569258"/>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 Cold Working = </a:t>
                </a:r>
                <a14:m>
                  <m:oMath xmlns:m="http://schemas.openxmlformats.org/officeDocument/2006/math">
                    <m:f>
                      <m:fPr>
                        <m:ctrlPr>
                          <a:rPr lang="en-IN" sz="2000" i="1" smtClean="0">
                            <a:latin typeface="Cambria Math" panose="02040503050406030204" pitchFamily="18" charset="0"/>
                            <a:cs typeface="Times New Roman" panose="02020603050405020304" pitchFamily="18" charset="0"/>
                          </a:rPr>
                        </m:ctrlPr>
                      </m:fPr>
                      <m:num>
                        <m:sSub>
                          <m:sSubPr>
                            <m:ctrlPr>
                              <a:rPr lang="en-IN" sz="2000" i="1" smtClean="0">
                                <a:latin typeface="Cambria Math" panose="02040503050406030204" pitchFamily="18" charset="0"/>
                                <a:cs typeface="Times New Roman" panose="02020603050405020304" pitchFamily="18" charset="0"/>
                              </a:rPr>
                            </m:ctrlPr>
                          </m:sSubPr>
                          <m:e>
                            <m:r>
                              <a:rPr lang="en-IN" sz="2000" b="0" i="1" smtClean="0">
                                <a:latin typeface="Cambria Math" panose="02040503050406030204" pitchFamily="18" charset="0"/>
                                <a:cs typeface="Times New Roman" panose="02020603050405020304" pitchFamily="18" charset="0"/>
                              </a:rPr>
                              <m:t>𝐴</m:t>
                            </m:r>
                          </m:e>
                          <m:sub>
                            <m:r>
                              <a:rPr lang="en-IN" sz="2000" b="0" i="1" smtClean="0">
                                <a:latin typeface="Cambria Math" panose="02040503050406030204" pitchFamily="18" charset="0"/>
                                <a:cs typeface="Times New Roman" panose="02020603050405020304" pitchFamily="18" charset="0"/>
                              </a:rPr>
                              <m:t>0</m:t>
                            </m:r>
                          </m:sub>
                        </m:sSub>
                        <m:r>
                          <a:rPr lang="en-IN" sz="2000" b="0" i="1" smtClean="0">
                            <a:latin typeface="Cambria Math" panose="02040503050406030204" pitchFamily="18" charset="0"/>
                            <a:cs typeface="Times New Roman" panose="02020603050405020304" pitchFamily="18" charset="0"/>
                          </a:rPr>
                          <m:t>−</m:t>
                        </m:r>
                        <m:sSub>
                          <m:sSubPr>
                            <m:ctrlPr>
                              <a:rPr lang="en-IN" sz="2000" i="1">
                                <a:latin typeface="Cambria Math" panose="02040503050406030204" pitchFamily="18" charset="0"/>
                                <a:cs typeface="Times New Roman" panose="02020603050405020304" pitchFamily="18" charset="0"/>
                              </a:rPr>
                            </m:ctrlPr>
                          </m:sSubPr>
                          <m:e>
                            <m:r>
                              <a:rPr lang="en-IN" sz="2000" i="1">
                                <a:latin typeface="Cambria Math" panose="02040503050406030204" pitchFamily="18" charset="0"/>
                                <a:cs typeface="Times New Roman" panose="02020603050405020304" pitchFamily="18" charset="0"/>
                              </a:rPr>
                              <m:t>𝐴</m:t>
                            </m:r>
                          </m:e>
                          <m:sub>
                            <m:r>
                              <a:rPr lang="en-IN" sz="2000" b="0" i="1" smtClean="0">
                                <a:latin typeface="Cambria Math" panose="02040503050406030204" pitchFamily="18" charset="0"/>
                                <a:cs typeface="Times New Roman" panose="02020603050405020304" pitchFamily="18" charset="0"/>
                              </a:rPr>
                              <m:t>𝑑</m:t>
                            </m:r>
                          </m:sub>
                        </m:sSub>
                      </m:num>
                      <m:den>
                        <m:sSub>
                          <m:sSubPr>
                            <m:ctrlPr>
                              <a:rPr lang="en-IN" sz="2000" i="1">
                                <a:latin typeface="Cambria Math" panose="02040503050406030204" pitchFamily="18" charset="0"/>
                                <a:cs typeface="Times New Roman" panose="02020603050405020304" pitchFamily="18" charset="0"/>
                              </a:rPr>
                            </m:ctrlPr>
                          </m:sSubPr>
                          <m:e>
                            <m:r>
                              <a:rPr lang="en-IN" sz="2000" i="1">
                                <a:latin typeface="Cambria Math" panose="02040503050406030204" pitchFamily="18" charset="0"/>
                                <a:cs typeface="Times New Roman" panose="02020603050405020304" pitchFamily="18" charset="0"/>
                              </a:rPr>
                              <m:t>𝐴</m:t>
                            </m:r>
                          </m:e>
                          <m:sub>
                            <m:r>
                              <a:rPr lang="en-IN" sz="2000" i="1">
                                <a:latin typeface="Cambria Math" panose="02040503050406030204" pitchFamily="18" charset="0"/>
                                <a:cs typeface="Times New Roman" panose="02020603050405020304" pitchFamily="18" charset="0"/>
                              </a:rPr>
                              <m:t>0</m:t>
                            </m:r>
                          </m:sub>
                        </m:sSub>
                      </m:den>
                    </m:f>
                    <m:r>
                      <m:rPr>
                        <m:sty m:val="p"/>
                      </m:rPr>
                      <a:rPr lang="en-IN" sz="2000" b="0" i="0" smtClean="0">
                        <a:latin typeface="Cambria Math" panose="02040503050406030204" pitchFamily="18" charset="0"/>
                        <a:cs typeface="Times New Roman" panose="02020603050405020304" pitchFamily="18" charset="0"/>
                      </a:rPr>
                      <m:t>X</m:t>
                    </m:r>
                    <m:r>
                      <a:rPr lang="en-IN" sz="2000" b="0" i="0" smtClean="0">
                        <a:latin typeface="Cambria Math" panose="02040503050406030204" pitchFamily="18" charset="0"/>
                        <a:cs typeface="Times New Roman" panose="02020603050405020304" pitchFamily="18" charset="0"/>
                      </a:rPr>
                      <m:t> 100</m:t>
                    </m:r>
                  </m:oMath>
                </a14:m>
                <a:endParaRPr lang="en-IN" sz="2000" dirty="0">
                  <a:latin typeface="Times New Roman" panose="02020603050405020304" pitchFamily="18" charset="0"/>
                  <a:cs typeface="Times New Roman" panose="02020603050405020304" pitchFamily="18" charset="0"/>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4439106" y="5722080"/>
                <a:ext cx="3558480" cy="569258"/>
              </a:xfrm>
              <a:prstGeom prst="rect">
                <a:avLst/>
              </a:prstGeom>
              <a:blipFill rotWithShape="0">
                <a:blip r:embed="rId5"/>
                <a:stretch>
                  <a:fillRect l="-1712"/>
                </a:stretch>
              </a:blipFill>
            </p:spPr>
            <p:txBody>
              <a:bodyPr/>
              <a:lstStyle/>
              <a:p>
                <a:r>
                  <a:rPr lang="en-IN">
                    <a:noFill/>
                  </a:rPr>
                  <a:t> </a:t>
                </a:r>
              </a:p>
            </p:txBody>
          </p:sp>
        </mc:Fallback>
      </mc:AlternateContent>
      <p:pic>
        <p:nvPicPr>
          <p:cNvPr id="16" name="Picture 15"/>
          <p:cNvPicPr>
            <a:picLocks noChangeAspect="1"/>
          </p:cNvPicPr>
          <p:nvPr/>
        </p:nvPicPr>
        <p:blipFill>
          <a:blip r:embed="rId6"/>
          <a:stretch>
            <a:fillRect/>
          </a:stretch>
        </p:blipFill>
        <p:spPr>
          <a:xfrm>
            <a:off x="8395282" y="971832"/>
            <a:ext cx="3590091" cy="4369641"/>
          </a:xfrm>
          <a:prstGeom prst="rect">
            <a:avLst/>
          </a:prstGeom>
        </p:spPr>
      </p:pic>
    </p:spTree>
    <p:extLst>
      <p:ext uri="{BB962C8B-B14F-4D97-AF65-F5344CB8AC3E}">
        <p14:creationId xmlns:p14="http://schemas.microsoft.com/office/powerpoint/2010/main" val="10937460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Strengthening Mechanisms in Metals – Strain Hardening</a:t>
            </a:r>
          </a:p>
        </p:txBody>
      </p:sp>
      <p:sp>
        <p:nvSpPr>
          <p:cNvPr id="8" name="TextBox 7"/>
          <p:cNvSpPr txBox="1"/>
          <p:nvPr/>
        </p:nvSpPr>
        <p:spPr>
          <a:xfrm>
            <a:off x="0" y="523220"/>
            <a:ext cx="3807725" cy="400110"/>
          </a:xfrm>
          <a:prstGeom prst="rect">
            <a:avLst/>
          </a:prstGeom>
          <a:noFill/>
        </p:spPr>
        <p:txBody>
          <a:bodyPr wrap="square" rtlCol="0">
            <a:spAutoFit/>
          </a:bodyPr>
          <a:lstStyle/>
          <a:p>
            <a:pPr algn="just"/>
            <a:r>
              <a:rPr lang="en-IN" sz="2000" dirty="0">
                <a:latin typeface="Times New Roman" panose="02020603050405020304" pitchFamily="18" charset="0"/>
                <a:cs typeface="Times New Roman" panose="02020603050405020304" pitchFamily="18" charset="0"/>
              </a:rPr>
              <a:t>Cold working in low carbon steel</a:t>
            </a:r>
          </a:p>
        </p:txBody>
      </p:sp>
      <p:pic>
        <p:nvPicPr>
          <p:cNvPr id="2" name="Picture 1"/>
          <p:cNvPicPr>
            <a:picLocks noChangeAspect="1"/>
          </p:cNvPicPr>
          <p:nvPr/>
        </p:nvPicPr>
        <p:blipFill>
          <a:blip r:embed="rId3"/>
          <a:stretch>
            <a:fillRect/>
          </a:stretch>
        </p:blipFill>
        <p:spPr>
          <a:xfrm>
            <a:off x="5618253" y="1260199"/>
            <a:ext cx="5396750" cy="4932876"/>
          </a:xfrm>
          <a:prstGeom prst="rect">
            <a:avLst/>
          </a:prstGeom>
        </p:spPr>
      </p:pic>
    </p:spTree>
    <p:extLst>
      <p:ext uri="{BB962C8B-B14F-4D97-AF65-F5344CB8AC3E}">
        <p14:creationId xmlns:p14="http://schemas.microsoft.com/office/powerpoint/2010/main" val="4785316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4" name="Rectangle 3"/>
              <p:cNvSpPr/>
              <p:nvPr/>
            </p:nvSpPr>
            <p:spPr>
              <a:xfrm>
                <a:off x="0" y="766001"/>
                <a:ext cx="12091916" cy="4710392"/>
              </a:xfrm>
              <a:prstGeom prst="rect">
                <a:avLst/>
              </a:prstGeom>
            </p:spPr>
            <p:txBody>
              <a:bodyPr wrap="square">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To provide some perspective on the dimensions of atomic defects, consider a metal specimen with a dislocation density of 10</a:t>
                </a:r>
                <a:r>
                  <a:rPr lang="en-US" sz="2000" baseline="30000" dirty="0">
                    <a:latin typeface="Times New Roman" panose="02020603050405020304" pitchFamily="18" charset="0"/>
                    <a:cs typeface="Times New Roman" panose="02020603050405020304" pitchFamily="18" charset="0"/>
                  </a:rPr>
                  <a:t>5</a:t>
                </a:r>
                <a:r>
                  <a:rPr lang="en-US" sz="2000" dirty="0">
                    <a:latin typeface="Times New Roman" panose="02020603050405020304" pitchFamily="18" charset="0"/>
                    <a:cs typeface="Times New Roman" panose="02020603050405020304" pitchFamily="18" charset="0"/>
                  </a:rPr>
                  <a:t> mm</a:t>
                </a:r>
                <a:r>
                  <a:rPr lang="en-US" sz="2000" baseline="30000" dirty="0">
                    <a:latin typeface="Times New Roman" panose="02020603050405020304" pitchFamily="18" charset="0"/>
                    <a:cs typeface="Times New Roman" panose="02020603050405020304" pitchFamily="18" charset="0"/>
                  </a:rPr>
                  <a:t>2</a:t>
                </a:r>
                <a:r>
                  <a:rPr lang="en-US" sz="2000" dirty="0">
                    <a:latin typeface="Times New Roman" panose="02020603050405020304" pitchFamily="18" charset="0"/>
                    <a:cs typeface="Times New Roman" panose="02020603050405020304" pitchFamily="18" charset="0"/>
                  </a:rPr>
                  <a:t>. Suppose that all the dislocations in 1000 mm</a:t>
                </a:r>
                <a:r>
                  <a:rPr lang="en-US" sz="2000" baseline="30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(1 cm</a:t>
                </a:r>
                <a:r>
                  <a:rPr lang="en-US" sz="2000" baseline="30000" dirty="0">
                    <a:latin typeface="Times New Roman" panose="02020603050405020304" pitchFamily="18" charset="0"/>
                    <a:cs typeface="Times New Roman" panose="02020603050405020304" pitchFamily="18" charset="0"/>
                  </a:rPr>
                  <a:t>3</a:t>
                </a:r>
                <a:r>
                  <a:rPr lang="en-US" sz="2000" dirty="0">
                    <a:latin typeface="Times New Roman" panose="02020603050405020304" pitchFamily="18" charset="0"/>
                    <a:cs typeface="Times New Roman" panose="02020603050405020304" pitchFamily="18" charset="0"/>
                  </a:rPr>
                  <a:t>) were somehow removed and linked end to end. How far would this chain extend?</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Determine the magnitude of Burger’s vector for Iron (0.1241 nm) and Copper (0.1278).</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The product cos </a:t>
                </a:r>
                <a:r>
                  <a:rPr lang="el-GR" sz="2000" dirty="0">
                    <a:latin typeface="Times New Roman" panose="02020603050405020304" pitchFamily="18" charset="0"/>
                    <a:cs typeface="Times New Roman" panose="02020603050405020304" pitchFamily="18" charset="0"/>
                  </a:rPr>
                  <a:t>φ</a:t>
                </a:r>
                <a:r>
                  <a:rPr lang="en-US" sz="2000" dirty="0">
                    <a:latin typeface="Times New Roman" panose="02020603050405020304" pitchFamily="18" charset="0"/>
                    <a:cs typeface="Times New Roman" panose="02020603050405020304" pitchFamily="18" charset="0"/>
                  </a:rPr>
                  <a:t> cos </a:t>
                </a:r>
                <a:r>
                  <a:rPr lang="el-GR" sz="2000" dirty="0">
                    <a:latin typeface="Times New Roman" panose="02020603050405020304" pitchFamily="18" charset="0"/>
                    <a:cs typeface="Times New Roman" panose="02020603050405020304" pitchFamily="18" charset="0"/>
                  </a:rPr>
                  <a:t>λ</a:t>
                </a:r>
                <a:r>
                  <a:rPr lang="en-US" sz="2000" dirty="0">
                    <a:latin typeface="Times New Roman" panose="02020603050405020304" pitchFamily="18" charset="0"/>
                    <a:cs typeface="Times New Roman" panose="02020603050405020304" pitchFamily="18" charset="0"/>
                  </a:rPr>
                  <a:t> is termed the </a:t>
                </a:r>
                <a:r>
                  <a:rPr lang="en-US" sz="2000" b="1" i="1" dirty="0" err="1">
                    <a:latin typeface="Times New Roman" panose="02020603050405020304" pitchFamily="18" charset="0"/>
                    <a:cs typeface="Times New Roman" panose="02020603050405020304" pitchFamily="18" charset="0"/>
                  </a:rPr>
                  <a:t>Schmid</a:t>
                </a:r>
                <a:r>
                  <a:rPr lang="en-US" sz="2000" b="1" i="1" dirty="0">
                    <a:latin typeface="Times New Roman" panose="02020603050405020304" pitchFamily="18" charset="0"/>
                    <a:cs typeface="Times New Roman" panose="02020603050405020304" pitchFamily="18" charset="0"/>
                  </a:rPr>
                  <a:t> factor</a:t>
                </a:r>
                <a:r>
                  <a:rPr lang="en-US" sz="2000" dirty="0">
                    <a:latin typeface="Times New Roman" panose="02020603050405020304" pitchFamily="18" charset="0"/>
                    <a:cs typeface="Times New Roman" panose="02020603050405020304" pitchFamily="18" charset="0"/>
                  </a:rPr>
                  <a:t>. Determine the magnitude of the </a:t>
                </a:r>
                <a:r>
                  <a:rPr lang="en-US" sz="2000" dirty="0" err="1">
                    <a:latin typeface="Times New Roman" panose="02020603050405020304" pitchFamily="18" charset="0"/>
                    <a:cs typeface="Times New Roman" panose="02020603050405020304" pitchFamily="18" charset="0"/>
                  </a:rPr>
                  <a:t>Schmid</a:t>
                </a:r>
                <a:r>
                  <a:rPr lang="en-US" sz="2000" dirty="0">
                    <a:latin typeface="Times New Roman" panose="02020603050405020304" pitchFamily="18" charset="0"/>
                    <a:cs typeface="Times New Roman" panose="02020603050405020304" pitchFamily="18" charset="0"/>
                  </a:rPr>
                  <a:t> factor for an FCC single crystal oriented with its [120] direction parallel to the loading axis.</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 single crystal of a metal that has the FCC crystal structure is oriented such that a tensile stress is applied parallel to the [100] direction. If the critical resolved shear stress for this material is 0.5 MPa, calculate the magnitude(s) of applied stress(</a:t>
                </a:r>
                <a:r>
                  <a:rPr lang="en-US" sz="2000" dirty="0" err="1">
                    <a:latin typeface="Times New Roman" panose="02020603050405020304" pitchFamily="18" charset="0"/>
                    <a:cs typeface="Times New Roman" panose="02020603050405020304" pitchFamily="18" charset="0"/>
                  </a:rPr>
                  <a:t>es</a:t>
                </a:r>
                <a:r>
                  <a:rPr lang="en-US" sz="2000" dirty="0">
                    <a:latin typeface="Times New Roman" panose="02020603050405020304" pitchFamily="18" charset="0"/>
                    <a:cs typeface="Times New Roman" panose="02020603050405020304" pitchFamily="18" charset="0"/>
                  </a:rPr>
                  <a:t>) necessary to cause slip to occur on the (111) plane in each of the </a:t>
                </a:r>
                <a14:m>
                  <m:oMath xmlns:m="http://schemas.openxmlformats.org/officeDocument/2006/math">
                    <m:d>
                      <m:dPr>
                        <m:begChr m:val="["/>
                        <m:endChr m:val="]"/>
                        <m:ctrlPr>
                          <a:rPr lang="en-US" sz="2000" i="1" smtClean="0">
                            <a:latin typeface="Cambria Math" panose="02040503050406030204" pitchFamily="18" charset="0"/>
                            <a:cs typeface="Times New Roman" panose="02020603050405020304" pitchFamily="18" charset="0"/>
                          </a:rPr>
                        </m:ctrlPr>
                      </m:dPr>
                      <m:e>
                        <m:acc>
                          <m:accPr>
                            <m:chr m:val="̅"/>
                            <m:ctrlPr>
                              <a:rPr lang="en-US" sz="2000" i="1" smtClean="0">
                                <a:latin typeface="Cambria Math" panose="02040503050406030204" pitchFamily="18" charset="0"/>
                                <a:cs typeface="Times New Roman" panose="02020603050405020304" pitchFamily="18" charset="0"/>
                              </a:rPr>
                            </m:ctrlPr>
                          </m:accPr>
                          <m:e>
                            <m:r>
                              <a:rPr lang="en-IN" sz="2000" b="0" i="1" smtClean="0">
                                <a:latin typeface="Cambria Math" panose="02040503050406030204" pitchFamily="18" charset="0"/>
                                <a:cs typeface="Times New Roman" panose="02020603050405020304" pitchFamily="18" charset="0"/>
                              </a:rPr>
                              <m:t>1</m:t>
                            </m:r>
                          </m:e>
                        </m:acc>
                        <m:r>
                          <a:rPr lang="en-IN" sz="2000" b="0" i="1" smtClean="0">
                            <a:latin typeface="Cambria Math" panose="02040503050406030204" pitchFamily="18" charset="0"/>
                            <a:cs typeface="Times New Roman" panose="02020603050405020304" pitchFamily="18" charset="0"/>
                          </a:rPr>
                          <m:t>01</m:t>
                        </m:r>
                      </m:e>
                    </m:d>
                    <m:r>
                      <a:rPr lang="en-IN" sz="2000" b="0" i="1" smtClean="0">
                        <a:latin typeface="Cambria Math" panose="02040503050406030204" pitchFamily="18" charset="0"/>
                        <a:cs typeface="Times New Roman" panose="02020603050405020304" pitchFamily="18" charset="0"/>
                      </a:rPr>
                      <m:t>,</m:t>
                    </m:r>
                    <m:d>
                      <m:dPr>
                        <m:begChr m:val="["/>
                        <m:endChr m:val="]"/>
                        <m:ctrlPr>
                          <a:rPr lang="en-US" sz="2000" i="1">
                            <a:latin typeface="Cambria Math" panose="02040503050406030204" pitchFamily="18" charset="0"/>
                            <a:cs typeface="Times New Roman" panose="02020603050405020304" pitchFamily="18" charset="0"/>
                          </a:rPr>
                        </m:ctrlPr>
                      </m:dPr>
                      <m:e>
                        <m:r>
                          <a:rPr lang="en-IN" sz="2000" i="1">
                            <a:latin typeface="Cambria Math" panose="02040503050406030204" pitchFamily="18" charset="0"/>
                            <a:cs typeface="Times New Roman" panose="02020603050405020304" pitchFamily="18" charset="0"/>
                          </a:rPr>
                          <m:t>1</m:t>
                        </m:r>
                        <m:acc>
                          <m:accPr>
                            <m:chr m:val="̅"/>
                            <m:ctrlPr>
                              <a:rPr lang="en-US" sz="2000" i="1">
                                <a:latin typeface="Cambria Math" panose="02040503050406030204" pitchFamily="18" charset="0"/>
                                <a:cs typeface="Times New Roman" panose="02020603050405020304" pitchFamily="18" charset="0"/>
                              </a:rPr>
                            </m:ctrlPr>
                          </m:accPr>
                          <m:e>
                            <m:r>
                              <a:rPr lang="en-IN" sz="2000" i="1">
                                <a:latin typeface="Cambria Math" panose="02040503050406030204" pitchFamily="18" charset="0"/>
                                <a:cs typeface="Times New Roman" panose="02020603050405020304" pitchFamily="18" charset="0"/>
                              </a:rPr>
                              <m:t>1</m:t>
                            </m:r>
                          </m:e>
                        </m:acc>
                        <m:r>
                          <a:rPr lang="en-IN" sz="2000" i="1">
                            <a:latin typeface="Cambria Math" panose="02040503050406030204" pitchFamily="18" charset="0"/>
                            <a:cs typeface="Times New Roman" panose="02020603050405020304" pitchFamily="18" charset="0"/>
                          </a:rPr>
                          <m:t>0</m:t>
                        </m:r>
                      </m:e>
                    </m:d>
                  </m:oMath>
                </a14:m>
                <a:r>
                  <a:rPr lang="en-IN" sz="2000" dirty="0">
                    <a:latin typeface="Times New Roman" panose="02020603050405020304" pitchFamily="18" charset="0"/>
                    <a:cs typeface="Times New Roman" panose="02020603050405020304" pitchFamily="18" charset="0"/>
                  </a:rPr>
                  <a:t> and </a:t>
                </a:r>
                <a14:m>
                  <m:oMath xmlns:m="http://schemas.openxmlformats.org/officeDocument/2006/math">
                    <m:d>
                      <m:dPr>
                        <m:begChr m:val="["/>
                        <m:endChr m:val="]"/>
                        <m:ctrlPr>
                          <a:rPr lang="en-US" sz="2000" i="1">
                            <a:latin typeface="Cambria Math" panose="02040503050406030204" pitchFamily="18" charset="0"/>
                            <a:cs typeface="Times New Roman" panose="02020603050405020304" pitchFamily="18" charset="0"/>
                          </a:rPr>
                        </m:ctrlPr>
                      </m:dPr>
                      <m:e>
                        <m:r>
                          <a:rPr lang="en-IN" sz="2000" i="1">
                            <a:latin typeface="Cambria Math" panose="02040503050406030204" pitchFamily="18" charset="0"/>
                            <a:cs typeface="Times New Roman" panose="02020603050405020304" pitchFamily="18" charset="0"/>
                          </a:rPr>
                          <m:t>0</m:t>
                        </m:r>
                        <m:acc>
                          <m:accPr>
                            <m:chr m:val="̅"/>
                            <m:ctrlPr>
                              <a:rPr lang="en-US" sz="2000" i="1">
                                <a:latin typeface="Cambria Math" panose="02040503050406030204" pitchFamily="18" charset="0"/>
                                <a:cs typeface="Times New Roman" panose="02020603050405020304" pitchFamily="18" charset="0"/>
                              </a:rPr>
                            </m:ctrlPr>
                          </m:accPr>
                          <m:e>
                            <m:r>
                              <a:rPr lang="en-IN" sz="2000" i="1">
                                <a:latin typeface="Cambria Math" panose="02040503050406030204" pitchFamily="18" charset="0"/>
                                <a:cs typeface="Times New Roman" panose="02020603050405020304" pitchFamily="18" charset="0"/>
                              </a:rPr>
                              <m:t>1</m:t>
                            </m:r>
                          </m:e>
                        </m:acc>
                        <m:r>
                          <a:rPr lang="en-IN" sz="2000" i="1">
                            <a:latin typeface="Cambria Math" panose="02040503050406030204" pitchFamily="18" charset="0"/>
                            <a:cs typeface="Times New Roman" panose="02020603050405020304" pitchFamily="18" charset="0"/>
                          </a:rPr>
                          <m:t>1</m:t>
                        </m:r>
                      </m:e>
                    </m:d>
                  </m:oMath>
                </a14:m>
                <a:r>
                  <a:rPr lang="en-IN" sz="2000" dirty="0">
                    <a:latin typeface="Times New Roman" panose="02020603050405020304" pitchFamily="18" charset="0"/>
                    <a:cs typeface="Times New Roman" panose="02020603050405020304" pitchFamily="18" charset="0"/>
                  </a:rPr>
                  <a:t>.</a:t>
                </a:r>
              </a:p>
              <a:p>
                <a:pPr marL="342900" indent="-342900" algn="just">
                  <a:buFont typeface="Arial" panose="020B0604020202020204" pitchFamily="34" charset="0"/>
                  <a:buChar char="•"/>
                </a:pPr>
                <a:endParaRPr lang="en-IN"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IN" sz="2000" dirty="0">
                    <a:latin typeface="Times New Roman" panose="02020603050405020304" pitchFamily="18" charset="0"/>
                    <a:cs typeface="Times New Roman" panose="02020603050405020304" pitchFamily="18" charset="0"/>
                  </a:rPr>
                  <a:t>Derive the expression for % cold work in terms of the engineering strain </a:t>
                </a:r>
                <a:r>
                  <a:rPr lang="el-GR" sz="2000" dirty="0">
                    <a:latin typeface="Times New Roman" panose="02020603050405020304" pitchFamily="18" charset="0"/>
                    <a:cs typeface="Times New Roman" panose="02020603050405020304" pitchFamily="18" charset="0"/>
                  </a:rPr>
                  <a:t>ε</a:t>
                </a:r>
                <a:r>
                  <a:rPr lang="en-IN" sz="2000" dirty="0">
                    <a:latin typeface="Times New Roman" panose="02020603050405020304" pitchFamily="18" charset="0"/>
                    <a:cs typeface="Times New Roman" panose="02020603050405020304" pitchFamily="18" charset="0"/>
                  </a:rPr>
                  <a:t>.</a:t>
                </a:r>
              </a:p>
            </p:txBody>
          </p:sp>
        </mc:Choice>
        <mc:Fallback xmlns="">
          <p:sp>
            <p:nvSpPr>
              <p:cNvPr id="4" name="Rectangle 3"/>
              <p:cNvSpPr>
                <a:spLocks noRot="1" noChangeAspect="1" noMove="1" noResize="1" noEditPoints="1" noAdjustHandles="1" noChangeArrowheads="1" noChangeShapeType="1" noTextEdit="1"/>
              </p:cNvSpPr>
              <p:nvPr/>
            </p:nvSpPr>
            <p:spPr>
              <a:xfrm>
                <a:off x="0" y="766001"/>
                <a:ext cx="12091916" cy="4710392"/>
              </a:xfrm>
              <a:prstGeom prst="rect">
                <a:avLst/>
              </a:prstGeom>
              <a:blipFill rotWithShape="0">
                <a:blip r:embed="rId3"/>
                <a:stretch>
                  <a:fillRect l="-454" t="-777" r="-454" b="-1425"/>
                </a:stretch>
              </a:blipFill>
            </p:spPr>
            <p:txBody>
              <a:bodyPr/>
              <a:lstStyle/>
              <a:p>
                <a:r>
                  <a:rPr lang="en-IN">
                    <a:noFill/>
                  </a:rPr>
                  <a:t> </a:t>
                </a:r>
              </a:p>
            </p:txBody>
          </p:sp>
        </mc:Fallback>
      </mc:AlternateContent>
      <p:sp>
        <p:nvSpPr>
          <p:cNvPr id="5" name="TextBox 4"/>
          <p:cNvSpPr txBox="1"/>
          <p:nvPr/>
        </p:nvSpPr>
        <p:spPr>
          <a:xfrm>
            <a:off x="0" y="0"/>
            <a:ext cx="12192000" cy="523220"/>
          </a:xfrm>
          <a:prstGeom prst="rect">
            <a:avLst/>
          </a:prstGeom>
          <a:solidFill>
            <a:schemeClr val="tx2">
              <a:lumMod val="20000"/>
              <a:lumOff val="80000"/>
            </a:schemeClr>
          </a:solidFill>
        </p:spPr>
        <p:txBody>
          <a:bodyPr wrap="square" rtlCol="0">
            <a:spAutoFit/>
          </a:bodyPr>
          <a:lstStyle/>
          <a:p>
            <a:pPr algn="just"/>
            <a:r>
              <a:rPr lang="en-IN" sz="2800" dirty="0"/>
              <a:t>A Mechanism for “Strengthening Your Concepts” – Answer the following</a:t>
            </a:r>
          </a:p>
        </p:txBody>
      </p:sp>
    </p:spTree>
    <p:extLst>
      <p:ext uri="{BB962C8B-B14F-4D97-AF65-F5344CB8AC3E}">
        <p14:creationId xmlns:p14="http://schemas.microsoft.com/office/powerpoint/2010/main" val="204824670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2096</TotalTime>
  <Words>1506</Words>
  <Application>Microsoft Office PowerPoint</Application>
  <PresentationFormat>Widescreen</PresentationFormat>
  <Paragraphs>157</Paragraphs>
  <Slides>23</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Calibri Light</vt:lpstr>
      <vt:lpstr>Cambria Math</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Quality Engineering</dc:title>
  <dc:creator>Siva Prasad A V S</dc:creator>
  <cp:lastModifiedBy>jagadish151223@outlook.com</cp:lastModifiedBy>
  <cp:revision>99</cp:revision>
  <dcterms:created xsi:type="dcterms:W3CDTF">2018-09-04T10:03:30Z</dcterms:created>
  <dcterms:modified xsi:type="dcterms:W3CDTF">2024-08-20T05:41:45Z</dcterms:modified>
</cp:coreProperties>
</file>