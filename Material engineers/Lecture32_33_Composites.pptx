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7" r:id="rId3"/>
    <p:sldId id="258" r:id="rId4"/>
    <p:sldId id="259" r:id="rId5"/>
    <p:sldId id="260" r:id="rId6"/>
    <p:sldId id="261" r:id="rId7"/>
    <p:sldId id="262" r:id="rId8"/>
    <p:sldId id="263" r:id="rId9"/>
    <p:sldId id="264" r:id="rId10"/>
    <p:sldId id="265" r:id="rId11"/>
    <p:sldId id="266" r:id="rId12"/>
    <p:sldId id="267" r:id="rId13"/>
    <p:sldId id="268" r:id="rId14"/>
    <p:sldId id="270" r:id="rId15"/>
    <p:sldId id="274" r:id="rId16"/>
    <p:sldId id="286" r:id="rId17"/>
    <p:sldId id="275" r:id="rId18"/>
    <p:sldId id="278" r:id="rId19"/>
    <p:sldId id="279" r:id="rId20"/>
    <p:sldId id="280" r:id="rId21"/>
    <p:sldId id="281" r:id="rId22"/>
    <p:sldId id="282" r:id="rId23"/>
    <p:sldId id="283" r:id="rId24"/>
    <p:sldId id="272" r:id="rId25"/>
    <p:sldId id="28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B1E19-955A-456C-9E5D-553061E3F00B}" type="datetimeFigureOut">
              <a:rPr lang="en-IN" smtClean="0"/>
              <a:t>20-08-2024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BC38F-76A6-475D-9A87-1AA0B17BE2AC}" type="slidenum">
              <a:rPr lang="en-IN" smtClean="0"/>
              <a:t>‹#›</a:t>
            </a:fld>
            <a:endParaRPr lang="en-IN"/>
          </a:p>
        </p:txBody>
      </p:sp>
    </p:spTree>
    <p:extLst>
      <p:ext uri="{BB962C8B-B14F-4D97-AF65-F5344CB8AC3E}">
        <p14:creationId xmlns:p14="http://schemas.microsoft.com/office/powerpoint/2010/main" val="2570795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3</a:t>
            </a:fld>
            <a:endParaRPr lang="en-IN" dirty="0"/>
          </a:p>
        </p:txBody>
      </p:sp>
    </p:spTree>
    <p:extLst>
      <p:ext uri="{BB962C8B-B14F-4D97-AF65-F5344CB8AC3E}">
        <p14:creationId xmlns:p14="http://schemas.microsoft.com/office/powerpoint/2010/main" val="3346544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4</a:t>
            </a:fld>
            <a:endParaRPr lang="en-IN" dirty="0"/>
          </a:p>
        </p:txBody>
      </p:sp>
    </p:spTree>
    <p:extLst>
      <p:ext uri="{BB962C8B-B14F-4D97-AF65-F5344CB8AC3E}">
        <p14:creationId xmlns:p14="http://schemas.microsoft.com/office/powerpoint/2010/main" val="2670941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5</a:t>
            </a:fld>
            <a:endParaRPr lang="en-IN" dirty="0"/>
          </a:p>
        </p:txBody>
      </p:sp>
    </p:spTree>
    <p:extLst>
      <p:ext uri="{BB962C8B-B14F-4D97-AF65-F5344CB8AC3E}">
        <p14:creationId xmlns:p14="http://schemas.microsoft.com/office/powerpoint/2010/main" val="2542138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6</a:t>
            </a:fld>
            <a:endParaRPr lang="en-IN" dirty="0"/>
          </a:p>
        </p:txBody>
      </p:sp>
    </p:spTree>
    <p:extLst>
      <p:ext uri="{BB962C8B-B14F-4D97-AF65-F5344CB8AC3E}">
        <p14:creationId xmlns:p14="http://schemas.microsoft.com/office/powerpoint/2010/main" val="2510459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7</a:t>
            </a:fld>
            <a:endParaRPr lang="en-IN" dirty="0"/>
          </a:p>
        </p:txBody>
      </p:sp>
    </p:spTree>
    <p:extLst>
      <p:ext uri="{BB962C8B-B14F-4D97-AF65-F5344CB8AC3E}">
        <p14:creationId xmlns:p14="http://schemas.microsoft.com/office/powerpoint/2010/main" val="3697826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8</a:t>
            </a:fld>
            <a:endParaRPr lang="en-IN" dirty="0"/>
          </a:p>
        </p:txBody>
      </p:sp>
    </p:spTree>
    <p:extLst>
      <p:ext uri="{BB962C8B-B14F-4D97-AF65-F5344CB8AC3E}">
        <p14:creationId xmlns:p14="http://schemas.microsoft.com/office/powerpoint/2010/main" val="869980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9</a:t>
            </a:fld>
            <a:endParaRPr lang="en-IN" dirty="0"/>
          </a:p>
        </p:txBody>
      </p:sp>
    </p:spTree>
    <p:extLst>
      <p:ext uri="{BB962C8B-B14F-4D97-AF65-F5344CB8AC3E}">
        <p14:creationId xmlns:p14="http://schemas.microsoft.com/office/powerpoint/2010/main" val="1448356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10</a:t>
            </a:fld>
            <a:endParaRPr lang="en-IN" dirty="0"/>
          </a:p>
        </p:txBody>
      </p:sp>
    </p:spTree>
    <p:extLst>
      <p:ext uri="{BB962C8B-B14F-4D97-AF65-F5344CB8AC3E}">
        <p14:creationId xmlns:p14="http://schemas.microsoft.com/office/powerpoint/2010/main" val="4030197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60E4E50-9F75-4DA7-AD0F-4A53F33CAD71}" type="datetime1">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98673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8A9829-FB65-4A74-B93B-A2AC0DB3CA32}" type="datetime1">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62430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FC48FA-12EB-49D9-9A61-EBD84431EF7A}" type="datetime1">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66941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FFE4C9B-7394-44BA-BD30-2FF87C825A48}" type="datetime1">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97565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AE86D17-2118-47D8-B830-EFA5A080548D}" type="datetime1">
              <a:rPr lang="en-IN" smtClean="0"/>
              <a:t>20-08-2024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130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1DE7C01-0CB4-4708-85FC-6ABDAE56C6E9}" type="datetime1">
              <a:rPr lang="en-IN" smtClean="0"/>
              <a:t>20-08-2024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55158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8FCED3-45F8-402A-AA03-55028586046B}" type="datetime1">
              <a:rPr lang="en-IN" smtClean="0"/>
              <a:t>20-08-2024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70616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632DD-8FE3-42BF-9189-77504FF52A2E}" type="datetime1">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87176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37DCB7-B57A-4F0A-B618-78C9CD8220ED}" type="datetime1">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47991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0C19BBA-3CEC-4F9D-8CFD-0F564BA72DCF}" type="datetime1">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5583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342067-29E4-4E30-A301-5F219282EE4A}" type="datetime1">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749348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5A31BE-42BD-4507-AD17-26440FDCE293}" type="datetime1">
              <a:rPr lang="en-IN" smtClean="0"/>
              <a:t>20-08-2024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B3AEBA-54C1-46AE-B9E9-BABC12F758AA}" type="slidenum">
              <a:rPr lang="en-IN" smtClean="0"/>
              <a:t>‹#›</a:t>
            </a:fld>
            <a:endParaRPr lang="en-IN"/>
          </a:p>
        </p:txBody>
      </p:sp>
    </p:spTree>
    <p:extLst>
      <p:ext uri="{BB962C8B-B14F-4D97-AF65-F5344CB8AC3E}">
        <p14:creationId xmlns:p14="http://schemas.microsoft.com/office/powerpoint/2010/main" val="2367174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referRelativeResize="0">
            <a:picLocks noChangeAspect="1"/>
          </p:cNvPicPr>
          <p:nvPr/>
        </p:nvPicPr>
        <p:blipFill rotWithShape="1">
          <a:blip r:embed="rId2" cstate="print">
            <a:extLst>
              <a:ext uri="{28A0092B-C50C-407E-A947-70E740481C1C}">
                <a14:useLocalDpi xmlns:a14="http://schemas.microsoft.com/office/drawing/2010/main" val="0"/>
              </a:ext>
            </a:extLst>
          </a:blip>
          <a:srcRect l="6353" t="5329" r="5306" b="2876"/>
          <a:stretch/>
        </p:blipFill>
        <p:spPr>
          <a:xfrm>
            <a:off x="8707278" y="6"/>
            <a:ext cx="2700843" cy="2700843"/>
          </a:xfrm>
          <a:prstGeom prst="rect">
            <a:avLst/>
          </a:prstGeom>
        </p:spPr>
      </p:pic>
      <p:sp>
        <p:nvSpPr>
          <p:cNvPr id="7" name="Title 1"/>
          <p:cNvSpPr txBox="1">
            <a:spLocks/>
          </p:cNvSpPr>
          <p:nvPr/>
        </p:nvSpPr>
        <p:spPr>
          <a:xfrm>
            <a:off x="0" y="3053892"/>
            <a:ext cx="12192000" cy="701731"/>
          </a:xfrm>
          <a:prstGeom prst="rect">
            <a:avLst/>
          </a:prstGeom>
          <a:solidFill>
            <a:schemeClr val="tx2">
              <a:lumMod val="20000"/>
              <a:lumOff val="80000"/>
            </a:schemeClr>
          </a:solidFill>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400" dirty="0">
                <a:latin typeface="+mn-lt"/>
                <a:ea typeface="+mn-ea"/>
                <a:cs typeface="+mn-cs"/>
              </a:rPr>
              <a:t>Composites</a:t>
            </a:r>
          </a:p>
        </p:txBody>
      </p:sp>
      <p:sp>
        <p:nvSpPr>
          <p:cNvPr id="8" name="Subtitle 2"/>
          <p:cNvSpPr txBox="1">
            <a:spLocks/>
          </p:cNvSpPr>
          <p:nvPr/>
        </p:nvSpPr>
        <p:spPr>
          <a:xfrm>
            <a:off x="1387522" y="4121624"/>
            <a:ext cx="9144000" cy="1450074"/>
          </a:xfrm>
          <a:prstGeom prst="rect">
            <a:avLst/>
          </a:prstGeom>
        </p:spPr>
        <p:txBody>
          <a:bodyPr vert="horz" lIns="91440" tIns="45720" rIns="91440" bIns="45720" rtlCol="0" anchor="ctr">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b="1" dirty="0"/>
              <a:t> </a:t>
            </a:r>
          </a:p>
          <a:p>
            <a:r>
              <a:rPr lang="en-IN" b="1" dirty="0"/>
              <a:t> </a:t>
            </a:r>
          </a:p>
          <a:p>
            <a:r>
              <a:rPr lang="en-IN" b="1" dirty="0" err="1"/>
              <a:t>Dr.</a:t>
            </a:r>
            <a:r>
              <a:rPr lang="en-IN" b="1" dirty="0"/>
              <a:t> J. </a:t>
            </a:r>
            <a:r>
              <a:rPr lang="en-IN" b="1" dirty="0" err="1"/>
              <a:t>Venkatramani</a:t>
            </a:r>
            <a:endParaRPr lang="en-IN" b="1" dirty="0"/>
          </a:p>
          <a:p>
            <a:r>
              <a:rPr lang="en-IN" b="1" dirty="0"/>
              <a:t>219-B</a:t>
            </a:r>
          </a:p>
          <a:p>
            <a:r>
              <a:rPr lang="en-IN" b="1"/>
              <a:t>venkatramani@iiitdm.ac.in</a:t>
            </a:r>
          </a:p>
          <a:p>
            <a:endParaRPr lang="en-IN" b="1" dirty="0"/>
          </a:p>
        </p:txBody>
      </p:sp>
    </p:spTree>
    <p:extLst>
      <p:ext uri="{BB962C8B-B14F-4D97-AF65-F5344CB8AC3E}">
        <p14:creationId xmlns:p14="http://schemas.microsoft.com/office/powerpoint/2010/main" val="188759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19368" y="21125"/>
            <a:ext cx="9307772" cy="6782597"/>
          </a:xfrm>
          <a:prstGeom prst="rect">
            <a:avLst/>
          </a:prstGeom>
        </p:spPr>
      </p:pic>
    </p:spTree>
    <p:extLst>
      <p:ext uri="{BB962C8B-B14F-4D97-AF65-F5344CB8AC3E}">
        <p14:creationId xmlns:p14="http://schemas.microsoft.com/office/powerpoint/2010/main" val="3235756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3</a:t>
            </a:fld>
            <a:endParaRPr lang="en-IN" dirty="0"/>
          </a:p>
        </p:txBody>
      </p:sp>
      <p:sp>
        <p:nvSpPr>
          <p:cNvPr id="7" name="TextBox 6"/>
          <p:cNvSpPr txBox="1"/>
          <p:nvPr/>
        </p:nvSpPr>
        <p:spPr>
          <a:xfrm>
            <a:off x="125135" y="545461"/>
            <a:ext cx="7357490" cy="1938992"/>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What is a composite? A multi – phase material?</a:t>
            </a:r>
          </a:p>
          <a:p>
            <a:pPr algn="just"/>
            <a:r>
              <a:rPr lang="en-IN" sz="2000" dirty="0">
                <a:solidFill>
                  <a:srgbClr val="FF0000"/>
                </a:solidFill>
                <a:latin typeface="Times New Roman" panose="02020603050405020304" pitchFamily="18" charset="0"/>
                <a:cs typeface="Times New Roman" panose="02020603050405020304" pitchFamily="18" charset="0"/>
              </a:rPr>
              <a:t>ANS: True</a:t>
            </a:r>
          </a:p>
          <a:p>
            <a:pPr algn="just"/>
            <a:endParaRPr lang="en-IN" sz="2000" dirty="0">
              <a:solidFill>
                <a:srgbClr val="FF0000"/>
              </a:solidFill>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How is it different from a two – phase (or multi – phase) alloy?</a:t>
            </a:r>
          </a:p>
          <a:p>
            <a:pPr algn="just"/>
            <a:r>
              <a:rPr lang="en-IN" sz="2000" dirty="0">
                <a:solidFill>
                  <a:srgbClr val="FF0000"/>
                </a:solidFill>
                <a:latin typeface="Times New Roman" panose="02020603050405020304" pitchFamily="18" charset="0"/>
                <a:cs typeface="Times New Roman" panose="02020603050405020304" pitchFamily="18" charset="0"/>
              </a:rPr>
              <a:t>ANS: Multiphase alloys form naturally; their composition is decided by the phase diagram. Secondly, they are of same chemical form.</a:t>
            </a:r>
          </a:p>
        </p:txBody>
      </p:sp>
      <p:pic>
        <p:nvPicPr>
          <p:cNvPr id="2" name="Picture 1"/>
          <p:cNvPicPr>
            <a:picLocks noChangeAspect="1"/>
          </p:cNvPicPr>
          <p:nvPr/>
        </p:nvPicPr>
        <p:blipFill>
          <a:blip r:embed="rId3"/>
          <a:stretch>
            <a:fillRect/>
          </a:stretch>
        </p:blipFill>
        <p:spPr>
          <a:xfrm>
            <a:off x="7598143" y="0"/>
            <a:ext cx="4593857" cy="3177700"/>
          </a:xfrm>
          <a:prstGeom prst="rect">
            <a:avLst/>
          </a:prstGeom>
        </p:spPr>
      </p:pic>
      <p:pic>
        <p:nvPicPr>
          <p:cNvPr id="6" name="Picture 5"/>
          <p:cNvPicPr>
            <a:picLocks noChangeAspect="1"/>
          </p:cNvPicPr>
          <p:nvPr/>
        </p:nvPicPr>
        <p:blipFill>
          <a:blip r:embed="rId4"/>
          <a:stretch>
            <a:fillRect/>
          </a:stretch>
        </p:blipFill>
        <p:spPr>
          <a:xfrm>
            <a:off x="508449" y="2575775"/>
            <a:ext cx="7723693" cy="4145700"/>
          </a:xfrm>
          <a:prstGeom prst="rect">
            <a:avLst/>
          </a:prstGeom>
        </p:spPr>
      </p:pic>
    </p:spTree>
    <p:extLst>
      <p:ext uri="{BB962C8B-B14F-4D97-AF65-F5344CB8AC3E}">
        <p14:creationId xmlns:p14="http://schemas.microsoft.com/office/powerpoint/2010/main" val="1839670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Particle–Reinforced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4</a:t>
            </a:fld>
            <a:endParaRPr lang="en-IN" dirty="0"/>
          </a:p>
        </p:txBody>
      </p:sp>
      <p:sp>
        <p:nvSpPr>
          <p:cNvPr id="7" name="TextBox 6"/>
          <p:cNvSpPr txBox="1"/>
          <p:nvPr/>
        </p:nvSpPr>
        <p:spPr>
          <a:xfrm>
            <a:off x="125135" y="523220"/>
            <a:ext cx="7357490" cy="707886"/>
          </a:xfrm>
          <a:prstGeom prst="rect">
            <a:avLst/>
          </a:prstGeom>
          <a:noFill/>
        </p:spPr>
        <p:txBody>
          <a:bodyPr wrap="square" rtlCol="0">
            <a:spAutoFit/>
          </a:bodyPr>
          <a:lstStyle/>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Large – particle </a:t>
            </a:r>
            <a:r>
              <a:rPr lang="en-IN" sz="2000" dirty="0">
                <a:latin typeface="Times New Roman" panose="02020603050405020304" pitchFamily="18" charset="0"/>
                <a:cs typeface="Times New Roman" panose="02020603050405020304" pitchFamily="18" charset="0"/>
              </a:rPr>
              <a:t>and</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Dispersion – strengthened </a:t>
            </a:r>
          </a:p>
        </p:txBody>
      </p:sp>
      <p:sp>
        <p:nvSpPr>
          <p:cNvPr id="8" name="TextBox 7"/>
          <p:cNvSpPr txBox="1"/>
          <p:nvPr/>
        </p:nvSpPr>
        <p:spPr>
          <a:xfrm>
            <a:off x="120327" y="1588850"/>
            <a:ext cx="4206974" cy="132343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Concrete – cement as matrix, sand and gravel as particulates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Polymer composites </a:t>
            </a:r>
          </a:p>
        </p:txBody>
      </p:sp>
      <p:pic>
        <p:nvPicPr>
          <p:cNvPr id="5" name="Picture 4"/>
          <p:cNvPicPr>
            <a:picLocks noChangeAspect="1"/>
          </p:cNvPicPr>
          <p:nvPr/>
        </p:nvPicPr>
        <p:blipFill>
          <a:blip r:embed="rId3"/>
          <a:stretch>
            <a:fillRect/>
          </a:stretch>
        </p:blipFill>
        <p:spPr>
          <a:xfrm>
            <a:off x="6099181" y="590019"/>
            <a:ext cx="5913778" cy="4149406"/>
          </a:xfrm>
          <a:prstGeom prst="rect">
            <a:avLst/>
          </a:prstGeom>
        </p:spPr>
      </p:pic>
      <p:pic>
        <p:nvPicPr>
          <p:cNvPr id="9" name="Picture 8"/>
          <p:cNvPicPr>
            <a:picLocks noChangeAspect="1"/>
          </p:cNvPicPr>
          <p:nvPr/>
        </p:nvPicPr>
        <p:blipFill>
          <a:blip r:embed="rId4"/>
          <a:stretch>
            <a:fillRect/>
          </a:stretch>
        </p:blipFill>
        <p:spPr>
          <a:xfrm>
            <a:off x="457442" y="3362273"/>
            <a:ext cx="3170533" cy="1023610"/>
          </a:xfrm>
          <a:prstGeom prst="rect">
            <a:avLst/>
          </a:prstGeom>
        </p:spPr>
      </p:pic>
      <p:pic>
        <p:nvPicPr>
          <p:cNvPr id="10" name="Picture 9"/>
          <p:cNvPicPr>
            <a:picLocks noChangeAspect="1"/>
          </p:cNvPicPr>
          <p:nvPr/>
        </p:nvPicPr>
        <p:blipFill>
          <a:blip r:embed="rId5"/>
          <a:stretch>
            <a:fillRect/>
          </a:stretch>
        </p:blipFill>
        <p:spPr>
          <a:xfrm>
            <a:off x="457442" y="4835867"/>
            <a:ext cx="3061412" cy="599018"/>
          </a:xfrm>
          <a:prstGeom prst="rect">
            <a:avLst/>
          </a:prstGeom>
        </p:spPr>
      </p:pic>
      <p:sp>
        <p:nvSpPr>
          <p:cNvPr id="11" name="TextBox 10"/>
          <p:cNvSpPr txBox="1"/>
          <p:nvPr/>
        </p:nvSpPr>
        <p:spPr>
          <a:xfrm>
            <a:off x="7635162" y="4835867"/>
            <a:ext cx="2841815"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Tungsten particles in Cu</a:t>
            </a:r>
          </a:p>
        </p:txBody>
      </p:sp>
    </p:spTree>
    <p:extLst>
      <p:ext uri="{BB962C8B-B14F-4D97-AF65-F5344CB8AC3E}">
        <p14:creationId xmlns:p14="http://schemas.microsoft.com/office/powerpoint/2010/main" val="2300895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Particle–Reinforced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5</a:t>
            </a:fld>
            <a:endParaRPr lang="en-IN" dirty="0"/>
          </a:p>
        </p:txBody>
      </p:sp>
      <p:sp>
        <p:nvSpPr>
          <p:cNvPr id="11" name="TextBox 10"/>
          <p:cNvSpPr txBox="1"/>
          <p:nvPr/>
        </p:nvSpPr>
        <p:spPr>
          <a:xfrm>
            <a:off x="7044744" y="4049472"/>
            <a:ext cx="3680166"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Tungsten Carbide–Co composite</a:t>
            </a:r>
          </a:p>
        </p:txBody>
      </p:sp>
      <p:pic>
        <p:nvPicPr>
          <p:cNvPr id="2" name="Picture 1"/>
          <p:cNvPicPr>
            <a:picLocks noChangeAspect="1"/>
          </p:cNvPicPr>
          <p:nvPr/>
        </p:nvPicPr>
        <p:blipFill>
          <a:blip r:embed="rId3"/>
          <a:stretch>
            <a:fillRect/>
          </a:stretch>
        </p:blipFill>
        <p:spPr>
          <a:xfrm>
            <a:off x="7153111" y="539284"/>
            <a:ext cx="3082401" cy="3510188"/>
          </a:xfrm>
          <a:prstGeom prst="rect">
            <a:avLst/>
          </a:prstGeom>
        </p:spPr>
      </p:pic>
      <p:pic>
        <p:nvPicPr>
          <p:cNvPr id="6" name="Picture 5"/>
          <p:cNvPicPr>
            <a:picLocks noChangeAspect="1"/>
          </p:cNvPicPr>
          <p:nvPr/>
        </p:nvPicPr>
        <p:blipFill>
          <a:blip r:embed="rId4"/>
          <a:stretch>
            <a:fillRect/>
          </a:stretch>
        </p:blipFill>
        <p:spPr>
          <a:xfrm>
            <a:off x="1361507" y="539284"/>
            <a:ext cx="2973611" cy="3546375"/>
          </a:xfrm>
          <a:prstGeom prst="rect">
            <a:avLst/>
          </a:prstGeom>
        </p:spPr>
      </p:pic>
      <p:sp>
        <p:nvSpPr>
          <p:cNvPr id="12" name="TextBox 11"/>
          <p:cNvSpPr txBox="1"/>
          <p:nvPr/>
        </p:nvSpPr>
        <p:spPr>
          <a:xfrm>
            <a:off x="1108245" y="4249527"/>
            <a:ext cx="3680166"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Carbon black in synthetic rubber</a:t>
            </a:r>
          </a:p>
        </p:txBody>
      </p:sp>
      <p:sp>
        <p:nvSpPr>
          <p:cNvPr id="8" name="TextBox 7"/>
          <p:cNvSpPr txBox="1"/>
          <p:nvPr/>
        </p:nvSpPr>
        <p:spPr>
          <a:xfrm>
            <a:off x="0" y="4813505"/>
            <a:ext cx="12036792" cy="132343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Other large particle reinforced composites are concrete – Portland cement concrete, reinforced concrete</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Asphaltic concrete is used for pavements. Portland cement concrete is used for buildings.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Reinforced concrete involves additional reinforcement in the form of steel wires, rods, bars within the uncured concrete.</a:t>
            </a:r>
          </a:p>
        </p:txBody>
      </p:sp>
    </p:spTree>
    <p:extLst>
      <p:ext uri="{BB962C8B-B14F-4D97-AF65-F5344CB8AC3E}">
        <p14:creationId xmlns:p14="http://schemas.microsoft.com/office/powerpoint/2010/main" val="282955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Dispersion Strengthened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6</a:t>
            </a:fld>
            <a:endParaRPr lang="en-IN" dirty="0"/>
          </a:p>
        </p:txBody>
      </p:sp>
      <p:sp>
        <p:nvSpPr>
          <p:cNvPr id="8" name="TextBox 7"/>
          <p:cNvSpPr txBox="1"/>
          <p:nvPr/>
        </p:nvSpPr>
        <p:spPr>
          <a:xfrm>
            <a:off x="0" y="523220"/>
            <a:ext cx="12093262" cy="3477875"/>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Metals and metal alloys are reinforced with very fine particles of either metallic or non – metallic materials.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strengthening mechanism is same as that of precipitation and solid solution strengthening.</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strengthening capability, although is lesser for these composites compared to precipitation hardened alloys, the composites can retain their property even at higher temperatures. This is because the reinforcing particles are chosen to be reactive with matrix and does not cause any heat treatment.</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Examples: </a:t>
            </a:r>
            <a:r>
              <a:rPr lang="en-IN" sz="2000" dirty="0" err="1">
                <a:latin typeface="Times New Roman" panose="02020603050405020304" pitchFamily="18" charset="0"/>
                <a:cs typeface="Times New Roman" panose="02020603050405020304" pitchFamily="18" charset="0"/>
              </a:rPr>
              <a:t>Thoria</a:t>
            </a:r>
            <a:r>
              <a:rPr lang="en-IN" sz="2000" dirty="0">
                <a:latin typeface="Times New Roman" panose="02020603050405020304" pitchFamily="18" charset="0"/>
                <a:cs typeface="Times New Roman" panose="02020603050405020304" pitchFamily="18" charset="0"/>
              </a:rPr>
              <a:t> (ThO</a:t>
            </a:r>
            <a:r>
              <a:rPr lang="en-IN" sz="2000" baseline="-25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 dispersed Nickel; Al – Al</a:t>
            </a:r>
            <a:r>
              <a:rPr lang="en-IN" sz="2000" baseline="-25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O</a:t>
            </a:r>
            <a:r>
              <a:rPr lang="en-IN" sz="2000" baseline="-25000"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system</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Normal synthesis routes – friction stir welding, stir casting, novel additive manufacturing techniques</a:t>
            </a:r>
          </a:p>
        </p:txBody>
      </p:sp>
    </p:spTree>
    <p:extLst>
      <p:ext uri="{BB962C8B-B14F-4D97-AF65-F5344CB8AC3E}">
        <p14:creationId xmlns:p14="http://schemas.microsoft.com/office/powerpoint/2010/main" val="1806522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Fibre Reinforced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7</a:t>
            </a:fld>
            <a:endParaRPr lang="en-IN" dirty="0"/>
          </a:p>
        </p:txBody>
      </p:sp>
      <p:sp>
        <p:nvSpPr>
          <p:cNvPr id="8" name="TextBox 7"/>
          <p:cNvSpPr txBox="1"/>
          <p:nvPr/>
        </p:nvSpPr>
        <p:spPr>
          <a:xfrm>
            <a:off x="25758" y="523220"/>
            <a:ext cx="12093262" cy="1631216"/>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Classified based on fibre length.</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Characterized using strength per unit weight and/or stiffness per unit weight–specific strength, specific stiffness.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Critical length of the fibre for load transmittance.</a:t>
            </a:r>
          </a:p>
        </p:txBody>
      </p:sp>
      <p:pic>
        <p:nvPicPr>
          <p:cNvPr id="2" name="Picture 1"/>
          <p:cNvPicPr>
            <a:picLocks noChangeAspect="1"/>
          </p:cNvPicPr>
          <p:nvPr/>
        </p:nvPicPr>
        <p:blipFill>
          <a:blip r:embed="rId3"/>
          <a:stretch>
            <a:fillRect/>
          </a:stretch>
        </p:blipFill>
        <p:spPr>
          <a:xfrm>
            <a:off x="1047827" y="2968933"/>
            <a:ext cx="1664555" cy="1113669"/>
          </a:xfrm>
          <a:prstGeom prst="rect">
            <a:avLst/>
          </a:prstGeom>
        </p:spPr>
      </p:pic>
      <p:pic>
        <p:nvPicPr>
          <p:cNvPr id="5" name="Picture 4"/>
          <p:cNvPicPr>
            <a:picLocks noChangeAspect="1"/>
          </p:cNvPicPr>
          <p:nvPr/>
        </p:nvPicPr>
        <p:blipFill>
          <a:blip r:embed="rId4"/>
          <a:stretch>
            <a:fillRect/>
          </a:stretch>
        </p:blipFill>
        <p:spPr>
          <a:xfrm>
            <a:off x="5325566" y="2154436"/>
            <a:ext cx="6793454" cy="2675266"/>
          </a:xfrm>
          <a:prstGeom prst="rect">
            <a:avLst/>
          </a:prstGeom>
        </p:spPr>
      </p:pic>
      <p:sp>
        <p:nvSpPr>
          <p:cNvPr id="7" name="TextBox 6"/>
          <p:cNvSpPr txBox="1"/>
          <p:nvPr/>
        </p:nvSpPr>
        <p:spPr>
          <a:xfrm>
            <a:off x="193183" y="4828591"/>
            <a:ext cx="10006885" cy="400110"/>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Critical fibre length in Glass and fibre reinforced composites is about 1 mm.</a:t>
            </a:r>
          </a:p>
        </p:txBody>
      </p:sp>
    </p:spTree>
    <p:extLst>
      <p:ext uri="{BB962C8B-B14F-4D97-AF65-F5344CB8AC3E}">
        <p14:creationId xmlns:p14="http://schemas.microsoft.com/office/powerpoint/2010/main" val="3507529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Fibre Reinforced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8</a:t>
            </a:fld>
            <a:endParaRPr lang="en-IN" dirty="0"/>
          </a:p>
        </p:txBody>
      </p:sp>
      <p:sp>
        <p:nvSpPr>
          <p:cNvPr id="7" name="TextBox 6"/>
          <p:cNvSpPr txBox="1"/>
          <p:nvPr/>
        </p:nvSpPr>
        <p:spPr>
          <a:xfrm>
            <a:off x="193183" y="3854172"/>
            <a:ext cx="3606084"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Stress distribution along a fibre of length </a:t>
            </a:r>
            <a:r>
              <a:rPr lang="en-IN" sz="2000" i="1" dirty="0">
                <a:latin typeface="Times New Roman" panose="02020603050405020304" pitchFamily="18" charset="0"/>
                <a:cs typeface="Times New Roman" panose="02020603050405020304" pitchFamily="18" charset="0"/>
              </a:rPr>
              <a:t>l</a:t>
            </a:r>
            <a:r>
              <a:rPr lang="en-IN" sz="2000" dirty="0">
                <a:latin typeface="Times New Roman" panose="02020603050405020304" pitchFamily="18" charset="0"/>
                <a:cs typeface="Times New Roman" panose="02020603050405020304" pitchFamily="18" charset="0"/>
              </a:rPr>
              <a:t> = </a:t>
            </a:r>
            <a:r>
              <a:rPr lang="en-IN" sz="2000" i="1" dirty="0" err="1">
                <a:latin typeface="Times New Roman" panose="02020603050405020304" pitchFamily="18" charset="0"/>
                <a:cs typeface="Times New Roman" panose="02020603050405020304" pitchFamily="18" charset="0"/>
              </a:rPr>
              <a:t>l</a:t>
            </a:r>
            <a:r>
              <a:rPr lang="en-IN" sz="2000" baseline="-25000" dirty="0" err="1">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a:t>
            </a:r>
          </a:p>
        </p:txBody>
      </p:sp>
      <p:pic>
        <p:nvPicPr>
          <p:cNvPr id="6" name="Picture 5"/>
          <p:cNvPicPr>
            <a:picLocks noChangeAspect="1"/>
          </p:cNvPicPr>
          <p:nvPr/>
        </p:nvPicPr>
        <p:blipFill>
          <a:blip r:embed="rId3"/>
          <a:stretch>
            <a:fillRect/>
          </a:stretch>
        </p:blipFill>
        <p:spPr>
          <a:xfrm>
            <a:off x="193183" y="523220"/>
            <a:ext cx="2962141" cy="2969365"/>
          </a:xfrm>
          <a:prstGeom prst="rect">
            <a:avLst/>
          </a:prstGeom>
        </p:spPr>
      </p:pic>
      <p:pic>
        <p:nvPicPr>
          <p:cNvPr id="9" name="Picture 8"/>
          <p:cNvPicPr>
            <a:picLocks noChangeAspect="1"/>
          </p:cNvPicPr>
          <p:nvPr/>
        </p:nvPicPr>
        <p:blipFill>
          <a:blip r:embed="rId4"/>
          <a:stretch>
            <a:fillRect/>
          </a:stretch>
        </p:blipFill>
        <p:spPr>
          <a:xfrm>
            <a:off x="3926614" y="723027"/>
            <a:ext cx="3989580" cy="2561086"/>
          </a:xfrm>
          <a:prstGeom prst="rect">
            <a:avLst/>
          </a:prstGeom>
        </p:spPr>
      </p:pic>
      <p:sp>
        <p:nvSpPr>
          <p:cNvPr id="10" name="TextBox 9"/>
          <p:cNvSpPr txBox="1"/>
          <p:nvPr/>
        </p:nvSpPr>
        <p:spPr>
          <a:xfrm>
            <a:off x="4486140" y="3390533"/>
            <a:ext cx="3606084"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Stress distribution along a fibre of length </a:t>
            </a:r>
            <a:r>
              <a:rPr lang="en-IN" sz="2000" i="1" dirty="0">
                <a:latin typeface="Times New Roman" panose="02020603050405020304" pitchFamily="18" charset="0"/>
                <a:cs typeface="Times New Roman" panose="02020603050405020304" pitchFamily="18" charset="0"/>
              </a:rPr>
              <a:t>l</a:t>
            </a:r>
            <a:r>
              <a:rPr lang="en-IN" sz="2000" dirty="0">
                <a:latin typeface="Times New Roman" panose="02020603050405020304" pitchFamily="18" charset="0"/>
                <a:cs typeface="Times New Roman" panose="02020603050405020304" pitchFamily="18" charset="0"/>
              </a:rPr>
              <a:t> &gt; </a:t>
            </a:r>
            <a:r>
              <a:rPr lang="en-IN" sz="2000" i="1" dirty="0" err="1">
                <a:latin typeface="Times New Roman" panose="02020603050405020304" pitchFamily="18" charset="0"/>
                <a:cs typeface="Times New Roman" panose="02020603050405020304" pitchFamily="18" charset="0"/>
              </a:rPr>
              <a:t>l</a:t>
            </a:r>
            <a:r>
              <a:rPr lang="en-IN" sz="2000" baseline="-25000" dirty="0" err="1">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a:t>
            </a:r>
          </a:p>
        </p:txBody>
      </p:sp>
      <p:pic>
        <p:nvPicPr>
          <p:cNvPr id="11" name="Picture 10"/>
          <p:cNvPicPr>
            <a:picLocks noChangeAspect="1"/>
          </p:cNvPicPr>
          <p:nvPr/>
        </p:nvPicPr>
        <p:blipFill>
          <a:blip r:embed="rId5"/>
          <a:stretch>
            <a:fillRect/>
          </a:stretch>
        </p:blipFill>
        <p:spPr>
          <a:xfrm>
            <a:off x="8958199" y="723027"/>
            <a:ext cx="2546235" cy="2382089"/>
          </a:xfrm>
          <a:prstGeom prst="rect">
            <a:avLst/>
          </a:prstGeom>
        </p:spPr>
      </p:pic>
      <p:sp>
        <p:nvSpPr>
          <p:cNvPr id="12" name="TextBox 11"/>
          <p:cNvSpPr txBox="1"/>
          <p:nvPr/>
        </p:nvSpPr>
        <p:spPr>
          <a:xfrm>
            <a:off x="8585916" y="3390533"/>
            <a:ext cx="3606084"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Stress distribution along a fibre of length </a:t>
            </a:r>
            <a:r>
              <a:rPr lang="en-IN" sz="2000" i="1" dirty="0">
                <a:latin typeface="Times New Roman" panose="02020603050405020304" pitchFamily="18" charset="0"/>
                <a:cs typeface="Times New Roman" panose="02020603050405020304" pitchFamily="18" charset="0"/>
              </a:rPr>
              <a:t>l</a:t>
            </a:r>
            <a:r>
              <a:rPr lang="en-IN" sz="2000" dirty="0">
                <a:latin typeface="Times New Roman" panose="02020603050405020304" pitchFamily="18" charset="0"/>
                <a:cs typeface="Times New Roman" panose="02020603050405020304" pitchFamily="18" charset="0"/>
              </a:rPr>
              <a:t> &lt; </a:t>
            </a:r>
            <a:r>
              <a:rPr lang="en-IN" sz="2000" i="1" dirty="0" err="1">
                <a:latin typeface="Times New Roman" panose="02020603050405020304" pitchFamily="18" charset="0"/>
                <a:cs typeface="Times New Roman" panose="02020603050405020304" pitchFamily="18" charset="0"/>
              </a:rPr>
              <a:t>l</a:t>
            </a:r>
            <a:r>
              <a:rPr lang="en-IN" sz="2000" baseline="-25000" dirty="0" err="1">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a:t>
            </a:r>
          </a:p>
        </p:txBody>
      </p:sp>
      <p:sp>
        <p:nvSpPr>
          <p:cNvPr id="13" name="Rectangle 12"/>
          <p:cNvSpPr/>
          <p:nvPr/>
        </p:nvSpPr>
        <p:spPr>
          <a:xfrm>
            <a:off x="0" y="4875518"/>
            <a:ext cx="12192000" cy="707886"/>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Fibres of length </a:t>
            </a:r>
            <a:r>
              <a:rPr lang="en-IN" sz="2000" i="1" dirty="0">
                <a:latin typeface="Times New Roman" panose="02020603050405020304" pitchFamily="18" charset="0"/>
                <a:cs typeface="Times New Roman" panose="02020603050405020304" pitchFamily="18" charset="0"/>
              </a:rPr>
              <a:t>l &gt; </a:t>
            </a:r>
            <a:r>
              <a:rPr lang="en-IN" sz="2000" dirty="0">
                <a:latin typeface="Times New Roman" panose="02020603050405020304" pitchFamily="18" charset="0"/>
                <a:cs typeface="Times New Roman" panose="02020603050405020304" pitchFamily="18" charset="0"/>
              </a:rPr>
              <a:t>15</a:t>
            </a:r>
            <a:r>
              <a:rPr lang="en-IN" sz="2000" i="1" dirty="0">
                <a:latin typeface="Times New Roman" panose="02020603050405020304" pitchFamily="18" charset="0"/>
                <a:cs typeface="Times New Roman" panose="02020603050405020304" pitchFamily="18" charset="0"/>
              </a:rPr>
              <a:t>l</a:t>
            </a:r>
            <a:r>
              <a:rPr lang="en-IN" sz="2000" baseline="-25000"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are called continuous. Discontinuous and short fibres are the ones whose lengths are shorter than this.</a:t>
            </a:r>
          </a:p>
        </p:txBody>
      </p:sp>
    </p:spTree>
    <p:extLst>
      <p:ext uri="{BB962C8B-B14F-4D97-AF65-F5344CB8AC3E}">
        <p14:creationId xmlns:p14="http://schemas.microsoft.com/office/powerpoint/2010/main" val="1837504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Fibre Reinforced Composites</a:t>
            </a:r>
          </a:p>
        </p:txBody>
      </p:sp>
      <p:sp>
        <p:nvSpPr>
          <p:cNvPr id="3" name="Slide Number Placeholder 2"/>
          <p:cNvSpPr>
            <a:spLocks noGrp="1"/>
          </p:cNvSpPr>
          <p:nvPr>
            <p:ph type="sldNum" sz="quarter" idx="12"/>
          </p:nvPr>
        </p:nvSpPr>
        <p:spPr/>
        <p:txBody>
          <a:bodyPr/>
          <a:lstStyle/>
          <a:p>
            <a:fld id="{11B3AEBA-54C1-46AE-B9E9-BABC12F758AA}" type="slidenum">
              <a:rPr lang="en-IN" smtClean="0"/>
              <a:t>9</a:t>
            </a:fld>
            <a:endParaRPr lang="en-IN" dirty="0"/>
          </a:p>
        </p:txBody>
      </p:sp>
      <p:sp>
        <p:nvSpPr>
          <p:cNvPr id="7" name="TextBox 6"/>
          <p:cNvSpPr txBox="1"/>
          <p:nvPr/>
        </p:nvSpPr>
        <p:spPr>
          <a:xfrm>
            <a:off x="141666" y="523220"/>
            <a:ext cx="11951595" cy="1015663"/>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Another important factor that governs the strength of a fibre reinforced composite is the fibre orientation.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Continuous fibres are normally aligned. Short fibres can be random or aligned.</a:t>
            </a:r>
          </a:p>
        </p:txBody>
      </p:sp>
      <p:pic>
        <p:nvPicPr>
          <p:cNvPr id="2" name="Picture 1"/>
          <p:cNvPicPr>
            <a:picLocks noChangeAspect="1"/>
          </p:cNvPicPr>
          <p:nvPr/>
        </p:nvPicPr>
        <p:blipFill>
          <a:blip r:embed="rId3"/>
          <a:stretch>
            <a:fillRect/>
          </a:stretch>
        </p:blipFill>
        <p:spPr>
          <a:xfrm>
            <a:off x="482750" y="1538883"/>
            <a:ext cx="2602308" cy="4492553"/>
          </a:xfrm>
          <a:prstGeom prst="rect">
            <a:avLst/>
          </a:prstGeom>
        </p:spPr>
      </p:pic>
      <p:pic>
        <p:nvPicPr>
          <p:cNvPr id="5" name="Picture 4"/>
          <p:cNvPicPr>
            <a:picLocks noChangeAspect="1"/>
          </p:cNvPicPr>
          <p:nvPr/>
        </p:nvPicPr>
        <p:blipFill>
          <a:blip r:embed="rId4"/>
          <a:stretch>
            <a:fillRect/>
          </a:stretch>
        </p:blipFill>
        <p:spPr>
          <a:xfrm>
            <a:off x="4835123" y="2843478"/>
            <a:ext cx="1608606" cy="3223844"/>
          </a:xfrm>
          <a:prstGeom prst="rect">
            <a:avLst/>
          </a:prstGeom>
        </p:spPr>
      </p:pic>
      <p:pic>
        <p:nvPicPr>
          <p:cNvPr id="8" name="Picture 7"/>
          <p:cNvPicPr>
            <a:picLocks noChangeAspect="1"/>
          </p:cNvPicPr>
          <p:nvPr/>
        </p:nvPicPr>
        <p:blipFill>
          <a:blip r:embed="rId5"/>
          <a:stretch>
            <a:fillRect/>
          </a:stretch>
        </p:blipFill>
        <p:spPr>
          <a:xfrm>
            <a:off x="8666408" y="2807592"/>
            <a:ext cx="1572296" cy="3259730"/>
          </a:xfrm>
          <a:prstGeom prst="rect">
            <a:avLst/>
          </a:prstGeom>
        </p:spPr>
      </p:pic>
      <p:sp>
        <p:nvSpPr>
          <p:cNvPr id="13" name="TextBox 12"/>
          <p:cNvSpPr txBox="1"/>
          <p:nvPr/>
        </p:nvSpPr>
        <p:spPr>
          <a:xfrm>
            <a:off x="286481" y="5956240"/>
            <a:ext cx="216050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Long fibre aligned arrangement</a:t>
            </a:r>
          </a:p>
        </p:txBody>
      </p:sp>
      <p:sp>
        <p:nvSpPr>
          <p:cNvPr id="14" name="TextBox 13"/>
          <p:cNvSpPr txBox="1"/>
          <p:nvPr/>
        </p:nvSpPr>
        <p:spPr>
          <a:xfrm>
            <a:off x="4559173" y="5956240"/>
            <a:ext cx="216050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Short fibre aligned arrangement</a:t>
            </a:r>
          </a:p>
        </p:txBody>
      </p:sp>
      <p:sp>
        <p:nvSpPr>
          <p:cNvPr id="15" name="TextBox 14"/>
          <p:cNvSpPr txBox="1"/>
          <p:nvPr/>
        </p:nvSpPr>
        <p:spPr>
          <a:xfrm>
            <a:off x="8331557" y="5956240"/>
            <a:ext cx="216050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Short fibre random arrangement</a:t>
            </a:r>
          </a:p>
        </p:txBody>
      </p:sp>
    </p:spTree>
    <p:extLst>
      <p:ext uri="{BB962C8B-B14F-4D97-AF65-F5344CB8AC3E}">
        <p14:creationId xmlns:p14="http://schemas.microsoft.com/office/powerpoint/2010/main" val="170066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Mechanical Response of Continuous fibre composite</a:t>
            </a:r>
          </a:p>
        </p:txBody>
      </p:sp>
      <p:sp>
        <p:nvSpPr>
          <p:cNvPr id="3" name="Slide Number Placeholder 2"/>
          <p:cNvSpPr>
            <a:spLocks noGrp="1"/>
          </p:cNvSpPr>
          <p:nvPr>
            <p:ph type="sldNum" sz="quarter" idx="12"/>
          </p:nvPr>
        </p:nvSpPr>
        <p:spPr/>
        <p:txBody>
          <a:bodyPr/>
          <a:lstStyle/>
          <a:p>
            <a:fld id="{11B3AEBA-54C1-46AE-B9E9-BABC12F758AA}" type="slidenum">
              <a:rPr lang="en-IN" smtClean="0"/>
              <a:t>10</a:t>
            </a:fld>
            <a:endParaRPr lang="en-IN" dirty="0"/>
          </a:p>
        </p:txBody>
      </p:sp>
      <p:pic>
        <p:nvPicPr>
          <p:cNvPr id="6" name="Picture 5"/>
          <p:cNvPicPr>
            <a:picLocks noChangeAspect="1"/>
          </p:cNvPicPr>
          <p:nvPr/>
        </p:nvPicPr>
        <p:blipFill>
          <a:blip r:embed="rId3"/>
          <a:stretch>
            <a:fillRect/>
          </a:stretch>
        </p:blipFill>
        <p:spPr>
          <a:xfrm>
            <a:off x="0" y="478694"/>
            <a:ext cx="5215944" cy="6371644"/>
          </a:xfrm>
          <a:prstGeom prst="rect">
            <a:avLst/>
          </a:prstGeom>
        </p:spPr>
      </p:pic>
      <p:pic>
        <p:nvPicPr>
          <p:cNvPr id="9" name="Picture 8"/>
          <p:cNvPicPr>
            <a:picLocks noChangeAspect="1"/>
          </p:cNvPicPr>
          <p:nvPr/>
        </p:nvPicPr>
        <p:blipFill>
          <a:blip r:embed="rId4"/>
          <a:stretch>
            <a:fillRect/>
          </a:stretch>
        </p:blipFill>
        <p:spPr>
          <a:xfrm>
            <a:off x="5993139" y="478694"/>
            <a:ext cx="5069815" cy="6370253"/>
          </a:xfrm>
          <a:prstGeom prst="rect">
            <a:avLst/>
          </a:prstGeom>
        </p:spPr>
      </p:pic>
    </p:spTree>
    <p:extLst>
      <p:ext uri="{BB962C8B-B14F-4D97-AF65-F5344CB8AC3E}">
        <p14:creationId xmlns:p14="http://schemas.microsoft.com/office/powerpoint/2010/main" val="167511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Elastic Behaviour in Longitudinal Loading</a:t>
            </a:r>
          </a:p>
        </p:txBody>
      </p:sp>
      <p:sp>
        <p:nvSpPr>
          <p:cNvPr id="6" name="Rectangle 5"/>
          <p:cNvSpPr/>
          <p:nvPr/>
        </p:nvSpPr>
        <p:spPr>
          <a:xfrm>
            <a:off x="8525814" y="1950545"/>
            <a:ext cx="2369713" cy="21320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9491729" y="1950545"/>
            <a:ext cx="463640" cy="213205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141666" y="523220"/>
            <a:ext cx="11951595"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Let </a:t>
            </a:r>
            <a:r>
              <a:rPr lang="en-IN" sz="2000" i="1" dirty="0">
                <a:latin typeface="Times New Roman" panose="02020603050405020304" pitchFamily="18" charset="0"/>
                <a:cs typeface="Times New Roman" panose="02020603050405020304" pitchFamily="18" charset="0"/>
              </a:rPr>
              <a:t>A</a:t>
            </a:r>
            <a:r>
              <a:rPr lang="en-IN" sz="2000" baseline="-25000" dirty="0">
                <a:latin typeface="Times New Roman" panose="02020603050405020304" pitchFamily="18" charset="0"/>
                <a:cs typeface="Times New Roman" panose="02020603050405020304" pitchFamily="18" charset="0"/>
              </a:rPr>
              <a:t>m</a:t>
            </a:r>
            <a:r>
              <a:rPr lang="en-IN" sz="2000" dirty="0">
                <a:latin typeface="Times New Roman" panose="02020603050405020304" pitchFamily="18" charset="0"/>
                <a:cs typeface="Times New Roman" panose="02020603050405020304" pitchFamily="18" charset="0"/>
              </a:rPr>
              <a:t>, </a:t>
            </a:r>
            <a:r>
              <a:rPr lang="en-IN" sz="2000" i="1" dirty="0" err="1">
                <a:latin typeface="Times New Roman" panose="02020603050405020304" pitchFamily="18" charset="0"/>
                <a:cs typeface="Times New Roman" panose="02020603050405020304" pitchFamily="18" charset="0"/>
              </a:rPr>
              <a:t>A</a:t>
            </a:r>
            <a:r>
              <a:rPr lang="en-IN" sz="2000" baseline="-25000" dirty="0" err="1">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 and </a:t>
            </a:r>
            <a:r>
              <a:rPr lang="en-IN" sz="2000" i="1" dirty="0">
                <a:latin typeface="Times New Roman" panose="02020603050405020304" pitchFamily="18" charset="0"/>
                <a:cs typeface="Times New Roman" panose="02020603050405020304" pitchFamily="18" charset="0"/>
              </a:rPr>
              <a:t>A</a:t>
            </a:r>
            <a:r>
              <a:rPr lang="en-IN" sz="2000" baseline="-25000"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be the area of cross – section of the matrix, fibre and composite. Let </a:t>
            </a:r>
            <a:r>
              <a:rPr lang="en-IN" sz="2000" i="1" dirty="0">
                <a:latin typeface="Times New Roman" panose="02020603050405020304" pitchFamily="18" charset="0"/>
                <a:cs typeface="Times New Roman" panose="02020603050405020304" pitchFamily="18" charset="0"/>
              </a:rPr>
              <a:t>F</a:t>
            </a:r>
            <a:r>
              <a:rPr lang="en-IN" sz="2000" baseline="-25000"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be the net force applied in the longitudinal direction.</a:t>
            </a:r>
            <a:endParaRPr lang="en-IN" sz="2000" baseline="-25000"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V="1">
            <a:off x="6218496" y="1315992"/>
            <a:ext cx="0" cy="584815"/>
          </a:xfrm>
          <a:prstGeom prst="straightConnector1">
            <a:avLst/>
          </a:prstGeom>
          <a:ln>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V="1">
            <a:off x="6231374" y="6267918"/>
            <a:ext cx="0" cy="584815"/>
          </a:xfrm>
          <a:prstGeom prst="straightConnector1">
            <a:avLst/>
          </a:prstGeom>
          <a:ln>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6021166" y="946660"/>
            <a:ext cx="394660" cy="369332"/>
          </a:xfrm>
          <a:prstGeom prst="rect">
            <a:avLst/>
          </a:prstGeom>
          <a:noFill/>
        </p:spPr>
        <p:txBody>
          <a:bodyPr wrap="none" rtlCol="0">
            <a:spAutoFit/>
          </a:bodyPr>
          <a:lstStyle/>
          <a:p>
            <a:r>
              <a:rPr lang="en-IN" i="1"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c</a:t>
            </a:r>
          </a:p>
        </p:txBody>
      </p:sp>
      <p:sp>
        <p:nvSpPr>
          <p:cNvPr id="15" name="Rectangle 14"/>
          <p:cNvSpPr/>
          <p:nvPr/>
        </p:nvSpPr>
        <p:spPr>
          <a:xfrm>
            <a:off x="4986271" y="1950545"/>
            <a:ext cx="2369713" cy="4159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5952186" y="1950545"/>
            <a:ext cx="463640" cy="415987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p:cNvSpPr txBox="1"/>
          <p:nvPr/>
        </p:nvSpPr>
        <p:spPr>
          <a:xfrm>
            <a:off x="6415826" y="6375642"/>
            <a:ext cx="394660" cy="369332"/>
          </a:xfrm>
          <a:prstGeom prst="rect">
            <a:avLst/>
          </a:prstGeom>
          <a:noFill/>
        </p:spPr>
        <p:txBody>
          <a:bodyPr wrap="none" rtlCol="0">
            <a:spAutoFit/>
          </a:bodyPr>
          <a:lstStyle/>
          <a:p>
            <a:r>
              <a:rPr lang="en-IN" i="1"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c</a:t>
            </a:r>
          </a:p>
        </p:txBody>
      </p:sp>
      <p:cxnSp>
        <p:nvCxnSpPr>
          <p:cNvPr id="19" name="Straight Arrow Connector 18"/>
          <p:cNvCxnSpPr/>
          <p:nvPr/>
        </p:nvCxnSpPr>
        <p:spPr>
          <a:xfrm flipV="1">
            <a:off x="9760186" y="1231106"/>
            <a:ext cx="0" cy="584815"/>
          </a:xfrm>
          <a:prstGeom prst="straightConnector1">
            <a:avLst/>
          </a:prstGeom>
          <a:ln>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9562856" y="861774"/>
            <a:ext cx="394660" cy="369332"/>
          </a:xfrm>
          <a:prstGeom prst="rect">
            <a:avLst/>
          </a:prstGeom>
          <a:noFill/>
        </p:spPr>
        <p:txBody>
          <a:bodyPr wrap="none" rtlCol="0">
            <a:spAutoFit/>
          </a:bodyPr>
          <a:lstStyle/>
          <a:p>
            <a:r>
              <a:rPr lang="en-IN" i="1"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c</a:t>
            </a:r>
          </a:p>
        </p:txBody>
      </p:sp>
      <p:cxnSp>
        <p:nvCxnSpPr>
          <p:cNvPr id="21" name="Straight Arrow Connector 20"/>
          <p:cNvCxnSpPr/>
          <p:nvPr/>
        </p:nvCxnSpPr>
        <p:spPr>
          <a:xfrm flipH="1" flipV="1">
            <a:off x="9080355" y="3946335"/>
            <a:ext cx="679831" cy="1001626"/>
          </a:xfrm>
          <a:prstGeom prst="straightConnector1">
            <a:avLst/>
          </a:prstGeom>
          <a:ln>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8568232" y="4913525"/>
            <a:ext cx="257795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Net force </a:t>
            </a:r>
            <a:r>
              <a:rPr lang="en-IN" i="1" dirty="0" err="1">
                <a:latin typeface="Times New Roman" panose="02020603050405020304" pitchFamily="18" charset="0"/>
                <a:cs typeface="Times New Roman" panose="02020603050405020304" pitchFamily="18" charset="0"/>
              </a:rPr>
              <a:t>F</a:t>
            </a:r>
            <a:r>
              <a:rPr lang="en-IN" i="1" baseline="-25000" dirty="0" err="1">
                <a:latin typeface="Times New Roman" panose="02020603050405020304" pitchFamily="18" charset="0"/>
                <a:cs typeface="Times New Roman" panose="02020603050405020304" pitchFamily="18" charset="0"/>
              </a:rPr>
              <a:t>m</a:t>
            </a:r>
            <a:r>
              <a:rPr lang="en-IN" i="1"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 the matrix</a:t>
            </a:r>
          </a:p>
        </p:txBody>
      </p:sp>
      <p:cxnSp>
        <p:nvCxnSpPr>
          <p:cNvPr id="23" name="Straight Arrow Connector 22"/>
          <p:cNvCxnSpPr/>
          <p:nvPr/>
        </p:nvCxnSpPr>
        <p:spPr>
          <a:xfrm flipV="1">
            <a:off x="9857207" y="3946335"/>
            <a:ext cx="360664" cy="1001626"/>
          </a:xfrm>
          <a:prstGeom prst="straightConnector1">
            <a:avLst/>
          </a:prstGeom>
          <a:ln>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flipV="1">
            <a:off x="9710670" y="3016574"/>
            <a:ext cx="0" cy="584815"/>
          </a:xfrm>
          <a:prstGeom prst="straightConnector1">
            <a:avLst/>
          </a:prstGeom>
          <a:ln>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9533475" y="3573328"/>
            <a:ext cx="377026" cy="369332"/>
          </a:xfrm>
          <a:prstGeom prst="rect">
            <a:avLst/>
          </a:prstGeom>
          <a:noFill/>
        </p:spPr>
        <p:txBody>
          <a:bodyPr wrap="none" rtlCol="0">
            <a:spAutoFit/>
          </a:bodyPr>
          <a:lstStyle/>
          <a:p>
            <a:r>
              <a:rPr lang="en-IN" i="1" dirty="0" err="1">
                <a:latin typeface="Times New Roman" panose="02020603050405020304" pitchFamily="18" charset="0"/>
                <a:cs typeface="Times New Roman" panose="02020603050405020304" pitchFamily="18" charset="0"/>
              </a:rPr>
              <a:t>F</a:t>
            </a:r>
            <a:r>
              <a:rPr lang="en-IN" i="1" baseline="-25000" dirty="0" err="1">
                <a:latin typeface="Times New Roman" panose="02020603050405020304" pitchFamily="18" charset="0"/>
                <a:cs typeface="Times New Roman" panose="02020603050405020304" pitchFamily="18" charset="0"/>
              </a:rPr>
              <a:t>f</a:t>
            </a:r>
            <a:endParaRPr lang="en-IN" i="1" baseline="-25000" dirty="0">
              <a:latin typeface="Times New Roman" panose="02020603050405020304" pitchFamily="18" charset="0"/>
              <a:cs typeface="Times New Roman" panose="02020603050405020304" pitchFamily="18" charset="0"/>
            </a:endParaRPr>
          </a:p>
        </p:txBody>
      </p:sp>
      <p:pic>
        <p:nvPicPr>
          <p:cNvPr id="33" name="Picture 32"/>
          <p:cNvPicPr>
            <a:picLocks noChangeAspect="1"/>
          </p:cNvPicPr>
          <p:nvPr/>
        </p:nvPicPr>
        <p:blipFill>
          <a:blip r:embed="rId2"/>
          <a:stretch>
            <a:fillRect/>
          </a:stretch>
        </p:blipFill>
        <p:spPr>
          <a:xfrm>
            <a:off x="319537" y="1231106"/>
            <a:ext cx="3453969" cy="861681"/>
          </a:xfrm>
          <a:prstGeom prst="rect">
            <a:avLst/>
          </a:prstGeom>
        </p:spPr>
      </p:pic>
      <p:pic>
        <p:nvPicPr>
          <p:cNvPr id="34" name="Picture 33"/>
          <p:cNvPicPr>
            <a:picLocks noChangeAspect="1"/>
          </p:cNvPicPr>
          <p:nvPr/>
        </p:nvPicPr>
        <p:blipFill>
          <a:blip r:embed="rId3"/>
          <a:stretch>
            <a:fillRect/>
          </a:stretch>
        </p:blipFill>
        <p:spPr>
          <a:xfrm>
            <a:off x="744235" y="2129705"/>
            <a:ext cx="2517668" cy="4245937"/>
          </a:xfrm>
          <a:prstGeom prst="rect">
            <a:avLst/>
          </a:prstGeom>
        </p:spPr>
      </p:pic>
      <p:sp>
        <p:nvSpPr>
          <p:cNvPr id="35" name="TextBox 34"/>
          <p:cNvSpPr txBox="1"/>
          <p:nvPr/>
        </p:nvSpPr>
        <p:spPr>
          <a:xfrm>
            <a:off x="8936422" y="5429175"/>
            <a:ext cx="2562896"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Free body diagram</a:t>
            </a:r>
            <a:endParaRPr lang="en-IN" b="1"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91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Elastic Behaviour in Transverse Loading</a:t>
            </a:r>
          </a:p>
        </p:txBody>
      </p:sp>
      <p:sp>
        <p:nvSpPr>
          <p:cNvPr id="8" name="TextBox 7"/>
          <p:cNvSpPr txBox="1"/>
          <p:nvPr/>
        </p:nvSpPr>
        <p:spPr>
          <a:xfrm>
            <a:off x="141666" y="523220"/>
            <a:ext cx="11951595"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Let </a:t>
            </a:r>
            <a:r>
              <a:rPr lang="en-IN" sz="2000" i="1" dirty="0">
                <a:latin typeface="Times New Roman" panose="02020603050405020304" pitchFamily="18" charset="0"/>
                <a:cs typeface="Times New Roman" panose="02020603050405020304" pitchFamily="18" charset="0"/>
              </a:rPr>
              <a:t>A</a:t>
            </a:r>
            <a:r>
              <a:rPr lang="en-IN" sz="2000" baseline="-25000" dirty="0">
                <a:latin typeface="Times New Roman" panose="02020603050405020304" pitchFamily="18" charset="0"/>
                <a:cs typeface="Times New Roman" panose="02020603050405020304" pitchFamily="18" charset="0"/>
              </a:rPr>
              <a:t>m</a:t>
            </a:r>
            <a:r>
              <a:rPr lang="en-IN" sz="2000" dirty="0">
                <a:latin typeface="Times New Roman" panose="02020603050405020304" pitchFamily="18" charset="0"/>
                <a:cs typeface="Times New Roman" panose="02020603050405020304" pitchFamily="18" charset="0"/>
              </a:rPr>
              <a:t>, </a:t>
            </a:r>
            <a:r>
              <a:rPr lang="en-IN" sz="2000" i="1" dirty="0" err="1">
                <a:latin typeface="Times New Roman" panose="02020603050405020304" pitchFamily="18" charset="0"/>
                <a:cs typeface="Times New Roman" panose="02020603050405020304" pitchFamily="18" charset="0"/>
              </a:rPr>
              <a:t>A</a:t>
            </a:r>
            <a:r>
              <a:rPr lang="en-IN" sz="2000" baseline="-25000" dirty="0" err="1">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 and </a:t>
            </a:r>
            <a:r>
              <a:rPr lang="en-IN" sz="2000" i="1" dirty="0">
                <a:latin typeface="Times New Roman" panose="02020603050405020304" pitchFamily="18" charset="0"/>
                <a:cs typeface="Times New Roman" panose="02020603050405020304" pitchFamily="18" charset="0"/>
              </a:rPr>
              <a:t>A</a:t>
            </a:r>
            <a:r>
              <a:rPr lang="en-IN" sz="2000" baseline="-25000"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be the area of cross – section of the matrix, fibre and composite. Let </a:t>
            </a:r>
            <a:r>
              <a:rPr lang="en-IN" sz="2000" i="1" dirty="0">
                <a:latin typeface="Times New Roman" panose="02020603050405020304" pitchFamily="18" charset="0"/>
                <a:cs typeface="Times New Roman" panose="02020603050405020304" pitchFamily="18" charset="0"/>
              </a:rPr>
              <a:t>F</a:t>
            </a:r>
            <a:r>
              <a:rPr lang="en-IN" sz="2000" baseline="-25000" dirty="0">
                <a:latin typeface="Times New Roman" panose="02020603050405020304" pitchFamily="18" charset="0"/>
                <a:cs typeface="Times New Roman" panose="02020603050405020304" pitchFamily="18" charset="0"/>
              </a:rPr>
              <a:t>c</a:t>
            </a:r>
            <a:r>
              <a:rPr lang="en-IN" sz="2000" dirty="0">
                <a:latin typeface="Times New Roman" panose="02020603050405020304" pitchFamily="18" charset="0"/>
                <a:cs typeface="Times New Roman" panose="02020603050405020304" pitchFamily="18" charset="0"/>
              </a:rPr>
              <a:t> be the net force applied in the longitudinal direction.</a:t>
            </a:r>
            <a:endParaRPr lang="en-IN" sz="2000" baseline="-25000"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H="1">
            <a:off x="4043962" y="3871275"/>
            <a:ext cx="564675" cy="0"/>
          </a:xfrm>
          <a:prstGeom prst="straightConnector1">
            <a:avLst/>
          </a:prstGeom>
          <a:ln>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H="1" flipV="1">
            <a:off x="7470894" y="3871275"/>
            <a:ext cx="710338" cy="1459"/>
          </a:xfrm>
          <a:prstGeom prst="straightConnector1">
            <a:avLst/>
          </a:prstGeom>
          <a:ln>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3650048" y="3661151"/>
            <a:ext cx="394660" cy="369332"/>
          </a:xfrm>
          <a:prstGeom prst="rect">
            <a:avLst/>
          </a:prstGeom>
          <a:noFill/>
        </p:spPr>
        <p:txBody>
          <a:bodyPr wrap="none" rtlCol="0">
            <a:spAutoFit/>
          </a:bodyPr>
          <a:lstStyle/>
          <a:p>
            <a:r>
              <a:rPr lang="en-IN" i="1"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c</a:t>
            </a:r>
          </a:p>
        </p:txBody>
      </p:sp>
      <p:sp>
        <p:nvSpPr>
          <p:cNvPr id="15" name="Rectangle 14"/>
          <p:cNvSpPr/>
          <p:nvPr/>
        </p:nvSpPr>
        <p:spPr>
          <a:xfrm>
            <a:off x="4986271" y="1950545"/>
            <a:ext cx="2369713" cy="4159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5952186" y="1950545"/>
            <a:ext cx="463640" cy="415987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p:cNvSpPr txBox="1"/>
          <p:nvPr/>
        </p:nvSpPr>
        <p:spPr>
          <a:xfrm>
            <a:off x="8181232" y="3686609"/>
            <a:ext cx="394660" cy="369332"/>
          </a:xfrm>
          <a:prstGeom prst="rect">
            <a:avLst/>
          </a:prstGeom>
          <a:noFill/>
        </p:spPr>
        <p:txBody>
          <a:bodyPr wrap="none" rtlCol="0">
            <a:spAutoFit/>
          </a:bodyPr>
          <a:lstStyle/>
          <a:p>
            <a:r>
              <a:rPr lang="en-IN" i="1"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c</a:t>
            </a:r>
          </a:p>
        </p:txBody>
      </p:sp>
      <p:pic>
        <p:nvPicPr>
          <p:cNvPr id="2" name="Picture 1"/>
          <p:cNvPicPr>
            <a:picLocks noChangeAspect="1"/>
          </p:cNvPicPr>
          <p:nvPr/>
        </p:nvPicPr>
        <p:blipFill>
          <a:blip r:embed="rId2"/>
          <a:stretch>
            <a:fillRect/>
          </a:stretch>
        </p:blipFill>
        <p:spPr>
          <a:xfrm>
            <a:off x="744235" y="2129705"/>
            <a:ext cx="2517668" cy="4245937"/>
          </a:xfrm>
          <a:prstGeom prst="rect">
            <a:avLst/>
          </a:prstGeom>
        </p:spPr>
      </p:pic>
      <p:pic>
        <p:nvPicPr>
          <p:cNvPr id="13" name="Picture 12"/>
          <p:cNvPicPr>
            <a:picLocks noChangeAspect="1"/>
          </p:cNvPicPr>
          <p:nvPr/>
        </p:nvPicPr>
        <p:blipFill>
          <a:blip r:embed="rId3"/>
          <a:stretch>
            <a:fillRect/>
          </a:stretch>
        </p:blipFill>
        <p:spPr>
          <a:xfrm>
            <a:off x="141666" y="1219070"/>
            <a:ext cx="4761126" cy="910635"/>
          </a:xfrm>
          <a:prstGeom prst="rect">
            <a:avLst/>
          </a:prstGeom>
        </p:spPr>
      </p:pic>
      <p:sp>
        <p:nvSpPr>
          <p:cNvPr id="24" name="TextBox 23"/>
          <p:cNvSpPr txBox="1"/>
          <p:nvPr/>
        </p:nvSpPr>
        <p:spPr>
          <a:xfrm>
            <a:off x="8963696" y="3476485"/>
            <a:ext cx="256289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Free body diagram?</a:t>
            </a:r>
            <a:endParaRPr lang="en-IN"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688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52523" y="1142700"/>
            <a:ext cx="8754010" cy="2012625"/>
          </a:xfrm>
          <a:prstGeom prst="rect">
            <a:avLst/>
          </a:prstGeom>
        </p:spPr>
      </p:pic>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Tensile Strength of Continuous Aligned Composites</a:t>
            </a:r>
          </a:p>
        </p:txBody>
      </p:sp>
      <p:pic>
        <p:nvPicPr>
          <p:cNvPr id="2" name="Picture 1"/>
          <p:cNvPicPr>
            <a:picLocks noChangeAspect="1"/>
          </p:cNvPicPr>
          <p:nvPr/>
        </p:nvPicPr>
        <p:blipFill>
          <a:blip r:embed="rId3"/>
          <a:stretch>
            <a:fillRect/>
          </a:stretch>
        </p:blipFill>
        <p:spPr>
          <a:xfrm>
            <a:off x="3244661" y="3478909"/>
            <a:ext cx="3680917" cy="591792"/>
          </a:xfrm>
          <a:prstGeom prst="rect">
            <a:avLst/>
          </a:prstGeom>
        </p:spPr>
      </p:pic>
    </p:spTree>
    <p:extLst>
      <p:ext uri="{BB962C8B-B14F-4D97-AF65-F5344CB8AC3E}">
        <p14:creationId xmlns:p14="http://schemas.microsoft.com/office/powerpoint/2010/main" val="1484263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Fiber Phase – Discontinuous or Short Fibre Reinforced Composites</a:t>
            </a:r>
          </a:p>
        </p:txBody>
      </p:sp>
      <p:pic>
        <p:nvPicPr>
          <p:cNvPr id="4" name="Picture 3"/>
          <p:cNvPicPr>
            <a:picLocks noChangeAspect="1"/>
          </p:cNvPicPr>
          <p:nvPr/>
        </p:nvPicPr>
        <p:blipFill>
          <a:blip r:embed="rId2"/>
          <a:stretch>
            <a:fillRect/>
          </a:stretch>
        </p:blipFill>
        <p:spPr>
          <a:xfrm>
            <a:off x="179152" y="523220"/>
            <a:ext cx="7598534" cy="6216616"/>
          </a:xfrm>
          <a:prstGeom prst="rect">
            <a:avLst/>
          </a:prstGeom>
        </p:spPr>
      </p:pic>
    </p:spTree>
    <p:extLst>
      <p:ext uri="{BB962C8B-B14F-4D97-AF65-F5344CB8AC3E}">
        <p14:creationId xmlns:p14="http://schemas.microsoft.com/office/powerpoint/2010/main" val="4156974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Matrix Phase</a:t>
            </a:r>
          </a:p>
        </p:txBody>
      </p:sp>
      <p:sp>
        <p:nvSpPr>
          <p:cNvPr id="6" name="TextBox 5"/>
          <p:cNvSpPr txBox="1"/>
          <p:nvPr/>
        </p:nvSpPr>
        <p:spPr>
          <a:xfrm>
            <a:off x="0" y="523220"/>
            <a:ext cx="12192000" cy="2451953"/>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Matrix materials can be metals, ceramics or polymers.</a:t>
            </a:r>
          </a:p>
          <a:p>
            <a:pPr marL="342900" indent="-342900">
              <a:buFont typeface="Arial" panose="020B0604020202020204" pitchFamily="34" charset="0"/>
              <a:buChar char="•"/>
            </a:pPr>
            <a:endParaRPr lang="en-IN" sz="2000" baseline="-25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Requirements:</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Ductile and soft so that the cracks do not propagate fast from fibre to fibre.</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Should be able to bind the fibres well in order to transfer the applied load.</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Protect the fibres from harsh chemical environment and mechanical abrasion.</a:t>
            </a:r>
          </a:p>
          <a:p>
            <a:pPr marL="800100" lvl="1" indent="-34290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Adhesive bonding between matrix and fiber is the most important factor in order to minimize fiber pull–out.</a:t>
            </a:r>
          </a:p>
        </p:txBody>
      </p:sp>
    </p:spTree>
    <p:extLst>
      <p:ext uri="{BB962C8B-B14F-4D97-AF65-F5344CB8AC3E}">
        <p14:creationId xmlns:p14="http://schemas.microsoft.com/office/powerpoint/2010/main" val="2328039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Matrix Phase</a:t>
            </a:r>
          </a:p>
        </p:txBody>
      </p:sp>
      <p:sp>
        <p:nvSpPr>
          <p:cNvPr id="7" name="TextBox 6"/>
          <p:cNvSpPr txBox="1"/>
          <p:nvPr/>
        </p:nvSpPr>
        <p:spPr>
          <a:xfrm>
            <a:off x="0" y="523220"/>
            <a:ext cx="12192000" cy="132343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Polymer matrix composites</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Glass Fiber Reinforced Composites (GFRP) – storage containers, plastic pipes, automotive &amp; marine</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Carbon Fiber Reinforced Composites (CFRP) – golf clubs, fishing rods, pressure vessels</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Aramid Fiber Reinforced Composites – poly (</a:t>
            </a:r>
            <a:r>
              <a:rPr lang="en-IN" sz="2000" dirty="0" err="1">
                <a:latin typeface="Times New Roman" panose="02020603050405020304" pitchFamily="18" charset="0"/>
                <a:cs typeface="Times New Roman" panose="02020603050405020304" pitchFamily="18" charset="0"/>
              </a:rPr>
              <a:t>paraphenylene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terephthalamide</a:t>
            </a:r>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41498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Matrix Phase</a:t>
            </a:r>
          </a:p>
        </p:txBody>
      </p:sp>
      <p:sp>
        <p:nvSpPr>
          <p:cNvPr id="7" name="TextBox 6"/>
          <p:cNvSpPr txBox="1"/>
          <p:nvPr/>
        </p:nvSpPr>
        <p:spPr>
          <a:xfrm>
            <a:off x="0" y="523220"/>
            <a:ext cx="12192000" cy="132343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Polymer matrix composites</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Glass Fiber Reinforced Composites (GFRP) – storage containers, plastic pipes, automotive &amp; marine</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Carbon Fiber Reinforced Composites (CFRP) – golf clubs, fishing rods, pressure vessels</a:t>
            </a:r>
          </a:p>
          <a:p>
            <a:pPr marL="800100" lvl="1"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Aramid Fiber Reinforced Composites – poly (</a:t>
            </a:r>
            <a:r>
              <a:rPr lang="en-IN" sz="2000" dirty="0" err="1">
                <a:latin typeface="Times New Roman" panose="02020603050405020304" pitchFamily="18" charset="0"/>
                <a:cs typeface="Times New Roman" panose="02020603050405020304" pitchFamily="18" charset="0"/>
              </a:rPr>
              <a:t>paraphenylene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terephthalamide</a:t>
            </a:r>
            <a:r>
              <a:rPr lang="en-IN" sz="2000" dirty="0">
                <a:latin typeface="Times New Roman" panose="02020603050405020304" pitchFamily="18" charset="0"/>
                <a:cs typeface="Times New Roman" panose="02020603050405020304" pitchFamily="18" charset="0"/>
              </a:rPr>
              <a:t>)</a:t>
            </a:r>
          </a:p>
        </p:txBody>
      </p:sp>
      <p:pic>
        <p:nvPicPr>
          <p:cNvPr id="2" name="Picture 1"/>
          <p:cNvPicPr>
            <a:picLocks noChangeAspect="1"/>
          </p:cNvPicPr>
          <p:nvPr/>
        </p:nvPicPr>
        <p:blipFill>
          <a:blip r:embed="rId2"/>
          <a:stretch>
            <a:fillRect/>
          </a:stretch>
        </p:blipFill>
        <p:spPr>
          <a:xfrm>
            <a:off x="1009933" y="2369879"/>
            <a:ext cx="7923507" cy="3155821"/>
          </a:xfrm>
          <a:prstGeom prst="rect">
            <a:avLst/>
          </a:prstGeom>
        </p:spPr>
      </p:pic>
    </p:spTree>
    <p:extLst>
      <p:ext uri="{BB962C8B-B14F-4D97-AF65-F5344CB8AC3E}">
        <p14:creationId xmlns:p14="http://schemas.microsoft.com/office/powerpoint/2010/main" val="2561199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Metal – Matrix Composites</a:t>
            </a:r>
          </a:p>
        </p:txBody>
      </p:sp>
      <p:sp>
        <p:nvSpPr>
          <p:cNvPr id="4" name="Rectangle 3"/>
          <p:cNvSpPr/>
          <p:nvPr/>
        </p:nvSpPr>
        <p:spPr>
          <a:xfrm>
            <a:off x="0" y="523220"/>
            <a:ext cx="12037326" cy="707886"/>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Expensive than PMC</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Suitable for high temperature applications</a:t>
            </a: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0" y="1231106"/>
            <a:ext cx="11900955" cy="2490128"/>
          </a:xfrm>
          <a:prstGeom prst="rect">
            <a:avLst/>
          </a:prstGeom>
        </p:spPr>
      </p:pic>
      <p:pic>
        <p:nvPicPr>
          <p:cNvPr id="1026" name="Picture 2" descr="Image result for metal matrix composi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2996" y="3945969"/>
            <a:ext cx="3045555" cy="276536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827594" y="6124250"/>
            <a:ext cx="2115402" cy="400110"/>
          </a:xfrm>
          <a:prstGeom prst="rect">
            <a:avLst/>
          </a:prstGeom>
        </p:spPr>
        <p:txBody>
          <a:bodyPr wrap="square">
            <a:spAutoFit/>
          </a:bodyPr>
          <a:lstStyle/>
          <a:p>
            <a:pPr algn="just"/>
            <a:r>
              <a:rPr lang="en-US" sz="2000" dirty="0" err="1">
                <a:latin typeface="Times New Roman" panose="02020603050405020304" pitchFamily="18" charset="0"/>
                <a:cs typeface="Times New Roman" panose="02020603050405020304" pitchFamily="18" charset="0"/>
              </a:rPr>
              <a:t>SiC</a:t>
            </a:r>
            <a:r>
              <a:rPr lang="en-US" sz="2000" dirty="0">
                <a:latin typeface="Times New Roman" panose="02020603050405020304" pitchFamily="18" charset="0"/>
                <a:cs typeface="Times New Roman" panose="02020603050405020304" pitchFamily="18" charset="0"/>
              </a:rPr>
              <a:t> particles in Ti</a:t>
            </a:r>
          </a:p>
        </p:txBody>
      </p:sp>
    </p:spTree>
    <p:extLst>
      <p:ext uri="{BB962C8B-B14F-4D97-AF65-F5344CB8AC3E}">
        <p14:creationId xmlns:p14="http://schemas.microsoft.com/office/powerpoint/2010/main" val="247224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 – Matrix Composites</a:t>
            </a:r>
          </a:p>
        </p:txBody>
      </p:sp>
      <p:sp>
        <p:nvSpPr>
          <p:cNvPr id="4" name="Rectangle 3"/>
          <p:cNvSpPr/>
          <p:nvPr/>
        </p:nvSpPr>
        <p:spPr>
          <a:xfrm>
            <a:off x="0" y="523220"/>
            <a:ext cx="12037326" cy="1015663"/>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Ceramic particles in another ceramic.</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Transformation toughening</a:t>
            </a:r>
          </a:p>
        </p:txBody>
      </p:sp>
      <p:pic>
        <p:nvPicPr>
          <p:cNvPr id="2" name="Picture 1"/>
          <p:cNvPicPr>
            <a:picLocks noChangeAspect="1"/>
          </p:cNvPicPr>
          <p:nvPr/>
        </p:nvPicPr>
        <p:blipFill rotWithShape="1">
          <a:blip r:embed="rId2"/>
          <a:srcRect t="2786"/>
          <a:stretch/>
        </p:blipFill>
        <p:spPr>
          <a:xfrm>
            <a:off x="1480623" y="1637731"/>
            <a:ext cx="9477485" cy="5090614"/>
          </a:xfrm>
          <a:prstGeom prst="rect">
            <a:avLst/>
          </a:prstGeom>
        </p:spPr>
      </p:pic>
    </p:spTree>
    <p:extLst>
      <p:ext uri="{BB962C8B-B14F-4D97-AF65-F5344CB8AC3E}">
        <p14:creationId xmlns:p14="http://schemas.microsoft.com/office/powerpoint/2010/main" val="1042824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Other Matrix Materials for Composites</a:t>
            </a:r>
          </a:p>
        </p:txBody>
      </p:sp>
      <p:sp>
        <p:nvSpPr>
          <p:cNvPr id="4" name="Rectangle 3"/>
          <p:cNvSpPr/>
          <p:nvPr/>
        </p:nvSpPr>
        <p:spPr>
          <a:xfrm>
            <a:off x="0" y="523220"/>
            <a:ext cx="12037326" cy="1015663"/>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Carbon – Carbon Composite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Hybrid Composites</a:t>
            </a:r>
          </a:p>
        </p:txBody>
      </p:sp>
    </p:spTree>
    <p:extLst>
      <p:ext uri="{BB962C8B-B14F-4D97-AF65-F5344CB8AC3E}">
        <p14:creationId xmlns:p14="http://schemas.microsoft.com/office/powerpoint/2010/main" val="3245024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Structural Composites</a:t>
            </a:r>
          </a:p>
        </p:txBody>
      </p:sp>
      <p:sp>
        <p:nvSpPr>
          <p:cNvPr id="4" name="Rectangle 3"/>
          <p:cNvSpPr/>
          <p:nvPr/>
        </p:nvSpPr>
        <p:spPr>
          <a:xfrm>
            <a:off x="0" y="523220"/>
            <a:ext cx="12037326" cy="400110"/>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Laminar composite</a:t>
            </a:r>
          </a:p>
        </p:txBody>
      </p:sp>
      <p:pic>
        <p:nvPicPr>
          <p:cNvPr id="2" name="Picture 1"/>
          <p:cNvPicPr>
            <a:picLocks noChangeAspect="1"/>
          </p:cNvPicPr>
          <p:nvPr/>
        </p:nvPicPr>
        <p:blipFill>
          <a:blip r:embed="rId2"/>
          <a:stretch>
            <a:fillRect/>
          </a:stretch>
        </p:blipFill>
        <p:spPr>
          <a:xfrm>
            <a:off x="4181628" y="723275"/>
            <a:ext cx="4385476" cy="5786707"/>
          </a:xfrm>
          <a:prstGeom prst="rect">
            <a:avLst/>
          </a:prstGeom>
        </p:spPr>
      </p:pic>
    </p:spTree>
    <p:extLst>
      <p:ext uri="{BB962C8B-B14F-4D97-AF65-F5344CB8AC3E}">
        <p14:creationId xmlns:p14="http://schemas.microsoft.com/office/powerpoint/2010/main" val="1352384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Structural Composites</a:t>
            </a:r>
          </a:p>
        </p:txBody>
      </p:sp>
      <p:sp>
        <p:nvSpPr>
          <p:cNvPr id="4" name="Rectangle 3"/>
          <p:cNvSpPr/>
          <p:nvPr/>
        </p:nvSpPr>
        <p:spPr>
          <a:xfrm>
            <a:off x="0" y="523220"/>
            <a:ext cx="12037326" cy="400110"/>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Sandwich panels</a:t>
            </a:r>
          </a:p>
        </p:txBody>
      </p:sp>
      <p:pic>
        <p:nvPicPr>
          <p:cNvPr id="3" name="Picture 2"/>
          <p:cNvPicPr>
            <a:picLocks noChangeAspect="1"/>
          </p:cNvPicPr>
          <p:nvPr/>
        </p:nvPicPr>
        <p:blipFill>
          <a:blip r:embed="rId2"/>
          <a:stretch>
            <a:fillRect/>
          </a:stretch>
        </p:blipFill>
        <p:spPr>
          <a:xfrm>
            <a:off x="0" y="3698673"/>
            <a:ext cx="6464758" cy="3052324"/>
          </a:xfrm>
          <a:prstGeom prst="rect">
            <a:avLst/>
          </a:prstGeom>
        </p:spPr>
      </p:pic>
      <p:pic>
        <p:nvPicPr>
          <p:cNvPr id="6" name="Picture 5"/>
          <p:cNvPicPr>
            <a:picLocks noChangeAspect="1"/>
          </p:cNvPicPr>
          <p:nvPr/>
        </p:nvPicPr>
        <p:blipFill>
          <a:blip r:embed="rId3"/>
          <a:stretch>
            <a:fillRect/>
          </a:stretch>
        </p:blipFill>
        <p:spPr>
          <a:xfrm>
            <a:off x="3507655" y="0"/>
            <a:ext cx="8684346" cy="3821373"/>
          </a:xfrm>
          <a:prstGeom prst="rect">
            <a:avLst/>
          </a:prstGeom>
        </p:spPr>
      </p:pic>
    </p:spTree>
    <p:extLst>
      <p:ext uri="{BB962C8B-B14F-4D97-AF65-F5344CB8AC3E}">
        <p14:creationId xmlns:p14="http://schemas.microsoft.com/office/powerpoint/2010/main" val="329167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Processing of Composites – Pultrusion technique</a:t>
            </a:r>
          </a:p>
        </p:txBody>
      </p:sp>
      <p:pic>
        <p:nvPicPr>
          <p:cNvPr id="2" name="Picture 1"/>
          <p:cNvPicPr>
            <a:picLocks noChangeAspect="1"/>
          </p:cNvPicPr>
          <p:nvPr/>
        </p:nvPicPr>
        <p:blipFill>
          <a:blip r:embed="rId2"/>
          <a:stretch>
            <a:fillRect/>
          </a:stretch>
        </p:blipFill>
        <p:spPr>
          <a:xfrm>
            <a:off x="5341" y="1760561"/>
            <a:ext cx="12156405" cy="3330054"/>
          </a:xfrm>
          <a:prstGeom prst="rect">
            <a:avLst/>
          </a:prstGeom>
        </p:spPr>
      </p:pic>
    </p:spTree>
    <p:extLst>
      <p:ext uri="{BB962C8B-B14F-4D97-AF65-F5344CB8AC3E}">
        <p14:creationId xmlns:p14="http://schemas.microsoft.com/office/powerpoint/2010/main" val="3440909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98490" y="1197736"/>
            <a:ext cx="10586433" cy="4365938"/>
          </a:xfrm>
          <a:prstGeom prst="rect">
            <a:avLst/>
          </a:prstGeom>
          <a:noFill/>
          <a:ln>
            <a:noFill/>
          </a:ln>
        </p:spPr>
      </p:pic>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 Pultrusion setup at BITS Hyderabad</a:t>
            </a:r>
          </a:p>
        </p:txBody>
      </p:sp>
    </p:spTree>
    <p:extLst>
      <p:ext uri="{BB962C8B-B14F-4D97-AF65-F5344CB8AC3E}">
        <p14:creationId xmlns:p14="http://schemas.microsoft.com/office/powerpoint/2010/main" val="402592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Processing of Composites – </a:t>
            </a:r>
            <a:r>
              <a:rPr lang="en-IN" sz="2800" dirty="0" err="1"/>
              <a:t>Prepreg</a:t>
            </a:r>
            <a:r>
              <a:rPr lang="en-IN" sz="2800" dirty="0"/>
              <a:t> Production Process</a:t>
            </a:r>
          </a:p>
        </p:txBody>
      </p:sp>
      <p:pic>
        <p:nvPicPr>
          <p:cNvPr id="2" name="Picture 1"/>
          <p:cNvPicPr>
            <a:picLocks noChangeAspect="1"/>
          </p:cNvPicPr>
          <p:nvPr/>
        </p:nvPicPr>
        <p:blipFill>
          <a:blip r:embed="rId2"/>
          <a:stretch>
            <a:fillRect/>
          </a:stretch>
        </p:blipFill>
        <p:spPr>
          <a:xfrm>
            <a:off x="2320119" y="531120"/>
            <a:ext cx="7970293" cy="6116970"/>
          </a:xfrm>
          <a:prstGeom prst="rect">
            <a:avLst/>
          </a:prstGeom>
        </p:spPr>
      </p:pic>
    </p:spTree>
    <p:extLst>
      <p:ext uri="{BB962C8B-B14F-4D97-AF65-F5344CB8AC3E}">
        <p14:creationId xmlns:p14="http://schemas.microsoft.com/office/powerpoint/2010/main" val="4087242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Processing of Composites – Filament Winding Technique</a:t>
            </a:r>
          </a:p>
        </p:txBody>
      </p:sp>
      <p:pic>
        <p:nvPicPr>
          <p:cNvPr id="4" name="Picture 3"/>
          <p:cNvPicPr>
            <a:picLocks noChangeAspect="1"/>
          </p:cNvPicPr>
          <p:nvPr/>
        </p:nvPicPr>
        <p:blipFill>
          <a:blip r:embed="rId2"/>
          <a:stretch>
            <a:fillRect/>
          </a:stretch>
        </p:blipFill>
        <p:spPr>
          <a:xfrm>
            <a:off x="3916907" y="559838"/>
            <a:ext cx="4749421" cy="6253456"/>
          </a:xfrm>
          <a:prstGeom prst="rect">
            <a:avLst/>
          </a:prstGeom>
        </p:spPr>
      </p:pic>
    </p:spTree>
    <p:extLst>
      <p:ext uri="{BB962C8B-B14F-4D97-AF65-F5344CB8AC3E}">
        <p14:creationId xmlns:p14="http://schemas.microsoft.com/office/powerpoint/2010/main" val="1661914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7030</TotalTime>
  <Words>814</Words>
  <Application>Microsoft Office PowerPoint</Application>
  <PresentationFormat>Widescreen</PresentationFormat>
  <Paragraphs>125</Paragraphs>
  <Slides>26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Siva Prasad A V S</dc:creator>
  <cp:lastModifiedBy>jagadish151223@outlook.com</cp:lastModifiedBy>
  <cp:revision>241</cp:revision>
  <dcterms:created xsi:type="dcterms:W3CDTF">2018-09-04T10:03:30Z</dcterms:created>
  <dcterms:modified xsi:type="dcterms:W3CDTF">2024-08-20T05:44:08Z</dcterms:modified>
</cp:coreProperties>
</file>