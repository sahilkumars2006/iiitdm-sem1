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89" r:id="rId7"/>
    <p:sldId id="259" r:id="rId8"/>
    <p:sldId id="290"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91" r:id="rId25"/>
    <p:sldId id="275" r:id="rId26"/>
    <p:sldId id="276" r:id="rId27"/>
    <p:sldId id="277" r:id="rId28"/>
    <p:sldId id="278" r:id="rId29"/>
    <p:sldId id="279" r:id="rId30"/>
    <p:sldId id="280" r:id="rId31"/>
    <p:sldId id="281" r:id="rId32"/>
    <p:sldId id="282" r:id="rId33"/>
    <p:sldId id="283" r:id="rId34"/>
    <p:sldId id="284" r:id="rId35"/>
    <p:sldId id="285" r:id="rId36"/>
    <p:sldId id="292" r:id="rId37"/>
    <p:sldId id="286" r:id="rId38"/>
    <p:sldId id="287" r:id="rId39"/>
    <p:sldId id="28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B1E19-955A-456C-9E5D-553061E3F00B}"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BC38F-76A6-475D-9A87-1AA0B17BE2AC}"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60E4E50-9F75-4DA7-AD0F-4A53F33CAD7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E8A9829-FB65-4A74-B93B-A2AC0DB3CA32}"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AFC48FA-12EB-49D9-9A61-EBD84431EF7A}"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FFE4C9B-7394-44BA-BD30-2FF87C825A48}"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3AE86D17-2118-47D8-B830-EFA5A080548D}"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1DE7C01-0CB4-4708-85FC-6ABDAE56C6E9}"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8FCED3-45F8-402A-AA03-55028586046B}"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DB632DD-8FE3-42BF-9189-77504FF52A2E}"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D37DCB7-B57A-4F0A-B618-78C9CD8220ED}"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0C19BBA-3CEC-4F9D-8CFD-0F564BA72DCF}"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3342067-29E4-4E30-A301-5F219282EE4A}"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5A31BE-42BD-4507-AD17-26440FDCE293}"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B3AEBA-54C1-46AE-B9E9-BABC12F758A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image" Target="../media/image4.emf"/></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7.emf"/><Relationship Id="rId2" Type="http://schemas.openxmlformats.org/officeDocument/2006/relationships/image" Target="../media/image14.emf"/><Relationship Id="rId1" Type="http://schemas.openxmlformats.org/officeDocument/2006/relationships/image" Target="../media/image13.emf"/></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image" Target="../media/image18.emf"/></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20.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image" Target="../media/image25.emf"/></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1.emf"/><Relationship Id="rId4" Type="http://schemas.openxmlformats.org/officeDocument/2006/relationships/image" Target="../media/image30.emf"/><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image" Target="../media/image27.e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image" Target="../media/image33.emf"/></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emf"/><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jpeg"/><Relationship Id="rId1" Type="http://schemas.openxmlformats.org/officeDocument/2006/relationships/image" Target="../media/image4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emf"/></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jpeg"/><Relationship Id="rId1" Type="http://schemas.openxmlformats.org/officeDocument/2006/relationships/image" Target="../media/image47.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emf"/></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emf"/><Relationship Id="rId1" Type="http://schemas.openxmlformats.org/officeDocument/2006/relationships/image" Target="../media/image50.e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emf"/><Relationship Id="rId1" Type="http://schemas.openxmlformats.org/officeDocument/2006/relationships/image" Target="../media/image52.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7.png"/><Relationship Id="rId2" Type="http://schemas.openxmlformats.org/officeDocument/2006/relationships/image" Target="../media/image56.emf"/><Relationship Id="rId1" Type="http://schemas.openxmlformats.org/officeDocument/2006/relationships/image" Target="../media/image55.emf"/></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referRelativeResize="0">
            <a:picLocks noChangeAspect="1"/>
          </p:cNvPicPr>
          <p:nvPr/>
        </p:nvPicPr>
        <p:blipFill rotWithShape="1">
          <a:blip r:embed="rId1" cstate="print">
            <a:extLst>
              <a:ext uri="{28A0092B-C50C-407E-A947-70E740481C1C}">
                <a14:useLocalDpi xmlns:a14="http://schemas.microsoft.com/office/drawing/2010/main" val="0"/>
              </a:ext>
            </a:extLst>
          </a:blip>
          <a:srcRect l="6353" t="5329" r="5306" b="2876"/>
          <a:stretch>
            <a:fillRect/>
          </a:stretch>
        </p:blipFill>
        <p:spPr>
          <a:xfrm>
            <a:off x="8707278" y="6"/>
            <a:ext cx="2700843" cy="2700843"/>
          </a:xfrm>
          <a:prstGeom prst="rect">
            <a:avLst/>
          </a:prstGeom>
        </p:spPr>
      </p:pic>
      <p:sp>
        <p:nvSpPr>
          <p:cNvPr id="7" name="Title 1"/>
          <p:cNvSpPr txBox="1"/>
          <p:nvPr/>
        </p:nvSpPr>
        <p:spPr>
          <a:xfrm>
            <a:off x="0" y="3053892"/>
            <a:ext cx="12192000" cy="701731"/>
          </a:xfrm>
          <a:prstGeom prst="rect">
            <a:avLst/>
          </a:prstGeom>
          <a:solidFill>
            <a:schemeClr val="tx2">
              <a:lumMod val="20000"/>
              <a:lumOff val="80000"/>
            </a:schemeClr>
          </a:solidFill>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400" dirty="0">
                <a:latin typeface="+mn-lt"/>
                <a:ea typeface="+mn-ea"/>
                <a:cs typeface="+mn-cs"/>
              </a:rPr>
              <a:t>Ceramics</a:t>
            </a:r>
            <a:endParaRPr lang="en-IN" sz="4400" dirty="0">
              <a:latin typeface="+mn-lt"/>
              <a:ea typeface="+mn-ea"/>
              <a:cs typeface="+mn-cs"/>
            </a:endParaRPr>
          </a:p>
        </p:txBody>
      </p:sp>
      <p:sp>
        <p:nvSpPr>
          <p:cNvPr id="8" name="Subtitle 2"/>
          <p:cNvSpPr txBox="1"/>
          <p:nvPr/>
        </p:nvSpPr>
        <p:spPr>
          <a:xfrm>
            <a:off x="1387522" y="4121624"/>
            <a:ext cx="9144000" cy="1450074"/>
          </a:xfrm>
          <a:prstGeom prst="rect">
            <a:avLst/>
          </a:prstGeom>
        </p:spPr>
        <p:txBody>
          <a:bodyPr vert="horz" lIns="91440" tIns="45720" rIns="91440" bIns="45720" rtlCol="0" anchor="ctr">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b="1" dirty="0"/>
              <a:t> </a:t>
            </a:r>
            <a:endParaRPr lang="en-IN" b="1" dirty="0"/>
          </a:p>
          <a:p>
            <a:r>
              <a:rPr lang="en-IN" b="1" dirty="0"/>
              <a:t> </a:t>
            </a:r>
            <a:endParaRPr lang="en-IN" b="1" dirty="0"/>
          </a:p>
          <a:p>
            <a:r>
              <a:rPr lang="en-IN" b="1" dirty="0" err="1"/>
              <a:t>Dr.</a:t>
            </a:r>
            <a:r>
              <a:rPr lang="en-IN" b="1" dirty="0"/>
              <a:t> J. </a:t>
            </a:r>
            <a:r>
              <a:rPr lang="en-IN" b="1" dirty="0" err="1"/>
              <a:t>Venkatramani</a:t>
            </a:r>
            <a:endParaRPr lang="en-IN" b="1" dirty="0"/>
          </a:p>
          <a:p>
            <a:r>
              <a:rPr lang="en-IN" b="1" dirty="0"/>
              <a:t>219-B</a:t>
            </a:r>
            <a:endParaRPr lang="en-IN" b="1" dirty="0"/>
          </a:p>
          <a:p>
            <a:r>
              <a:rPr lang="en-IN" b="1"/>
              <a:t>venkatramani@iiitdm.ac.in</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Ceramics</a:t>
            </a:r>
            <a:endParaRPr lang="en-IN" sz="2800" dirty="0"/>
          </a:p>
        </p:txBody>
      </p:sp>
      <p:sp>
        <p:nvSpPr>
          <p:cNvPr id="9" name="TextBox 8"/>
          <p:cNvSpPr txBox="1"/>
          <p:nvPr/>
        </p:nvSpPr>
        <p:spPr>
          <a:xfrm>
            <a:off x="0" y="523220"/>
            <a:ext cx="12192000" cy="1938992"/>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Inorganic and non – metallic</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Compounds between metallic and non – metallic elements; ionic bonding or covalent bonding.</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Name derived from the Greek word </a:t>
            </a:r>
            <a:r>
              <a:rPr lang="en-IN" sz="2000" i="1" dirty="0">
                <a:latin typeface="Times New Roman" panose="02020603050405020304" pitchFamily="18" charset="0"/>
                <a:cs typeface="Times New Roman" panose="02020603050405020304" pitchFamily="18" charset="0"/>
              </a:rPr>
              <a:t>“</a:t>
            </a:r>
            <a:r>
              <a:rPr lang="en-IN" sz="2000" i="1" dirty="0" err="1">
                <a:latin typeface="Times New Roman" panose="02020603050405020304" pitchFamily="18" charset="0"/>
                <a:cs typeface="Times New Roman" panose="02020603050405020304" pitchFamily="18" charset="0"/>
              </a:rPr>
              <a:t>keeramikos</a:t>
            </a:r>
            <a:r>
              <a:rPr lang="en-IN" sz="2000" i="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meaning burnt stuff. Polymer derived Ceramics are one of the recent examples indicating this meaning.</a:t>
            </a:r>
            <a:endParaRPr lang="en-IN" sz="2000" i="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6875416" y="2150405"/>
            <a:ext cx="5216505" cy="4205945"/>
          </a:xfrm>
          <a:prstGeom prst="rect">
            <a:avLst/>
          </a:prstGeom>
        </p:spPr>
      </p:pic>
      <p:pic>
        <p:nvPicPr>
          <p:cNvPr id="2" name="Picture 1"/>
          <p:cNvPicPr>
            <a:picLocks noChangeAspect="1"/>
          </p:cNvPicPr>
          <p:nvPr/>
        </p:nvPicPr>
        <p:blipFill>
          <a:blip r:embed="rId2"/>
          <a:stretch>
            <a:fillRect/>
          </a:stretch>
        </p:blipFill>
        <p:spPr>
          <a:xfrm>
            <a:off x="59856" y="3452885"/>
            <a:ext cx="6728778" cy="477670"/>
          </a:xfrm>
          <a:prstGeom prst="rect">
            <a:avLst/>
          </a:prstGeom>
        </p:spPr>
      </p:pic>
      <p:sp>
        <p:nvSpPr>
          <p:cNvPr id="7" name="TextBox 6"/>
          <p:cNvSpPr txBox="1"/>
          <p:nvPr/>
        </p:nvSpPr>
        <p:spPr>
          <a:xfrm>
            <a:off x="59856" y="4052233"/>
            <a:ext cx="3829756" cy="400110"/>
          </a:xfrm>
          <a:prstGeom prst="rect">
            <a:avLst/>
          </a:prstGeom>
          <a:noFill/>
        </p:spPr>
        <p:txBody>
          <a:bodyPr wrap="square" rtlCol="0">
            <a:spAutoFit/>
          </a:bodyPr>
          <a:lstStyle/>
          <a:p>
            <a:pPr algn="just"/>
            <a:r>
              <a:rPr lang="en-IN" sz="2000" i="1" dirty="0">
                <a:latin typeface="Times New Roman" panose="02020603050405020304" pitchFamily="18" charset="0"/>
                <a:cs typeface="Times New Roman" panose="02020603050405020304" pitchFamily="18" charset="0"/>
              </a:rPr>
              <a:t>X</a:t>
            </a:r>
            <a:r>
              <a:rPr lang="en-IN" sz="2000" i="1" baseline="-25000" dirty="0">
                <a:latin typeface="Times New Roman" panose="02020603050405020304" pitchFamily="18" charset="0"/>
                <a:cs typeface="Times New Roman" panose="02020603050405020304" pitchFamily="18" charset="0"/>
              </a:rPr>
              <a:t>A</a:t>
            </a:r>
            <a:r>
              <a:rPr lang="en-IN" sz="2000" dirty="0">
                <a:latin typeface="Times New Roman" panose="02020603050405020304" pitchFamily="18" charset="0"/>
                <a:cs typeface="Times New Roman" panose="02020603050405020304" pitchFamily="18" charset="0"/>
              </a:rPr>
              <a:t> and </a:t>
            </a:r>
            <a:r>
              <a:rPr lang="en-IN" sz="2000" i="1" dirty="0">
                <a:latin typeface="Times New Roman" panose="02020603050405020304" pitchFamily="18" charset="0"/>
                <a:cs typeface="Times New Roman" panose="02020603050405020304" pitchFamily="18" charset="0"/>
              </a:rPr>
              <a:t>X</a:t>
            </a:r>
            <a:r>
              <a:rPr lang="en-IN" sz="2000" i="1" baseline="-25000" dirty="0">
                <a:latin typeface="Times New Roman" panose="02020603050405020304" pitchFamily="18" charset="0"/>
                <a:cs typeface="Times New Roman" panose="02020603050405020304" pitchFamily="18" charset="0"/>
              </a:rPr>
              <a:t>B</a:t>
            </a:r>
            <a:r>
              <a:rPr lang="en-IN" sz="2000" dirty="0">
                <a:latin typeface="Times New Roman" panose="02020603050405020304" pitchFamily="18" charset="0"/>
                <a:cs typeface="Times New Roman" panose="02020603050405020304" pitchFamily="18" charset="0"/>
              </a:rPr>
              <a:t> are </a:t>
            </a:r>
            <a:r>
              <a:rPr lang="en-IN" sz="2000" dirty="0" err="1">
                <a:latin typeface="Times New Roman" panose="02020603050405020304" pitchFamily="18" charset="0"/>
                <a:cs typeface="Times New Roman" panose="02020603050405020304" pitchFamily="18" charset="0"/>
              </a:rPr>
              <a:t>electronegativities</a:t>
            </a:r>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 – Crystal structures</a:t>
            </a:r>
            <a:endParaRPr lang="en-IN" sz="2800" dirty="0"/>
          </a:p>
        </p:txBody>
      </p:sp>
      <p:sp>
        <p:nvSpPr>
          <p:cNvPr id="9" name="TextBox 8"/>
          <p:cNvSpPr txBox="1"/>
          <p:nvPr/>
        </p:nvSpPr>
        <p:spPr>
          <a:xfrm>
            <a:off x="0" y="523220"/>
            <a:ext cx="5937053"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For ionic ceramics, crystal structures depend on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magnitude of electrical charge on each ion</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Size of the ions – </a:t>
            </a:r>
            <a:r>
              <a:rPr lang="en-IN" sz="2000" dirty="0" err="1">
                <a:latin typeface="Times New Roman" panose="02020603050405020304" pitchFamily="18" charset="0"/>
                <a:cs typeface="Times New Roman" panose="02020603050405020304" pitchFamily="18" charset="0"/>
              </a:rPr>
              <a:t>Cations</a:t>
            </a:r>
            <a:r>
              <a:rPr lang="en-IN" sz="2000" dirty="0">
                <a:latin typeface="Times New Roman" panose="02020603050405020304" pitchFamily="18" charset="0"/>
                <a:cs typeface="Times New Roman" panose="02020603050405020304" pitchFamily="18" charset="0"/>
              </a:rPr>
              <a:t> are smaller than Anions.</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180690" y="2693214"/>
            <a:ext cx="4484152" cy="1837843"/>
          </a:xfrm>
          <a:prstGeom prst="rect">
            <a:avLst/>
          </a:prstGeom>
        </p:spPr>
      </p:pic>
      <p:pic>
        <p:nvPicPr>
          <p:cNvPr id="6" name="Picture 5"/>
          <p:cNvPicPr>
            <a:picLocks noChangeAspect="1"/>
          </p:cNvPicPr>
          <p:nvPr/>
        </p:nvPicPr>
        <p:blipFill>
          <a:blip r:embed="rId2"/>
          <a:stretch>
            <a:fillRect/>
          </a:stretch>
        </p:blipFill>
        <p:spPr>
          <a:xfrm>
            <a:off x="7683690" y="0"/>
            <a:ext cx="4508310" cy="6844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 – Crystal structures</a:t>
            </a:r>
            <a:endParaRPr lang="en-IN" sz="2800" dirty="0"/>
          </a:p>
        </p:txBody>
      </p:sp>
      <p:sp>
        <p:nvSpPr>
          <p:cNvPr id="9" name="TextBox 8"/>
          <p:cNvSpPr txBox="1"/>
          <p:nvPr/>
        </p:nvSpPr>
        <p:spPr>
          <a:xfrm>
            <a:off x="0" y="523220"/>
            <a:ext cx="5937053"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For ionic ceramics, crystal structures depend on</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magnitude of electrical charge on each ion</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Size of the ions – </a:t>
            </a:r>
            <a:r>
              <a:rPr lang="en-IN" sz="2000" dirty="0" err="1">
                <a:latin typeface="Times New Roman" panose="02020603050405020304" pitchFamily="18" charset="0"/>
                <a:cs typeface="Times New Roman" panose="02020603050405020304" pitchFamily="18" charset="0"/>
              </a:rPr>
              <a:t>Cations</a:t>
            </a:r>
            <a:r>
              <a:rPr lang="en-IN" sz="2000" dirty="0">
                <a:latin typeface="Times New Roman" panose="02020603050405020304" pitchFamily="18" charset="0"/>
                <a:cs typeface="Times New Roman" panose="02020603050405020304" pitchFamily="18" charset="0"/>
              </a:rPr>
              <a:t> are smaller than Anions.</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180690" y="2693214"/>
            <a:ext cx="4484152" cy="1837843"/>
          </a:xfrm>
          <a:prstGeom prst="rect">
            <a:avLst/>
          </a:prstGeom>
        </p:spPr>
      </p:pic>
      <p:pic>
        <p:nvPicPr>
          <p:cNvPr id="5" name="Picture 4"/>
          <p:cNvPicPr>
            <a:picLocks noChangeAspect="1"/>
          </p:cNvPicPr>
          <p:nvPr/>
        </p:nvPicPr>
        <p:blipFill>
          <a:blip r:embed="rId2"/>
          <a:stretch>
            <a:fillRect/>
          </a:stretch>
        </p:blipFill>
        <p:spPr>
          <a:xfrm>
            <a:off x="5949501" y="0"/>
            <a:ext cx="6242499" cy="4107976"/>
          </a:xfrm>
          <a:prstGeom prst="rect">
            <a:avLst/>
          </a:prstGeom>
        </p:spPr>
      </p:pic>
      <p:sp>
        <p:nvSpPr>
          <p:cNvPr id="7" name="Rectangle 6"/>
          <p:cNvSpPr/>
          <p:nvPr/>
        </p:nvSpPr>
        <p:spPr>
          <a:xfrm>
            <a:off x="6364406" y="4107976"/>
            <a:ext cx="4799463" cy="707886"/>
          </a:xfrm>
          <a:prstGeom prst="rect">
            <a:avLst/>
          </a:prstGeom>
        </p:spPr>
        <p:txBody>
          <a:bodyPr wrap="square">
            <a:spAutoFit/>
          </a:bodyPr>
          <a:lstStyle/>
          <a:p>
            <a:pPr algn="ctr"/>
            <a:r>
              <a:rPr lang="en-US" sz="2000" dirty="0">
                <a:latin typeface="Times New Roman" panose="02020603050405020304" pitchFamily="18" charset="0"/>
                <a:cs typeface="Times New Roman" panose="02020603050405020304" pitchFamily="18" charset="0"/>
              </a:rPr>
              <a:t>Ionic Radii for Several </a:t>
            </a:r>
            <a:r>
              <a:rPr lang="en-US" sz="2000" dirty="0" err="1">
                <a:latin typeface="Times New Roman" panose="02020603050405020304" pitchFamily="18" charset="0"/>
                <a:cs typeface="Times New Roman" panose="02020603050405020304" pitchFamily="18" charset="0"/>
              </a:rPr>
              <a:t>Cations</a:t>
            </a:r>
            <a:r>
              <a:rPr lang="en-US" sz="2000" dirty="0">
                <a:latin typeface="Times New Roman" panose="02020603050405020304" pitchFamily="18" charset="0"/>
                <a:cs typeface="Times New Roman" panose="02020603050405020304" pitchFamily="18" charset="0"/>
              </a:rPr>
              <a:t> and Anions</a:t>
            </a: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(for a Coordination Number of 6)</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AX Type Crystal structures</a:t>
            </a:r>
            <a:endParaRPr lang="en-IN" sz="2800" dirty="0"/>
          </a:p>
        </p:txBody>
      </p:sp>
      <p:sp>
        <p:nvSpPr>
          <p:cNvPr id="9" name="TextBox 8"/>
          <p:cNvSpPr txBox="1"/>
          <p:nvPr/>
        </p:nvSpPr>
        <p:spPr>
          <a:xfrm>
            <a:off x="0" y="523220"/>
            <a:ext cx="5937053" cy="1015663"/>
          </a:xfrm>
          <a:prstGeom prst="rect">
            <a:avLst/>
          </a:prstGeom>
          <a:noFill/>
        </p:spPr>
        <p:txBody>
          <a:bodyPr wrap="square" rtlCol="0">
            <a:spAutoFit/>
          </a:bodyPr>
          <a:lstStyle/>
          <a:p>
            <a:pPr algn="just"/>
            <a:r>
              <a:rPr lang="en-IN" sz="2000" dirty="0" err="1">
                <a:latin typeface="Times New Roman" panose="02020603050405020304" pitchFamily="18" charset="0"/>
                <a:cs typeface="Times New Roman" panose="02020603050405020304" pitchFamily="18" charset="0"/>
              </a:rPr>
              <a:t>NaCl</a:t>
            </a:r>
            <a:r>
              <a:rPr lang="en-IN" sz="2000" dirty="0">
                <a:latin typeface="Times New Roman" panose="02020603050405020304" pitchFamily="18" charset="0"/>
                <a:cs typeface="Times New Roman" panose="02020603050405020304" pitchFamily="18" charset="0"/>
              </a:rPr>
              <a:t> – Rock Salt:</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Co–ordination number = 6</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3622729" y="1538883"/>
            <a:ext cx="4301101" cy="4847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AX Type Crystal structures</a:t>
            </a:r>
            <a:endParaRPr lang="en-IN" sz="2800" dirty="0"/>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sp>
        <p:nvSpPr>
          <p:cNvPr id="8" name="TextBox 7"/>
          <p:cNvSpPr txBox="1"/>
          <p:nvPr/>
        </p:nvSpPr>
        <p:spPr>
          <a:xfrm>
            <a:off x="0" y="523220"/>
            <a:ext cx="5937053" cy="1015663"/>
          </a:xfrm>
          <a:prstGeom prst="rect">
            <a:avLst/>
          </a:prstGeom>
          <a:noFill/>
        </p:spPr>
        <p:txBody>
          <a:bodyPr wrap="square" rtlCol="0">
            <a:spAutoFit/>
          </a:bodyPr>
          <a:lstStyle/>
          <a:p>
            <a:pPr algn="just"/>
            <a:r>
              <a:rPr lang="en-IN" sz="2000" dirty="0" err="1">
                <a:latin typeface="Times New Roman" panose="02020603050405020304" pitchFamily="18" charset="0"/>
                <a:cs typeface="Times New Roman" panose="02020603050405020304" pitchFamily="18" charset="0"/>
              </a:rPr>
              <a:t>Cesium</a:t>
            </a:r>
            <a:r>
              <a:rPr lang="en-IN" sz="2000" dirty="0">
                <a:latin typeface="Times New Roman" panose="02020603050405020304" pitchFamily="18" charset="0"/>
                <a:cs typeface="Times New Roman" panose="02020603050405020304" pitchFamily="18" charset="0"/>
              </a:rPr>
              <a:t> Chloride</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Co–ordination number = 8</a:t>
            </a:r>
            <a:endParaRPr lang="en-IN"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3515613" y="1488207"/>
            <a:ext cx="4249963" cy="50507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AX Type Crystal structures</a:t>
            </a:r>
            <a:endParaRPr lang="en-IN" sz="2800" dirty="0"/>
          </a:p>
        </p:txBody>
      </p:sp>
      <p:sp>
        <p:nvSpPr>
          <p:cNvPr id="9" name="TextBox 8"/>
          <p:cNvSpPr txBox="1"/>
          <p:nvPr/>
        </p:nvSpPr>
        <p:spPr>
          <a:xfrm>
            <a:off x="0" y="523220"/>
            <a:ext cx="5937053"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Zn – Blende Structure (</a:t>
            </a:r>
            <a:r>
              <a:rPr lang="en-IN" sz="2000" dirty="0" err="1">
                <a:latin typeface="Times New Roman" panose="02020603050405020304" pitchFamily="18" charset="0"/>
                <a:cs typeface="Times New Roman" panose="02020603050405020304" pitchFamily="18" charset="0"/>
              </a:rPr>
              <a:t>ZnS</a:t>
            </a:r>
            <a:r>
              <a:rPr lang="en-IN" sz="2000" dirty="0">
                <a:latin typeface="Times New Roman" panose="02020603050405020304" pitchFamily="18" charset="0"/>
                <a:cs typeface="Times New Roman" panose="02020603050405020304" pitchFamily="18" charset="0"/>
              </a:rPr>
              <a:t>) or </a:t>
            </a:r>
            <a:r>
              <a:rPr lang="en-IN" sz="2000" dirty="0" err="1">
                <a:latin typeface="Times New Roman" panose="02020603050405020304" pitchFamily="18" charset="0"/>
                <a:cs typeface="Times New Roman" panose="02020603050405020304" pitchFamily="18" charset="0"/>
              </a:rPr>
              <a:t>Sphalerite</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Co – ordination number = 4</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 atoms at the corner and face </a:t>
            </a:r>
            <a:r>
              <a:rPr lang="en-IN" sz="2000" dirty="0" err="1">
                <a:latin typeface="Times New Roman" panose="02020603050405020304" pitchFamily="18" charset="0"/>
                <a:cs typeface="Times New Roman" panose="02020603050405020304" pitchFamily="18" charset="0"/>
              </a:rPr>
              <a:t>centers</a:t>
            </a:r>
            <a:r>
              <a:rPr lang="en-IN" sz="2000" dirty="0">
                <a:latin typeface="Times New Roman" panose="02020603050405020304" pitchFamily="18" charset="0"/>
                <a:cs typeface="Times New Roman" panose="02020603050405020304" pitchFamily="18" charset="0"/>
              </a:rPr>
              <a:t>, while, Zn occupies interior tetrahedral positions.</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6428096" y="658462"/>
            <a:ext cx="4738185" cy="55626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err="1"/>
              <a:t>A</a:t>
            </a:r>
            <a:r>
              <a:rPr lang="en-IN" sz="2800" baseline="-25000" dirty="0" err="1"/>
              <a:t>m</a:t>
            </a:r>
            <a:r>
              <a:rPr lang="en-IN" sz="2800" dirty="0" err="1"/>
              <a:t>X</a:t>
            </a:r>
            <a:r>
              <a:rPr lang="en-IN" sz="2800" baseline="-25000" dirty="0" err="1"/>
              <a:t>p</a:t>
            </a:r>
            <a:r>
              <a:rPr lang="en-IN" sz="2800" dirty="0"/>
              <a:t> Type Crystal structures</a:t>
            </a:r>
            <a:endParaRPr lang="en-IN" sz="2800" dirty="0"/>
          </a:p>
        </p:txBody>
      </p:sp>
      <p:sp>
        <p:nvSpPr>
          <p:cNvPr id="9" name="TextBox 8"/>
          <p:cNvSpPr txBox="1"/>
          <p:nvPr/>
        </p:nvSpPr>
        <p:spPr>
          <a:xfrm>
            <a:off x="0" y="523220"/>
            <a:ext cx="5937053" cy="707886"/>
          </a:xfrm>
          <a:prstGeom prst="rect">
            <a:avLst/>
          </a:prstGeom>
          <a:noFill/>
        </p:spPr>
        <p:txBody>
          <a:bodyPr wrap="square" rtlCol="0">
            <a:spAutoFit/>
          </a:bodyPr>
          <a:lstStyle/>
          <a:p>
            <a:pPr algn="just"/>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CaF</a:t>
            </a:r>
            <a:r>
              <a:rPr lang="en-IN" sz="2000" baseline="-25000" dirty="0">
                <a:latin typeface="Times New Roman" panose="02020603050405020304" pitchFamily="18" charset="0"/>
                <a:cs typeface="Times New Roman" panose="02020603050405020304" pitchFamily="18" charset="0"/>
              </a:rPr>
              <a:t>2</a:t>
            </a:r>
            <a:endParaRPr lang="en-IN" sz="2000" baseline="-25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Co – ordination number = 8</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6996573" y="752245"/>
            <a:ext cx="3729429" cy="41520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err="1"/>
              <a:t>A</a:t>
            </a:r>
            <a:r>
              <a:rPr lang="en-IN" sz="2800" baseline="-25000" dirty="0" err="1"/>
              <a:t>m</a:t>
            </a:r>
            <a:r>
              <a:rPr lang="en-IN" sz="2800" dirty="0" err="1"/>
              <a:t>B</a:t>
            </a:r>
            <a:r>
              <a:rPr lang="en-IN" sz="2800" baseline="-25000" dirty="0" err="1"/>
              <a:t>n</a:t>
            </a:r>
            <a:r>
              <a:rPr lang="en-IN" sz="2800" dirty="0" err="1"/>
              <a:t>X</a:t>
            </a:r>
            <a:r>
              <a:rPr lang="en-IN" sz="2800" baseline="-25000" dirty="0" err="1"/>
              <a:t>p</a:t>
            </a:r>
            <a:r>
              <a:rPr lang="en-IN" sz="2800" dirty="0"/>
              <a:t> Type Crystal structures</a:t>
            </a:r>
            <a:endParaRPr lang="en-IN" sz="2800" dirty="0"/>
          </a:p>
        </p:txBody>
      </p:sp>
      <p:sp>
        <p:nvSpPr>
          <p:cNvPr id="9" name="TextBox 8"/>
          <p:cNvSpPr txBox="1"/>
          <p:nvPr/>
        </p:nvSpPr>
        <p:spPr>
          <a:xfrm>
            <a:off x="0" y="523220"/>
            <a:ext cx="5937053" cy="1631216"/>
          </a:xfrm>
          <a:prstGeom prst="rect">
            <a:avLst/>
          </a:prstGeom>
          <a:noFill/>
        </p:spPr>
        <p:txBody>
          <a:bodyPr wrap="square" rtlCol="0">
            <a:spAutoFit/>
          </a:bodyPr>
          <a:lstStyle/>
          <a:p>
            <a:pPr algn="just"/>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BaTiO</a:t>
            </a:r>
            <a:r>
              <a:rPr lang="en-IN" sz="2000" baseline="-25000" dirty="0">
                <a:latin typeface="Times New Roman" panose="02020603050405020304" pitchFamily="18" charset="0"/>
                <a:cs typeface="Times New Roman" panose="02020603050405020304" pitchFamily="18" charset="0"/>
              </a:rPr>
              <a:t>3</a:t>
            </a:r>
            <a:endParaRPr lang="en-IN" sz="2000" baseline="-25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crystal structure is called </a:t>
            </a:r>
            <a:r>
              <a:rPr lang="en-IN" sz="2000" dirty="0" err="1">
                <a:latin typeface="Times New Roman" panose="02020603050405020304" pitchFamily="18" charset="0"/>
                <a:cs typeface="Times New Roman" panose="02020603050405020304" pitchFamily="18" charset="0"/>
              </a:rPr>
              <a:t>Perovskite</a:t>
            </a:r>
            <a:r>
              <a:rPr lang="en-IN" sz="2000" dirty="0">
                <a:latin typeface="Times New Roman" panose="02020603050405020304" pitchFamily="18" charset="0"/>
                <a:cs typeface="Times New Roman" panose="02020603050405020304" pitchFamily="18" charset="0"/>
              </a:rPr>
              <a:t> type.</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Has good electromechanical properties – suitable for applications in piezoelectric transducers.</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8234851" y="617159"/>
            <a:ext cx="3711538" cy="41868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Close – Packed Planes of Anions</a:t>
            </a:r>
            <a:endParaRPr lang="en-IN" sz="2800" dirty="0"/>
          </a:p>
        </p:txBody>
      </p:sp>
      <p:sp>
        <p:nvSpPr>
          <p:cNvPr id="9" name="TextBox 8"/>
          <p:cNvSpPr txBox="1"/>
          <p:nvPr/>
        </p:nvSpPr>
        <p:spPr>
          <a:xfrm>
            <a:off x="0" y="523220"/>
            <a:ext cx="11150221"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Similar to metals, Ceramic materials too have close packed planes and stacking sequence.</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413442" y="1446550"/>
            <a:ext cx="11575062" cy="36167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Theoretical density computation</a:t>
            </a:r>
            <a:endParaRPr lang="en-IN" sz="2800" dirty="0"/>
          </a:p>
        </p:txBody>
      </p:sp>
      <p:sp>
        <p:nvSpPr>
          <p:cNvPr id="9" name="TextBox 8"/>
          <p:cNvSpPr txBox="1"/>
          <p:nvPr/>
        </p:nvSpPr>
        <p:spPr>
          <a:xfrm>
            <a:off x="0" y="523220"/>
            <a:ext cx="11150221" cy="707886"/>
          </a:xfrm>
          <a:prstGeom prst="rect">
            <a:avLst/>
          </a:prstGeom>
          <a:noFill/>
        </p:spPr>
        <p:txBody>
          <a:bodyPr wrap="square" rtlCol="0">
            <a:spAutoFit/>
          </a:bodyPr>
          <a:lstStyle/>
          <a:p>
            <a:pPr algn="just"/>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NaCl</a:t>
            </a:r>
            <a:r>
              <a:rPr lang="en-IN" sz="2000" dirty="0">
                <a:latin typeface="Times New Roman" panose="02020603050405020304" pitchFamily="18" charset="0"/>
                <a:cs typeface="Times New Roman" panose="02020603050405020304" pitchFamily="18" charset="0"/>
              </a:rPr>
              <a:t>. Required data: Atomic weights of Na and Cl are 22.99 g/</a:t>
            </a:r>
            <a:r>
              <a:rPr lang="en-IN" sz="2000" dirty="0" err="1">
                <a:latin typeface="Times New Roman" panose="02020603050405020304" pitchFamily="18" charset="0"/>
                <a:cs typeface="Times New Roman" panose="02020603050405020304" pitchFamily="18" charset="0"/>
              </a:rPr>
              <a:t>mol</a:t>
            </a:r>
            <a:r>
              <a:rPr lang="en-IN" sz="2000" dirty="0">
                <a:latin typeface="Times New Roman" panose="02020603050405020304" pitchFamily="18" charset="0"/>
                <a:cs typeface="Times New Roman" panose="02020603050405020304" pitchFamily="18" charset="0"/>
              </a:rPr>
              <a:t> and 35.45 g/mol. Radii of Na</a:t>
            </a:r>
            <a:r>
              <a:rPr lang="en-IN" sz="2000" baseline="30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and Cl</a:t>
            </a:r>
            <a:r>
              <a:rPr lang="en-IN" sz="2000" baseline="30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are 0.102 nm and 0.181 nm, respectively.</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3560648" y="1296424"/>
            <a:ext cx="3077538" cy="1023695"/>
          </a:xfrm>
          <a:prstGeom prst="rect">
            <a:avLst/>
          </a:prstGeom>
        </p:spPr>
      </p:pic>
      <p:pic>
        <p:nvPicPr>
          <p:cNvPr id="6" name="Picture 5"/>
          <p:cNvPicPr>
            <a:picLocks noChangeAspect="1"/>
          </p:cNvPicPr>
          <p:nvPr/>
        </p:nvPicPr>
        <p:blipFill>
          <a:blip r:embed="rId2"/>
          <a:stretch>
            <a:fillRect/>
          </a:stretch>
        </p:blipFill>
        <p:spPr>
          <a:xfrm>
            <a:off x="403727" y="2416834"/>
            <a:ext cx="2830792" cy="3612557"/>
          </a:xfrm>
          <a:prstGeom prst="rect">
            <a:avLst/>
          </a:prstGeom>
        </p:spPr>
      </p:pic>
      <p:pic>
        <p:nvPicPr>
          <p:cNvPr id="8" name="Picture 7"/>
          <p:cNvPicPr>
            <a:picLocks noChangeAspect="1"/>
          </p:cNvPicPr>
          <p:nvPr/>
        </p:nvPicPr>
        <p:blipFill>
          <a:blip r:embed="rId3"/>
          <a:stretch>
            <a:fillRect/>
          </a:stretch>
        </p:blipFill>
        <p:spPr>
          <a:xfrm>
            <a:off x="7421367" y="1533155"/>
            <a:ext cx="4279315" cy="48231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Silicate Ceramics</a:t>
            </a:r>
            <a:endParaRPr lang="en-IN" sz="2800" dirty="0"/>
          </a:p>
        </p:txBody>
      </p:sp>
      <p:sp>
        <p:nvSpPr>
          <p:cNvPr id="9" name="TextBox 8"/>
          <p:cNvSpPr txBox="1"/>
          <p:nvPr/>
        </p:nvSpPr>
        <p:spPr>
          <a:xfrm>
            <a:off x="0" y="3607614"/>
            <a:ext cx="3862316"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fundamental unit of a silicate.</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0" y="523220"/>
            <a:ext cx="6796838" cy="2997902"/>
          </a:xfrm>
          <a:prstGeom prst="rect">
            <a:avLst/>
          </a:prstGeom>
        </p:spPr>
      </p:pic>
      <p:pic>
        <p:nvPicPr>
          <p:cNvPr id="7" name="Picture 6"/>
          <p:cNvPicPr>
            <a:picLocks noChangeAspect="1"/>
          </p:cNvPicPr>
          <p:nvPr/>
        </p:nvPicPr>
        <p:blipFill>
          <a:blip r:embed="rId2"/>
          <a:stretch>
            <a:fillRect/>
          </a:stretch>
        </p:blipFill>
        <p:spPr>
          <a:xfrm>
            <a:off x="7145360" y="1296967"/>
            <a:ext cx="4692041" cy="4912764"/>
          </a:xfrm>
          <a:prstGeom prst="rect">
            <a:avLst/>
          </a:prstGeom>
        </p:spPr>
      </p:pic>
      <p:sp>
        <p:nvSpPr>
          <p:cNvPr id="10" name="TextBox 9"/>
          <p:cNvSpPr txBox="1"/>
          <p:nvPr/>
        </p:nvSpPr>
        <p:spPr>
          <a:xfrm>
            <a:off x="7337694" y="6082986"/>
            <a:ext cx="4499707"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Structure of </a:t>
            </a:r>
            <a:r>
              <a:rPr lang="en-IN" sz="2000" dirty="0" err="1">
                <a:latin typeface="Times New Roman" panose="02020603050405020304" pitchFamily="18" charset="0"/>
                <a:cs typeface="Times New Roman" panose="02020603050405020304" pitchFamily="18" charset="0"/>
              </a:rPr>
              <a:t>Cristobalite</a:t>
            </a:r>
            <a:r>
              <a:rPr lang="en-IN" sz="2000" dirty="0">
                <a:latin typeface="Times New Roman" panose="02020603050405020304" pitchFamily="18" charset="0"/>
                <a:cs typeface="Times New Roman" panose="02020603050405020304" pitchFamily="18" charset="0"/>
              </a:rPr>
              <a:t>: a Crystalline polymorph of Silica</a:t>
            </a:r>
            <a:endParaRPr lang="en-IN"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0" y="4539631"/>
            <a:ext cx="6359856" cy="1015663"/>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Crystalline Silica has three polymorphs:</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Quartz, </a:t>
            </a:r>
            <a:r>
              <a:rPr lang="en-IN" sz="2000" dirty="0" err="1">
                <a:latin typeface="Times New Roman" panose="02020603050405020304" pitchFamily="18" charset="0"/>
                <a:cs typeface="Times New Roman" panose="02020603050405020304" pitchFamily="18" charset="0"/>
              </a:rPr>
              <a:t>Cristobalite</a:t>
            </a:r>
            <a:r>
              <a:rPr lang="en-IN" sz="2000" dirty="0">
                <a:latin typeface="Times New Roman" panose="02020603050405020304" pitchFamily="18" charset="0"/>
                <a:cs typeface="Times New Roman" panose="02020603050405020304" pitchFamily="18" charset="0"/>
              </a:rPr>
              <a:t> and </a:t>
            </a:r>
            <a:r>
              <a:rPr lang="en-IN" sz="2000" dirty="0" err="1">
                <a:latin typeface="Times New Roman" panose="02020603050405020304" pitchFamily="18" charset="0"/>
                <a:cs typeface="Times New Roman" panose="02020603050405020304" pitchFamily="18" charset="0"/>
              </a:rPr>
              <a:t>tridymite</a:t>
            </a:r>
            <a:r>
              <a:rPr lang="en-IN"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Low density (2.65 g/cc) and high melting point: 1710</a:t>
            </a:r>
            <a:r>
              <a:rPr lang="en-IN" sz="2000" baseline="30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C.</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Silicate Ceramics – Silica Glasses</a:t>
            </a:r>
            <a:endParaRPr lang="en-IN" sz="2800" dirty="0"/>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sp>
        <p:nvSpPr>
          <p:cNvPr id="12" name="TextBox 11"/>
          <p:cNvSpPr txBox="1"/>
          <p:nvPr/>
        </p:nvSpPr>
        <p:spPr>
          <a:xfrm>
            <a:off x="0" y="523220"/>
            <a:ext cx="12192000"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Fused silica or vitreous silica – they are called network formers.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Used for containers, windows.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Sodium–Silicate Glass</a:t>
            </a:r>
            <a:endParaRPr lang="en-IN" sz="20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7007683" y="582223"/>
            <a:ext cx="4346117" cy="57623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Silicate Ceramics – Other Silicates</a:t>
            </a:r>
            <a:endParaRPr lang="en-IN" sz="2800" dirty="0"/>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sp>
        <p:nvSpPr>
          <p:cNvPr id="12" name="TextBox 11"/>
          <p:cNvSpPr txBox="1"/>
          <p:nvPr/>
        </p:nvSpPr>
        <p:spPr>
          <a:xfrm>
            <a:off x="0" y="523220"/>
            <a:ext cx="12192000"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Other Silicates:</a:t>
            </a:r>
            <a:endParaRPr lang="en-IN"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5454443" y="523220"/>
            <a:ext cx="6620219" cy="5113305"/>
          </a:xfrm>
          <a:prstGeom prst="rect">
            <a:avLst/>
          </a:prstGeom>
        </p:spPr>
      </p:pic>
      <p:pic>
        <p:nvPicPr>
          <p:cNvPr id="6" name="Picture 5"/>
          <p:cNvPicPr>
            <a:picLocks noChangeAspect="1"/>
          </p:cNvPicPr>
          <p:nvPr/>
        </p:nvPicPr>
        <p:blipFill>
          <a:blip r:embed="rId2"/>
          <a:stretch>
            <a:fillRect/>
          </a:stretch>
        </p:blipFill>
        <p:spPr>
          <a:xfrm>
            <a:off x="355772" y="923330"/>
            <a:ext cx="3861385" cy="51262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Imperfections in Ceramics</a:t>
            </a:r>
            <a:endParaRPr lang="en-IN" sz="2800" dirty="0"/>
          </a:p>
        </p:txBody>
      </p:sp>
      <p:sp>
        <p:nvSpPr>
          <p:cNvPr id="3" name="Slide Number Placeholder 2"/>
          <p:cNvSpPr>
            <a:spLocks noGrp="1"/>
          </p:cNvSpPr>
          <p:nvPr>
            <p:ph type="sldNum" sz="quarter" idx="12"/>
          </p:nvPr>
        </p:nvSpPr>
        <p:spPr/>
        <p:txBody>
          <a:bodyPr/>
          <a:lstStyle/>
          <a:p>
            <a:fld id="{11B3AEBA-54C1-46AE-B9E9-BABC12F758AA}" type="slidenum">
              <a:rPr lang="en-IN" smtClean="0"/>
            </a:fld>
            <a:endParaRPr lang="en-IN"/>
          </a:p>
        </p:txBody>
      </p:sp>
      <p:pic>
        <p:nvPicPr>
          <p:cNvPr id="2" name="Picture 1"/>
          <p:cNvPicPr>
            <a:picLocks noChangeAspect="1"/>
          </p:cNvPicPr>
          <p:nvPr/>
        </p:nvPicPr>
        <p:blipFill>
          <a:blip r:embed="rId1"/>
          <a:stretch>
            <a:fillRect/>
          </a:stretch>
        </p:blipFill>
        <p:spPr>
          <a:xfrm>
            <a:off x="1" y="523220"/>
            <a:ext cx="5863196" cy="3798720"/>
          </a:xfrm>
          <a:prstGeom prst="rect">
            <a:avLst/>
          </a:prstGeom>
        </p:spPr>
      </p:pic>
      <p:pic>
        <p:nvPicPr>
          <p:cNvPr id="7" name="Picture 6"/>
          <p:cNvPicPr>
            <a:picLocks noChangeAspect="1"/>
          </p:cNvPicPr>
          <p:nvPr/>
        </p:nvPicPr>
        <p:blipFill>
          <a:blip r:embed="rId2"/>
          <a:stretch>
            <a:fillRect/>
          </a:stretch>
        </p:blipFill>
        <p:spPr>
          <a:xfrm>
            <a:off x="6081726" y="523220"/>
            <a:ext cx="5891745" cy="3571108"/>
          </a:xfrm>
          <a:prstGeom prst="rect">
            <a:avLst/>
          </a:prstGeom>
        </p:spPr>
      </p:pic>
      <p:pic>
        <p:nvPicPr>
          <p:cNvPr id="8" name="Picture 7"/>
          <p:cNvPicPr>
            <a:picLocks noChangeAspect="1"/>
          </p:cNvPicPr>
          <p:nvPr/>
        </p:nvPicPr>
        <p:blipFill>
          <a:blip r:embed="rId3"/>
          <a:stretch>
            <a:fillRect/>
          </a:stretch>
        </p:blipFill>
        <p:spPr>
          <a:xfrm>
            <a:off x="3073439" y="4321940"/>
            <a:ext cx="4555660" cy="24266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 Phase Diagrams – Al</a:t>
            </a:r>
            <a:r>
              <a:rPr lang="en-IN" sz="2800" baseline="-25000" dirty="0"/>
              <a:t>2</a:t>
            </a:r>
            <a:r>
              <a:rPr lang="en-IN" sz="2800" dirty="0"/>
              <a:t>O</a:t>
            </a:r>
            <a:r>
              <a:rPr lang="en-IN" sz="2800" baseline="-25000" dirty="0"/>
              <a:t>3</a:t>
            </a:r>
            <a:r>
              <a:rPr lang="en-IN" sz="2800" dirty="0"/>
              <a:t>–Cr</a:t>
            </a:r>
            <a:r>
              <a:rPr lang="en-IN" sz="2800" baseline="-25000" dirty="0"/>
              <a:t>2</a:t>
            </a:r>
            <a:r>
              <a:rPr lang="en-IN" sz="2800" dirty="0"/>
              <a:t>O</a:t>
            </a:r>
            <a:r>
              <a:rPr lang="en-IN" sz="2800" baseline="-25000" dirty="0"/>
              <a:t>3</a:t>
            </a:r>
            <a:r>
              <a:rPr lang="en-IN" sz="2800" dirty="0"/>
              <a:t> </a:t>
            </a:r>
            <a:endParaRPr lang="en-IN" sz="2800" dirty="0"/>
          </a:p>
        </p:txBody>
      </p:sp>
      <p:sp>
        <p:nvSpPr>
          <p:cNvPr id="6" name="Rectangle 5"/>
          <p:cNvSpPr/>
          <p:nvPr/>
        </p:nvSpPr>
        <p:spPr>
          <a:xfrm>
            <a:off x="0" y="523220"/>
            <a:ext cx="2384051" cy="369332"/>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A binary phase diagram</a:t>
            </a:r>
            <a:endParaRPr lang="en-IN"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4259333" y="523220"/>
            <a:ext cx="7731486" cy="597311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Mechanical Properties</a:t>
            </a:r>
            <a:endParaRPr lang="en-IN" sz="2800" dirty="0"/>
          </a:p>
        </p:txBody>
      </p:sp>
      <p:sp>
        <p:nvSpPr>
          <p:cNvPr id="6" name="Rectangle 5"/>
          <p:cNvSpPr/>
          <p:nvPr/>
        </p:nvSpPr>
        <p:spPr>
          <a:xfrm>
            <a:off x="0" y="523220"/>
            <a:ext cx="3548418" cy="400110"/>
          </a:xfrm>
          <a:prstGeom prst="rect">
            <a:avLst/>
          </a:prstGeom>
        </p:spPr>
        <p:txBody>
          <a:bodyPr wrap="square">
            <a:spAutoFit/>
          </a:bodyPr>
          <a:lstStyle/>
          <a:p>
            <a:r>
              <a:rPr lang="en-IN" sz="2000" dirty="0">
                <a:latin typeface="Times New Roman" panose="02020603050405020304" pitchFamily="18" charset="0"/>
                <a:cs typeface="Times New Roman" panose="02020603050405020304" pitchFamily="18" charset="0"/>
              </a:rPr>
              <a:t>Brittle Fracture of Ceramics</a:t>
            </a:r>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3548418" y="620546"/>
            <a:ext cx="6305266" cy="610092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5" name="TextBox 4"/>
          <p:cNvSpPr txBox="1"/>
          <p:nvPr/>
        </p:nvSpPr>
        <p:spPr>
          <a:xfrm>
            <a:off x="0" y="-26007"/>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Mechanical Properties</a:t>
            </a:r>
            <a:endParaRPr lang="en-IN" sz="2800" dirty="0"/>
          </a:p>
        </p:txBody>
      </p:sp>
      <p:sp>
        <p:nvSpPr>
          <p:cNvPr id="6" name="Rectangle 5"/>
          <p:cNvSpPr/>
          <p:nvPr/>
        </p:nvSpPr>
        <p:spPr>
          <a:xfrm>
            <a:off x="0" y="497213"/>
            <a:ext cx="3548418"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Brittle Fracture of Ceramics</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0" y="1046441"/>
            <a:ext cx="5354938" cy="2733990"/>
          </a:xfrm>
          <a:prstGeom prst="rect">
            <a:avLst/>
          </a:prstGeom>
        </p:spPr>
      </p:pic>
      <p:pic>
        <p:nvPicPr>
          <p:cNvPr id="8" name="Picture 7"/>
          <p:cNvPicPr>
            <a:picLocks noChangeAspect="1"/>
          </p:cNvPicPr>
          <p:nvPr/>
        </p:nvPicPr>
        <p:blipFill>
          <a:blip r:embed="rId2"/>
          <a:stretch>
            <a:fillRect/>
          </a:stretch>
        </p:blipFill>
        <p:spPr>
          <a:xfrm>
            <a:off x="5555771" y="107590"/>
            <a:ext cx="6636229" cy="56995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439584" y="432980"/>
            <a:ext cx="6217668" cy="2780376"/>
          </a:xfrm>
          <a:prstGeom prst="rect">
            <a:avLst/>
          </a:prstGeom>
        </p:spPr>
      </p:pic>
      <p:sp>
        <p:nvSpPr>
          <p:cNvPr id="6" name="TextBox 5"/>
          <p:cNvSpPr txBox="1"/>
          <p:nvPr/>
        </p:nvSpPr>
        <p:spPr>
          <a:xfrm>
            <a:off x="0" y="-26007"/>
            <a:ext cx="12192000" cy="523220"/>
          </a:xfrm>
          <a:prstGeom prst="rect">
            <a:avLst/>
          </a:prstGeom>
          <a:solidFill>
            <a:schemeClr val="tx2">
              <a:lumMod val="20000"/>
              <a:lumOff val="80000"/>
            </a:schemeClr>
          </a:solidFill>
        </p:spPr>
        <p:txBody>
          <a:bodyPr wrap="square" rtlCol="0">
            <a:spAutoFit/>
          </a:bodyPr>
          <a:lstStyle/>
          <a:p>
            <a:pPr algn="just"/>
            <a:r>
              <a:rPr lang="en-IN" sz="2800" dirty="0"/>
              <a:t>Stress – Strain Behaviour of Ceramics</a:t>
            </a:r>
            <a:endParaRPr lang="en-IN" sz="2800" dirty="0"/>
          </a:p>
        </p:txBody>
      </p:sp>
      <p:sp>
        <p:nvSpPr>
          <p:cNvPr id="7" name="Rectangle 6"/>
          <p:cNvSpPr/>
          <p:nvPr/>
        </p:nvSpPr>
        <p:spPr>
          <a:xfrm>
            <a:off x="0" y="497213"/>
            <a:ext cx="3548418"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Flexural test</a:t>
            </a:r>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5454379" y="3359975"/>
            <a:ext cx="6737621" cy="2849756"/>
          </a:xfrm>
          <a:prstGeom prst="rect">
            <a:avLst/>
          </a:prstGeom>
        </p:spPr>
      </p:pic>
      <p:pic>
        <p:nvPicPr>
          <p:cNvPr id="2" name="Picture 1"/>
          <p:cNvPicPr>
            <a:picLocks noChangeAspect="1"/>
          </p:cNvPicPr>
          <p:nvPr/>
        </p:nvPicPr>
        <p:blipFill>
          <a:blip r:embed="rId3"/>
          <a:stretch>
            <a:fillRect/>
          </a:stretch>
        </p:blipFill>
        <p:spPr>
          <a:xfrm>
            <a:off x="9692886" y="643832"/>
            <a:ext cx="1424789" cy="763560"/>
          </a:xfrm>
          <a:prstGeom prst="rect">
            <a:avLst/>
          </a:prstGeom>
        </p:spPr>
      </p:pic>
      <p:pic>
        <p:nvPicPr>
          <p:cNvPr id="3" name="Picture 2"/>
          <p:cNvPicPr>
            <a:picLocks noChangeAspect="1"/>
          </p:cNvPicPr>
          <p:nvPr/>
        </p:nvPicPr>
        <p:blipFill>
          <a:blip r:embed="rId4"/>
          <a:stretch>
            <a:fillRect/>
          </a:stretch>
        </p:blipFill>
        <p:spPr>
          <a:xfrm>
            <a:off x="241324" y="3373199"/>
            <a:ext cx="3812061" cy="3165714"/>
          </a:xfrm>
          <a:prstGeom prst="rect">
            <a:avLst/>
          </a:prstGeom>
        </p:spPr>
      </p:pic>
      <p:pic>
        <p:nvPicPr>
          <p:cNvPr id="9" name="Picture 8"/>
          <p:cNvPicPr>
            <a:picLocks noChangeAspect="1"/>
          </p:cNvPicPr>
          <p:nvPr/>
        </p:nvPicPr>
        <p:blipFill>
          <a:blip r:embed="rId5"/>
          <a:stretch>
            <a:fillRect/>
          </a:stretch>
        </p:blipFill>
        <p:spPr>
          <a:xfrm>
            <a:off x="7740275" y="1801505"/>
            <a:ext cx="1346296" cy="81168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0" y="828906"/>
            <a:ext cx="5363570" cy="5680283"/>
          </a:xfrm>
          <a:prstGeom prst="rect">
            <a:avLst/>
          </a:prstGeom>
        </p:spPr>
      </p:pic>
      <p:sp>
        <p:nvSpPr>
          <p:cNvPr id="6" name="TextBox 5"/>
          <p:cNvSpPr txBox="1"/>
          <p:nvPr/>
        </p:nvSpPr>
        <p:spPr>
          <a:xfrm>
            <a:off x="0" y="-26007"/>
            <a:ext cx="12192000" cy="523220"/>
          </a:xfrm>
          <a:prstGeom prst="rect">
            <a:avLst/>
          </a:prstGeom>
          <a:solidFill>
            <a:schemeClr val="tx2">
              <a:lumMod val="20000"/>
              <a:lumOff val="80000"/>
            </a:schemeClr>
          </a:solidFill>
        </p:spPr>
        <p:txBody>
          <a:bodyPr wrap="square" rtlCol="0">
            <a:spAutoFit/>
          </a:bodyPr>
          <a:lstStyle/>
          <a:p>
            <a:pPr algn="just"/>
            <a:r>
              <a:rPr lang="en-IN" sz="2800" dirty="0"/>
              <a:t>Stress – Strain Behaviour of Ceramics</a:t>
            </a:r>
            <a:endParaRPr lang="en-IN"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Mechanisms of Plastic Deformation</a:t>
            </a:r>
            <a:endParaRPr lang="en-IN" sz="2800" dirty="0"/>
          </a:p>
        </p:txBody>
      </p:sp>
      <p:sp>
        <p:nvSpPr>
          <p:cNvPr id="7" name="Rectangle 6"/>
          <p:cNvSpPr/>
          <p:nvPr/>
        </p:nvSpPr>
        <p:spPr>
          <a:xfrm>
            <a:off x="0" y="523220"/>
            <a:ext cx="12192000" cy="1200329"/>
          </a:xfrm>
          <a:prstGeom prst="rect">
            <a:avLst/>
          </a:prstGeom>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Crystalline Ceramics display certain amount of plasticity caused by dislocation motion, although the order of plastic strains are quite negligible.</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 – crystalline ceramics undergo plastic deformation in the form of viscous flow.</a:t>
            </a:r>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5807037" y="1723549"/>
            <a:ext cx="6164494" cy="4146277"/>
          </a:xfrm>
          <a:prstGeom prst="rect">
            <a:avLst/>
          </a:prstGeom>
        </p:spPr>
      </p:pic>
      <p:pic>
        <p:nvPicPr>
          <p:cNvPr id="3" name="Picture 2"/>
          <p:cNvPicPr>
            <a:picLocks noChangeAspect="1"/>
          </p:cNvPicPr>
          <p:nvPr/>
        </p:nvPicPr>
        <p:blipFill>
          <a:blip r:embed="rId2"/>
          <a:stretch>
            <a:fillRect/>
          </a:stretch>
        </p:blipFill>
        <p:spPr>
          <a:xfrm>
            <a:off x="1638270" y="2947916"/>
            <a:ext cx="2912597" cy="952683"/>
          </a:xfrm>
          <a:prstGeom prst="rect">
            <a:avLst/>
          </a:prstGeom>
        </p:spPr>
      </p:pic>
      <p:pic>
        <p:nvPicPr>
          <p:cNvPr id="5" name="Picture 4"/>
          <p:cNvPicPr>
            <a:picLocks noChangeAspect="1"/>
          </p:cNvPicPr>
          <p:nvPr/>
        </p:nvPicPr>
        <p:blipFill>
          <a:blip r:embed="rId3"/>
          <a:stretch>
            <a:fillRect/>
          </a:stretch>
        </p:blipFill>
        <p:spPr>
          <a:xfrm>
            <a:off x="604759" y="5124966"/>
            <a:ext cx="4230364" cy="648037"/>
          </a:xfrm>
          <a:prstGeom prst="rect">
            <a:avLst/>
          </a:prstGeom>
        </p:spPr>
      </p:pic>
      <p:sp>
        <p:nvSpPr>
          <p:cNvPr id="8" name="Rectangle 7"/>
          <p:cNvSpPr/>
          <p:nvPr/>
        </p:nvSpPr>
        <p:spPr>
          <a:xfrm>
            <a:off x="423081" y="4634320"/>
            <a:ext cx="3521122"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For porous ceramics,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Porous Ceramics</a:t>
            </a:r>
            <a:endParaRPr lang="en-IN" sz="2800" dirty="0"/>
          </a:p>
        </p:txBody>
      </p:sp>
      <p:pic>
        <p:nvPicPr>
          <p:cNvPr id="5" name="Picture 4"/>
          <p:cNvPicPr>
            <a:picLocks noChangeAspect="1"/>
          </p:cNvPicPr>
          <p:nvPr/>
        </p:nvPicPr>
        <p:blipFill>
          <a:blip r:embed="rId1"/>
          <a:stretch>
            <a:fillRect/>
          </a:stretch>
        </p:blipFill>
        <p:spPr>
          <a:xfrm>
            <a:off x="509224" y="1013866"/>
            <a:ext cx="4230364" cy="648037"/>
          </a:xfrm>
          <a:prstGeom prst="rect">
            <a:avLst/>
          </a:prstGeom>
        </p:spPr>
      </p:pic>
      <p:sp>
        <p:nvSpPr>
          <p:cNvPr id="8" name="Rectangle 7"/>
          <p:cNvSpPr/>
          <p:nvPr/>
        </p:nvSpPr>
        <p:spPr>
          <a:xfrm>
            <a:off x="327546" y="523220"/>
            <a:ext cx="3521122"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For porous ceramics,</a:t>
            </a:r>
            <a:endParaRPr lang="en-IN"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5939451" y="1013866"/>
            <a:ext cx="3227313" cy="648037"/>
          </a:xfrm>
          <a:prstGeom prst="rect">
            <a:avLst/>
          </a:prstGeom>
        </p:spPr>
      </p:pic>
      <p:pic>
        <p:nvPicPr>
          <p:cNvPr id="10" name="Picture 9"/>
          <p:cNvPicPr>
            <a:picLocks noChangeAspect="1"/>
          </p:cNvPicPr>
          <p:nvPr/>
        </p:nvPicPr>
        <p:blipFill>
          <a:blip r:embed="rId3"/>
          <a:stretch>
            <a:fillRect/>
          </a:stretch>
        </p:blipFill>
        <p:spPr>
          <a:xfrm>
            <a:off x="5876795" y="2265528"/>
            <a:ext cx="6136164" cy="4592472"/>
          </a:xfrm>
          <a:prstGeom prst="rect">
            <a:avLst/>
          </a:prstGeom>
        </p:spPr>
      </p:pic>
      <p:pic>
        <p:nvPicPr>
          <p:cNvPr id="11" name="Picture 10"/>
          <p:cNvPicPr>
            <a:picLocks noChangeAspect="1"/>
          </p:cNvPicPr>
          <p:nvPr/>
        </p:nvPicPr>
        <p:blipFill>
          <a:blip r:embed="rId4"/>
          <a:stretch>
            <a:fillRect/>
          </a:stretch>
        </p:blipFill>
        <p:spPr>
          <a:xfrm>
            <a:off x="0" y="2152549"/>
            <a:ext cx="5885114" cy="42038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609789" y="1093079"/>
            <a:ext cx="11344514" cy="4229548"/>
          </a:xfrm>
          <a:prstGeom prst="rect">
            <a:avLst/>
          </a:prstGeom>
        </p:spPr>
      </p:pic>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Ceramics – Classification</a:t>
            </a:r>
            <a:endParaRPr lang="en-IN"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Glasses</a:t>
            </a:r>
            <a:endParaRPr lang="en-IN" sz="2800" dirty="0"/>
          </a:p>
        </p:txBody>
      </p:sp>
      <p:sp>
        <p:nvSpPr>
          <p:cNvPr id="7" name="Rectangle 6"/>
          <p:cNvSpPr/>
          <p:nvPr/>
        </p:nvSpPr>
        <p:spPr>
          <a:xfrm>
            <a:off x="0" y="523220"/>
            <a:ext cx="12192000" cy="369332"/>
          </a:xfrm>
          <a:prstGeom prst="rect">
            <a:avLst/>
          </a:prstGeom>
        </p:spPr>
        <p:txBody>
          <a:bodyPr wrap="square">
            <a:spAutoFit/>
          </a:bodyPr>
          <a:lstStyle/>
          <a:p>
            <a:r>
              <a:rPr lang="en-IN" dirty="0" err="1">
                <a:latin typeface="Times New Roman" panose="02020603050405020304" pitchFamily="18" charset="0"/>
                <a:cs typeface="Times New Roman" panose="02020603050405020304" pitchFamily="18" charset="0"/>
              </a:rPr>
              <a:t>CaO</a:t>
            </a:r>
            <a:r>
              <a:rPr lang="en-IN" dirty="0">
                <a:latin typeface="Times New Roman" panose="02020603050405020304" pitchFamily="18" charset="0"/>
                <a:cs typeface="Times New Roman" panose="02020603050405020304" pitchFamily="18" charset="0"/>
              </a:rPr>
              <a:t>, Na</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O, K</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O and Al</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O</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are known materials used for glasses, containers, windows, lens, fiberglass etc.</a:t>
            </a:r>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949313" y="1160061"/>
            <a:ext cx="10949097" cy="482695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pic>
        <p:nvPicPr>
          <p:cNvPr id="5" name="Picture 4"/>
          <p:cNvPicPr>
            <a:picLocks noChangeAspect="1"/>
          </p:cNvPicPr>
          <p:nvPr/>
        </p:nvPicPr>
        <p:blipFill>
          <a:blip r:embed="rId1"/>
          <a:stretch>
            <a:fillRect/>
          </a:stretch>
        </p:blipFill>
        <p:spPr>
          <a:xfrm>
            <a:off x="2743200" y="883620"/>
            <a:ext cx="7208732" cy="5472730"/>
          </a:xfrm>
          <a:prstGeom prst="rect">
            <a:avLst/>
          </a:prstGeom>
        </p:spPr>
      </p:pic>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Glass Ceramics</a:t>
            </a:r>
            <a:endParaRPr lang="en-IN"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Clay and Refractory Ceramics</a:t>
            </a:r>
            <a:endParaRPr lang="en-IN" sz="2800" dirty="0"/>
          </a:p>
        </p:txBody>
      </p:sp>
      <p:pic>
        <p:nvPicPr>
          <p:cNvPr id="2" name="Picture 1"/>
          <p:cNvPicPr>
            <a:picLocks noChangeAspect="1"/>
          </p:cNvPicPr>
          <p:nvPr/>
        </p:nvPicPr>
        <p:blipFill>
          <a:blip r:embed="rId1"/>
          <a:stretch>
            <a:fillRect/>
          </a:stretch>
        </p:blipFill>
        <p:spPr>
          <a:xfrm>
            <a:off x="-113068" y="2324725"/>
            <a:ext cx="12418135" cy="2506583"/>
          </a:xfrm>
          <a:prstGeom prst="rect">
            <a:avLst/>
          </a:prstGeom>
        </p:spPr>
      </p:pic>
      <p:sp>
        <p:nvSpPr>
          <p:cNvPr id="7" name="Rectangle 6"/>
          <p:cNvSpPr/>
          <p:nvPr/>
        </p:nvSpPr>
        <p:spPr>
          <a:xfrm>
            <a:off x="0" y="523220"/>
            <a:ext cx="121920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Clay ceramics are of two types – Structural and </a:t>
            </a:r>
            <a:r>
              <a:rPr lang="en-IN" dirty="0" err="1">
                <a:latin typeface="Times New Roman" panose="02020603050405020304" pitchFamily="18" charset="0"/>
                <a:cs typeface="Times New Roman" panose="02020603050405020304" pitchFamily="18" charset="0"/>
              </a:rPr>
              <a:t>Whiteware</a:t>
            </a: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0" y="1101075"/>
            <a:ext cx="121920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Refractories are unreactive, inert to severe environments; can be used for thermal insulation due to high melting points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Abrasives</a:t>
            </a:r>
            <a:endParaRPr lang="en-IN" sz="2800" dirty="0"/>
          </a:p>
        </p:txBody>
      </p:sp>
      <p:pic>
        <p:nvPicPr>
          <p:cNvPr id="1026" name="Picture 2" descr="Image result for abrasiv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30015" y="523220"/>
            <a:ext cx="5061986" cy="33527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brasi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2204" y="2465309"/>
            <a:ext cx="4525607" cy="33775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Cements</a:t>
            </a:r>
            <a:endParaRPr lang="en-IN" sz="2800" dirty="0"/>
          </a:p>
        </p:txBody>
      </p:sp>
      <p:sp>
        <p:nvSpPr>
          <p:cNvPr id="7" name="Rectangle 6"/>
          <p:cNvSpPr/>
          <p:nvPr/>
        </p:nvSpPr>
        <p:spPr>
          <a:xfrm>
            <a:off x="0" y="523220"/>
            <a:ext cx="121920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Cement, Plaster of Paris and lime.</a:t>
            </a: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259307" y="2331789"/>
            <a:ext cx="2661313" cy="923330"/>
          </a:xfrm>
          <a:prstGeom prst="rect">
            <a:avLst/>
          </a:prstGeom>
          <a:ln w="28575">
            <a:solidFill>
              <a:srgbClr val="FF0000"/>
            </a:solidFill>
          </a:ln>
        </p:spPr>
        <p:txBody>
          <a:bodyPr wrap="square">
            <a:spAutoFit/>
          </a:bodyPr>
          <a:lstStyle/>
          <a:p>
            <a:pPr algn="ctr"/>
            <a:r>
              <a:rPr lang="en-IN" b="1" dirty="0">
                <a:latin typeface="Times New Roman" panose="02020603050405020304" pitchFamily="18" charset="0"/>
                <a:cs typeface="Times New Roman" panose="02020603050405020304" pitchFamily="18" charset="0"/>
              </a:rPr>
              <a:t>Grinding and mixing of clay and lime bearing minerals</a:t>
            </a:r>
            <a:endParaRPr lang="en-IN" b="1" dirty="0">
              <a:latin typeface="Times New Roman" panose="02020603050405020304" pitchFamily="18" charset="0"/>
              <a:cs typeface="Times New Roman" panose="02020603050405020304" pitchFamily="18" charset="0"/>
            </a:endParaRPr>
          </a:p>
        </p:txBody>
      </p:sp>
      <p:sp>
        <p:nvSpPr>
          <p:cNvPr id="9" name="Rectangle 8"/>
          <p:cNvSpPr/>
          <p:nvPr/>
        </p:nvSpPr>
        <p:spPr>
          <a:xfrm>
            <a:off x="3835022" y="2331789"/>
            <a:ext cx="1023582" cy="923330"/>
          </a:xfrm>
          <a:prstGeom prst="rect">
            <a:avLst/>
          </a:prstGeom>
          <a:ln w="28575">
            <a:solidFill>
              <a:srgbClr val="FF0000"/>
            </a:solidFill>
          </a:ln>
        </p:spPr>
        <p:txBody>
          <a:bodyPr wrap="square">
            <a:spAutoFit/>
          </a:bodyPr>
          <a:lstStyle/>
          <a:p>
            <a:pPr algn="ctr"/>
            <a:r>
              <a:rPr lang="en-IN" b="1" dirty="0">
                <a:latin typeface="Times New Roman" panose="02020603050405020304" pitchFamily="18" charset="0"/>
                <a:cs typeface="Times New Roman" panose="02020603050405020304" pitchFamily="18" charset="0"/>
              </a:rPr>
              <a:t>Heating up to 1400</a:t>
            </a:r>
            <a:r>
              <a:rPr lang="en-IN" b="1" baseline="30000" dirty="0">
                <a:latin typeface="Times New Roman" panose="02020603050405020304" pitchFamily="18" charset="0"/>
                <a:cs typeface="Times New Roman" panose="02020603050405020304" pitchFamily="18" charset="0"/>
              </a:rPr>
              <a:t>0</a:t>
            </a:r>
            <a:r>
              <a:rPr lang="en-IN" b="1" dirty="0">
                <a:latin typeface="Times New Roman" panose="02020603050405020304" pitchFamily="18" charset="0"/>
                <a:cs typeface="Times New Roman" panose="02020603050405020304" pitchFamily="18" charset="0"/>
              </a:rPr>
              <a:t>C</a:t>
            </a:r>
            <a:endParaRPr lang="en-IN" b="1" dirty="0">
              <a:latin typeface="Times New Roman" panose="02020603050405020304" pitchFamily="18" charset="0"/>
              <a:cs typeface="Times New Roman" panose="02020603050405020304" pitchFamily="18" charset="0"/>
            </a:endParaRPr>
          </a:p>
        </p:txBody>
      </p:sp>
      <p:cxnSp>
        <p:nvCxnSpPr>
          <p:cNvPr id="3" name="Straight Arrow Connector 2"/>
          <p:cNvCxnSpPr>
            <a:stCxn id="8" idx="3"/>
            <a:endCxn id="9" idx="1"/>
          </p:cNvCxnSpPr>
          <p:nvPr/>
        </p:nvCxnSpPr>
        <p:spPr>
          <a:xfrm>
            <a:off x="2920620" y="2793454"/>
            <a:ext cx="914402" cy="0"/>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773005" y="2317848"/>
            <a:ext cx="3261813" cy="923330"/>
          </a:xfrm>
          <a:prstGeom prst="rect">
            <a:avLst/>
          </a:prstGeom>
          <a:ln w="28575">
            <a:solidFill>
              <a:srgbClr val="FF0000"/>
            </a:solidFill>
          </a:ln>
        </p:spPr>
        <p:txBody>
          <a:bodyPr wrap="square">
            <a:spAutoFit/>
          </a:bodyPr>
          <a:lstStyle/>
          <a:p>
            <a:pPr algn="ctr"/>
            <a:r>
              <a:rPr lang="en-IN" b="1" dirty="0">
                <a:latin typeface="Times New Roman" panose="02020603050405020304" pitchFamily="18" charset="0"/>
                <a:cs typeface="Times New Roman" panose="02020603050405020304" pitchFamily="18" charset="0"/>
              </a:rPr>
              <a:t>The resulting powder is ground and gypsum is added to delay the setting process.</a:t>
            </a:r>
            <a:endParaRPr lang="en-IN" b="1" dirty="0">
              <a:latin typeface="Times New Roman" panose="02020603050405020304" pitchFamily="18" charset="0"/>
              <a:cs typeface="Times New Roman" panose="02020603050405020304" pitchFamily="18" charset="0"/>
            </a:endParaRPr>
          </a:p>
        </p:txBody>
      </p:sp>
      <p:cxnSp>
        <p:nvCxnSpPr>
          <p:cNvPr id="13" name="Straight Arrow Connector 12"/>
          <p:cNvCxnSpPr>
            <a:endCxn id="12" idx="1"/>
          </p:cNvCxnSpPr>
          <p:nvPr/>
        </p:nvCxnSpPr>
        <p:spPr>
          <a:xfrm flipV="1">
            <a:off x="4858604" y="2779513"/>
            <a:ext cx="914401" cy="2"/>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609834" y="1870125"/>
            <a:ext cx="1473958"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Calcination</a:t>
            </a:r>
            <a:endParaRPr lang="en-IN" b="1" dirty="0">
              <a:latin typeface="Times New Roman" panose="02020603050405020304" pitchFamily="18" charset="0"/>
              <a:cs typeface="Times New Roman" panose="02020603050405020304" pitchFamily="18" charset="0"/>
            </a:endParaRPr>
          </a:p>
        </p:txBody>
      </p:sp>
      <p:sp>
        <p:nvSpPr>
          <p:cNvPr id="15" name="Rectangle 14"/>
          <p:cNvSpPr/>
          <p:nvPr/>
        </p:nvSpPr>
        <p:spPr>
          <a:xfrm>
            <a:off x="5547818" y="1856184"/>
            <a:ext cx="1473958" cy="369332"/>
          </a:xfrm>
          <a:prstGeom prst="rect">
            <a:avLst/>
          </a:prstGeom>
        </p:spPr>
        <p:txBody>
          <a:bodyPr wrap="square">
            <a:spAutoFit/>
          </a:bodyPr>
          <a:lstStyle/>
          <a:p>
            <a:pPr algn="ctr"/>
            <a:r>
              <a:rPr lang="en-IN" b="1" dirty="0">
                <a:latin typeface="Times New Roman" panose="02020603050405020304" pitchFamily="18" charset="0"/>
                <a:cs typeface="Times New Roman" panose="02020603050405020304" pitchFamily="18" charset="0"/>
              </a:rPr>
              <a:t>Clinker</a:t>
            </a:r>
            <a:endParaRPr lang="en-IN" b="1" dirty="0">
              <a:latin typeface="Times New Roman" panose="02020603050405020304" pitchFamily="18" charset="0"/>
              <a:cs typeface="Times New Roman" panose="02020603050405020304" pitchFamily="18" charset="0"/>
            </a:endParaRPr>
          </a:p>
        </p:txBody>
      </p:sp>
      <p:cxnSp>
        <p:nvCxnSpPr>
          <p:cNvPr id="18" name="Straight Arrow Connector 17"/>
          <p:cNvCxnSpPr/>
          <p:nvPr/>
        </p:nvCxnSpPr>
        <p:spPr>
          <a:xfrm flipV="1">
            <a:off x="9034818" y="2774881"/>
            <a:ext cx="914401" cy="2"/>
          </a:xfrm>
          <a:prstGeom prst="straightConnector1">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9949219" y="2451715"/>
            <a:ext cx="1748051" cy="646331"/>
          </a:xfrm>
          <a:prstGeom prst="rect">
            <a:avLst/>
          </a:prstGeom>
          <a:ln w="28575">
            <a:solidFill>
              <a:srgbClr val="FF0000"/>
            </a:solidFill>
          </a:ln>
        </p:spPr>
        <p:txBody>
          <a:bodyPr wrap="square">
            <a:spAutoFit/>
          </a:bodyPr>
          <a:lstStyle/>
          <a:p>
            <a:pPr algn="ctr"/>
            <a:r>
              <a:rPr lang="en-IN" b="1" dirty="0">
                <a:latin typeface="Times New Roman" panose="02020603050405020304" pitchFamily="18" charset="0"/>
                <a:cs typeface="Times New Roman" panose="02020603050405020304" pitchFamily="18" charset="0"/>
              </a:rPr>
              <a:t>Portland Cement</a:t>
            </a:r>
            <a:endParaRPr lang="en-IN" b="1" dirty="0">
              <a:latin typeface="Times New Roman" panose="02020603050405020304" pitchFamily="18" charset="0"/>
              <a:cs typeface="Times New Roman" panose="02020603050405020304" pitchFamily="18" charset="0"/>
            </a:endParaRPr>
          </a:p>
        </p:txBody>
      </p:sp>
      <p:sp>
        <p:nvSpPr>
          <p:cNvPr id="21" name="Rectangle 20"/>
          <p:cNvSpPr/>
          <p:nvPr/>
        </p:nvSpPr>
        <p:spPr>
          <a:xfrm>
            <a:off x="0" y="1354217"/>
            <a:ext cx="360983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Preparation of Portland Cement</a:t>
            </a:r>
            <a:endParaRPr lang="en-IN" b="1"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1"/>
          <a:stretch>
            <a:fillRect/>
          </a:stretch>
        </p:blipFill>
        <p:spPr>
          <a:xfrm>
            <a:off x="2595584" y="4657212"/>
            <a:ext cx="7000832" cy="588720"/>
          </a:xfrm>
          <a:prstGeom prst="rect">
            <a:avLst/>
          </a:prstGeom>
        </p:spPr>
      </p:pic>
      <p:sp>
        <p:nvSpPr>
          <p:cNvPr id="23" name="Rectangle 22"/>
          <p:cNvSpPr/>
          <p:nvPr/>
        </p:nvSpPr>
        <p:spPr>
          <a:xfrm>
            <a:off x="736979" y="4140358"/>
            <a:ext cx="360983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Hydration Reaction</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Advanced Ceramics</a:t>
            </a:r>
            <a:endParaRPr lang="en-IN" sz="2800" dirty="0"/>
          </a:p>
        </p:txBody>
      </p:sp>
      <p:sp>
        <p:nvSpPr>
          <p:cNvPr id="7" name="Rectangle 6"/>
          <p:cNvSpPr/>
          <p:nvPr/>
        </p:nvSpPr>
        <p:spPr>
          <a:xfrm>
            <a:off x="0" y="523220"/>
            <a:ext cx="12192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Micro–Electro Mechanical Systems (MEMS)</a:t>
            </a:r>
            <a:endParaRPr lang="en-IN"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6728439" y="666122"/>
            <a:ext cx="5248256" cy="3892229"/>
          </a:xfrm>
          <a:prstGeom prst="rect">
            <a:avLst/>
          </a:prstGeom>
        </p:spPr>
      </p:pic>
      <p:sp>
        <p:nvSpPr>
          <p:cNvPr id="8" name="Rectangle 7"/>
          <p:cNvSpPr/>
          <p:nvPr/>
        </p:nvSpPr>
        <p:spPr>
          <a:xfrm>
            <a:off x="5781822" y="4701253"/>
            <a:ext cx="6410178" cy="369332"/>
          </a:xfrm>
          <a:prstGeom prst="rect">
            <a:avLst/>
          </a:prstGeom>
        </p:spPr>
        <p:txBody>
          <a:bodyPr wrap="square">
            <a:spAutoFit/>
          </a:bodyPr>
          <a:lstStyle/>
          <a:p>
            <a:pPr algn="ctr"/>
            <a:r>
              <a:rPr lang="en-IN" dirty="0">
                <a:latin typeface="Times New Roman" panose="02020603050405020304" pitchFamily="18" charset="0"/>
                <a:cs typeface="Times New Roman" panose="02020603050405020304" pitchFamily="18" charset="0"/>
              </a:rPr>
              <a:t>Rack &amp; Pinion Arrangement–miniaturization (Image @ 100X)</a:t>
            </a:r>
            <a:endParaRPr lang="en-IN" dirty="0">
              <a:latin typeface="Times New Roman" panose="02020603050405020304" pitchFamily="18" charset="0"/>
              <a:cs typeface="Times New Roman" panose="02020603050405020304" pitchFamily="18" charset="0"/>
            </a:endParaRPr>
          </a:p>
        </p:txBody>
      </p:sp>
      <p:sp>
        <p:nvSpPr>
          <p:cNvPr id="9" name="Rectangle 8"/>
          <p:cNvSpPr/>
          <p:nvPr/>
        </p:nvSpPr>
        <p:spPr>
          <a:xfrm>
            <a:off x="0" y="2242904"/>
            <a:ext cx="6728439" cy="203132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Various processing techniques such as photolithography, ion implantation, etching and deposition technologies are used. Micromachining techniques are also available to manufacture such miniaturized components. Silicon is the material currently under use.</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Silicon </a:t>
            </a:r>
            <a:r>
              <a:rPr lang="en-IN" dirty="0" err="1">
                <a:latin typeface="Times New Roman" panose="02020603050405020304" pitchFamily="18" charset="0"/>
                <a:cs typeface="Times New Roman" panose="02020603050405020304" pitchFamily="18" charset="0"/>
              </a:rPr>
              <a:t>carbonitrides</a:t>
            </a:r>
            <a:r>
              <a:rPr lang="en-IN" dirty="0">
                <a:latin typeface="Times New Roman" panose="02020603050405020304" pitchFamily="18" charset="0"/>
                <a:cs typeface="Times New Roman" panose="02020603050405020304" pitchFamily="18" charset="0"/>
              </a:rPr>
              <a:t> are being considered to be used instead of Silicon alone.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Advanced Ceramics</a:t>
            </a:r>
            <a:endParaRPr lang="en-IN" sz="2800" dirty="0"/>
          </a:p>
        </p:txBody>
      </p:sp>
      <p:sp>
        <p:nvSpPr>
          <p:cNvPr id="7" name="Rectangle 6"/>
          <p:cNvSpPr/>
          <p:nvPr/>
        </p:nvSpPr>
        <p:spPr>
          <a:xfrm>
            <a:off x="0" y="523220"/>
            <a:ext cx="12192000" cy="923330"/>
          </a:xfrm>
          <a:prstGeom prst="rect">
            <a:avLst/>
          </a:prstGeom>
        </p:spPr>
        <p:txBody>
          <a:bodyPr wrap="square">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Optical </a:t>
            </a:r>
            <a:r>
              <a:rPr lang="en-IN" b="1" dirty="0" err="1">
                <a:latin typeface="Times New Roman" panose="02020603050405020304" pitchFamily="18" charset="0"/>
                <a:cs typeface="Times New Roman" panose="02020603050405020304" pitchFamily="18" charset="0"/>
              </a:rPr>
              <a:t>Fibers</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are made of high purity silica.</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Ceramic ball bearings</a:t>
            </a:r>
            <a:r>
              <a:rPr lang="en-IN" dirty="0">
                <a:latin typeface="Times New Roman" panose="02020603050405020304" pitchFamily="18" charset="0"/>
                <a:cs typeface="Times New Roman" panose="02020603050405020304" pitchFamily="18" charset="0"/>
              </a:rPr>
              <a:t> are also in use now-a-days. Silicon Nitride is the material which is replacing steel.</a:t>
            </a:r>
            <a:endParaRPr lang="en-IN" b="1" dirty="0">
              <a:latin typeface="Times New Roman" panose="02020603050405020304" pitchFamily="18" charset="0"/>
              <a:cs typeface="Times New Roman" panose="02020603050405020304" pitchFamily="18" charset="0"/>
            </a:endParaRPr>
          </a:p>
        </p:txBody>
      </p:sp>
      <p:pic>
        <p:nvPicPr>
          <p:cNvPr id="1026" name="Picture 2" descr="Image result for ceramics in optical fibers"/>
          <p:cNvPicPr>
            <a:picLocks noChangeAspect="1" noChangeArrowheads="1"/>
          </p:cNvPicPr>
          <p:nvPr/>
        </p:nvPicPr>
        <p:blipFill rotWithShape="1">
          <a:blip r:embed="rId1">
            <a:extLst>
              <a:ext uri="{28A0092B-C50C-407E-A947-70E740481C1C}">
                <a14:useLocalDpi xmlns:a14="http://schemas.microsoft.com/office/drawing/2010/main" val="0"/>
              </a:ext>
            </a:extLst>
          </a:blip>
          <a:srcRect t="10814"/>
          <a:stretch>
            <a:fillRect/>
          </a:stretch>
        </p:blipFill>
        <p:spPr bwMode="auto">
          <a:xfrm>
            <a:off x="296253" y="1805363"/>
            <a:ext cx="4260682" cy="419217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519311" y="6169580"/>
            <a:ext cx="1434904" cy="369332"/>
          </a:xfrm>
          <a:prstGeom prst="rect">
            <a:avLst/>
          </a:prstGeom>
        </p:spPr>
        <p:txBody>
          <a:bodyPr wrap="square">
            <a:spAutoFit/>
          </a:bodyPr>
          <a:lstStyle/>
          <a:p>
            <a:pPr algn="ctr"/>
            <a:r>
              <a:rPr lang="en-IN" dirty="0">
                <a:latin typeface="Times New Roman" panose="02020603050405020304" pitchFamily="18" charset="0"/>
                <a:cs typeface="Times New Roman" panose="02020603050405020304" pitchFamily="18" charset="0"/>
              </a:rPr>
              <a:t>Optical </a:t>
            </a:r>
            <a:r>
              <a:rPr lang="en-IN" dirty="0" err="1">
                <a:latin typeface="Times New Roman" panose="02020603050405020304" pitchFamily="18" charset="0"/>
                <a:cs typeface="Times New Roman" panose="02020603050405020304" pitchFamily="18" charset="0"/>
              </a:rPr>
              <a:t>Fiber</a:t>
            </a:r>
            <a:endParaRPr lang="en-IN" dirty="0">
              <a:latin typeface="Times New Roman" panose="02020603050405020304" pitchFamily="18" charset="0"/>
              <a:cs typeface="Times New Roman" panose="02020603050405020304" pitchFamily="18" charset="0"/>
            </a:endParaRPr>
          </a:p>
        </p:txBody>
      </p:sp>
      <p:pic>
        <p:nvPicPr>
          <p:cNvPr id="1028" name="Picture 4" descr="Image result for ceramic ball bearings"/>
          <p:cNvPicPr>
            <a:picLocks noChangeAspect="1" noChangeArrowheads="1"/>
          </p:cNvPicPr>
          <p:nvPr/>
        </p:nvPicPr>
        <p:blipFill rotWithShape="1">
          <a:blip r:embed="rId2">
            <a:extLst>
              <a:ext uri="{28A0092B-C50C-407E-A947-70E740481C1C}">
                <a14:useLocalDpi xmlns:a14="http://schemas.microsoft.com/office/drawing/2010/main" val="0"/>
              </a:ext>
            </a:extLst>
          </a:blip>
          <a:srcRect l="16084" t="15392" r="18234" b="16122"/>
          <a:stretch>
            <a:fillRect/>
          </a:stretch>
        </p:blipFill>
        <p:spPr bwMode="auto">
          <a:xfrm>
            <a:off x="6824179" y="1922577"/>
            <a:ext cx="4046162" cy="407495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7327949" y="6167015"/>
            <a:ext cx="3038621" cy="369332"/>
          </a:xfrm>
          <a:prstGeom prst="rect">
            <a:avLst/>
          </a:prstGeom>
        </p:spPr>
        <p:txBody>
          <a:bodyPr wrap="square">
            <a:spAutoFit/>
          </a:bodyPr>
          <a:lstStyle/>
          <a:p>
            <a:pPr algn="ctr"/>
            <a:r>
              <a:rPr lang="en-IN" dirty="0">
                <a:latin typeface="Times New Roman" panose="02020603050405020304" pitchFamily="18" charset="0"/>
                <a:cs typeface="Times New Roman" panose="02020603050405020304" pitchFamily="18" charset="0"/>
              </a:rPr>
              <a:t>Hybrid Ceramic ball bearing</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Fabrication and Processing of Ceramics</a:t>
            </a:r>
            <a:endParaRPr lang="en-IN" sz="2800" dirty="0"/>
          </a:p>
        </p:txBody>
      </p:sp>
      <p:sp>
        <p:nvSpPr>
          <p:cNvPr id="7" name="Rectangle 6"/>
          <p:cNvSpPr/>
          <p:nvPr/>
        </p:nvSpPr>
        <p:spPr>
          <a:xfrm>
            <a:off x="0" y="523220"/>
            <a:ext cx="12192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Can we adopt casting or other forming operations for processing Ceramics?</a:t>
            </a:r>
            <a:endParaRPr lang="en-IN"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2301056" y="892552"/>
            <a:ext cx="8648999" cy="596544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9" name="Rectangle 8"/>
          <p:cNvSpPr/>
          <p:nvPr/>
        </p:nvSpPr>
        <p:spPr>
          <a:xfrm>
            <a:off x="0" y="541836"/>
            <a:ext cx="12192000"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Temperature sensitive behaviour of glassy or non – crystalline materials</a:t>
            </a:r>
            <a:endParaRPr lang="en-IN"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7274257" y="911168"/>
            <a:ext cx="4698644" cy="5426841"/>
          </a:xfrm>
          <a:prstGeom prst="rect">
            <a:avLst/>
          </a:prstGeom>
        </p:spPr>
      </p:pic>
      <p:pic>
        <p:nvPicPr>
          <p:cNvPr id="5" name="Picture 4"/>
          <p:cNvPicPr>
            <a:picLocks noChangeAspect="1"/>
          </p:cNvPicPr>
          <p:nvPr/>
        </p:nvPicPr>
        <p:blipFill>
          <a:blip r:embed="rId2"/>
          <a:stretch>
            <a:fillRect/>
          </a:stretch>
        </p:blipFill>
        <p:spPr>
          <a:xfrm>
            <a:off x="859809" y="911408"/>
            <a:ext cx="5691116" cy="5825669"/>
          </a:xfrm>
          <a:prstGeom prst="rect">
            <a:avLst/>
          </a:prstGeom>
        </p:spPr>
      </p:pic>
      <p:sp>
        <p:nvSpPr>
          <p:cNvPr id="10" name="TextBox 9"/>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Glasses and Glass–Ceramics </a:t>
            </a:r>
            <a:endParaRPr lang="en-IN"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Glasses and Glass–Ceramics </a:t>
            </a:r>
            <a:endParaRPr lang="en-IN" sz="2800" dirty="0"/>
          </a:p>
        </p:txBody>
      </p:sp>
      <p:sp>
        <p:nvSpPr>
          <p:cNvPr id="7" name="Rectangle 6"/>
          <p:cNvSpPr/>
          <p:nvPr/>
        </p:nvSpPr>
        <p:spPr>
          <a:xfrm>
            <a:off x="0" y="523220"/>
            <a:ext cx="4831307" cy="646331"/>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Glass Forming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Pressing, blowing, drawing and </a:t>
            </a:r>
            <a:r>
              <a:rPr lang="en-IN" b="1" dirty="0" err="1">
                <a:latin typeface="Times New Roman" panose="02020603050405020304" pitchFamily="18" charset="0"/>
                <a:cs typeface="Times New Roman" panose="02020603050405020304" pitchFamily="18" charset="0"/>
              </a:rPr>
              <a:t>fiber</a:t>
            </a:r>
            <a:r>
              <a:rPr lang="en-IN" b="1" dirty="0">
                <a:latin typeface="Times New Roman" panose="02020603050405020304" pitchFamily="18" charset="0"/>
                <a:cs typeface="Times New Roman" panose="02020603050405020304" pitchFamily="18" charset="0"/>
              </a:rPr>
              <a:t> forming</a:t>
            </a:r>
            <a:endParaRPr lang="en-IN"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5847273" y="0"/>
            <a:ext cx="6344728" cy="6356350"/>
          </a:xfrm>
          <a:prstGeom prst="rect">
            <a:avLst/>
          </a:prstGeom>
        </p:spPr>
      </p:pic>
      <p:pic>
        <p:nvPicPr>
          <p:cNvPr id="8" name="Picture 7"/>
          <p:cNvPicPr>
            <a:picLocks noChangeAspect="1"/>
          </p:cNvPicPr>
          <p:nvPr/>
        </p:nvPicPr>
        <p:blipFill>
          <a:blip r:embed="rId2"/>
          <a:stretch>
            <a:fillRect/>
          </a:stretch>
        </p:blipFill>
        <p:spPr>
          <a:xfrm>
            <a:off x="201265" y="1809738"/>
            <a:ext cx="5646008" cy="3260093"/>
          </a:xfrm>
          <a:prstGeom prst="rect">
            <a:avLst/>
          </a:prstGeom>
        </p:spPr>
      </p:pic>
      <p:sp>
        <p:nvSpPr>
          <p:cNvPr id="10" name="Rectangle 9"/>
          <p:cNvSpPr/>
          <p:nvPr/>
        </p:nvSpPr>
        <p:spPr>
          <a:xfrm>
            <a:off x="2097947" y="5069831"/>
            <a:ext cx="1651379"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Glass Drawing</a:t>
            </a:r>
            <a:endParaRPr lang="en-IN" b="1" dirty="0">
              <a:latin typeface="Times New Roman" panose="02020603050405020304" pitchFamily="18" charset="0"/>
              <a:cs typeface="Times New Roman" panose="02020603050405020304" pitchFamily="18" charset="0"/>
            </a:endParaRPr>
          </a:p>
        </p:txBody>
      </p:sp>
      <p:sp>
        <p:nvSpPr>
          <p:cNvPr id="11" name="Rectangle 10"/>
          <p:cNvSpPr/>
          <p:nvPr/>
        </p:nvSpPr>
        <p:spPr>
          <a:xfrm>
            <a:off x="7652586" y="6354247"/>
            <a:ext cx="2747008"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Glass Pressing &amp; Blowing</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468097" y="1105469"/>
            <a:ext cx="11373932" cy="4599295"/>
          </a:xfrm>
          <a:prstGeom prst="rect">
            <a:avLst/>
          </a:prstGeom>
        </p:spPr>
      </p:pic>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Making of a sheet glass</a:t>
            </a:r>
            <a:endParaRPr lang="en-IN"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Clay Products</a:t>
            </a:r>
            <a:endParaRPr lang="en-IN" sz="2800" dirty="0"/>
          </a:p>
        </p:txBody>
      </p:sp>
      <p:sp>
        <p:nvSpPr>
          <p:cNvPr id="7" name="Rectangle 6"/>
          <p:cNvSpPr/>
          <p:nvPr/>
        </p:nvSpPr>
        <p:spPr>
          <a:xfrm>
            <a:off x="0" y="523220"/>
            <a:ext cx="4831307" cy="369332"/>
          </a:xfrm>
          <a:prstGeom prst="rect">
            <a:avLst/>
          </a:prstGeom>
        </p:spPr>
        <p:txBody>
          <a:bodyPr wrap="square">
            <a:spAutoFit/>
          </a:bodyPr>
          <a:lstStyle/>
          <a:p>
            <a:r>
              <a:rPr lang="en-IN" b="1" dirty="0" err="1">
                <a:latin typeface="Times New Roman" panose="02020603050405020304" pitchFamily="18" charset="0"/>
                <a:cs typeface="Times New Roman" panose="02020603050405020304" pitchFamily="18" charset="0"/>
              </a:rPr>
              <a:t>Hydroplastic</a:t>
            </a:r>
            <a:r>
              <a:rPr lang="en-IN" b="1" dirty="0">
                <a:latin typeface="Times New Roman" panose="02020603050405020304" pitchFamily="18" charset="0"/>
                <a:cs typeface="Times New Roman" panose="02020603050405020304" pitchFamily="18" charset="0"/>
              </a:rPr>
              <a:t> forming and Sand casting</a:t>
            </a:r>
            <a:endParaRPr lang="en-IN" b="1" dirty="0">
              <a:latin typeface="Times New Roman" panose="02020603050405020304" pitchFamily="18" charset="0"/>
              <a:cs typeface="Times New Roman" panose="02020603050405020304" pitchFamily="18" charset="0"/>
            </a:endParaRPr>
          </a:p>
        </p:txBody>
      </p:sp>
      <p:sp>
        <p:nvSpPr>
          <p:cNvPr id="10" name="Rectangle 9"/>
          <p:cNvSpPr/>
          <p:nvPr/>
        </p:nvSpPr>
        <p:spPr>
          <a:xfrm>
            <a:off x="5270310" y="1461770"/>
            <a:ext cx="1651379" cy="646331"/>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Solid slip casting</a:t>
            </a:r>
            <a:endParaRPr lang="en-IN" b="1" dirty="0">
              <a:latin typeface="Times New Roman" panose="02020603050405020304" pitchFamily="18" charset="0"/>
              <a:cs typeface="Times New Roman" panose="02020603050405020304" pitchFamily="18" charset="0"/>
            </a:endParaRPr>
          </a:p>
        </p:txBody>
      </p:sp>
      <p:sp>
        <p:nvSpPr>
          <p:cNvPr id="11" name="Rectangle 10"/>
          <p:cNvSpPr/>
          <p:nvPr/>
        </p:nvSpPr>
        <p:spPr>
          <a:xfrm>
            <a:off x="719823" y="4414059"/>
            <a:ext cx="2747008" cy="369332"/>
          </a:xfrm>
          <a:prstGeom prst="rect">
            <a:avLst/>
          </a:prstGeom>
        </p:spPr>
        <p:txBody>
          <a:bodyPr wrap="square">
            <a:spAutoFit/>
          </a:bodyPr>
          <a:lstStyle/>
          <a:p>
            <a:r>
              <a:rPr lang="en-IN" b="1" dirty="0" err="1">
                <a:latin typeface="Times New Roman" panose="02020603050405020304" pitchFamily="18" charset="0"/>
                <a:cs typeface="Times New Roman" panose="02020603050405020304" pitchFamily="18" charset="0"/>
              </a:rPr>
              <a:t>Hydroplastic</a:t>
            </a:r>
            <a:r>
              <a:rPr lang="en-IN" b="1" dirty="0">
                <a:latin typeface="Times New Roman" panose="02020603050405020304" pitchFamily="18" charset="0"/>
                <a:cs typeface="Times New Roman" panose="02020603050405020304" pitchFamily="18" charset="0"/>
              </a:rPr>
              <a:t> forming</a:t>
            </a:r>
            <a:endParaRPr lang="en-IN"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6838369" y="0"/>
            <a:ext cx="5353631" cy="2990833"/>
          </a:xfrm>
          <a:prstGeom prst="rect">
            <a:avLst/>
          </a:prstGeom>
        </p:spPr>
      </p:pic>
      <p:pic>
        <p:nvPicPr>
          <p:cNvPr id="5" name="Picture 4"/>
          <p:cNvPicPr>
            <a:picLocks noChangeAspect="1"/>
          </p:cNvPicPr>
          <p:nvPr/>
        </p:nvPicPr>
        <p:blipFill>
          <a:blip r:embed="rId2"/>
          <a:stretch>
            <a:fillRect/>
          </a:stretch>
        </p:blipFill>
        <p:spPr>
          <a:xfrm>
            <a:off x="5194419" y="3138985"/>
            <a:ext cx="6997581" cy="2773452"/>
          </a:xfrm>
          <a:prstGeom prst="rect">
            <a:avLst/>
          </a:prstGeom>
        </p:spPr>
      </p:pic>
      <p:sp>
        <p:nvSpPr>
          <p:cNvPr id="12" name="Rectangle 11"/>
          <p:cNvSpPr/>
          <p:nvPr/>
        </p:nvSpPr>
        <p:spPr>
          <a:xfrm>
            <a:off x="6356348" y="5949727"/>
            <a:ext cx="2747008"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Drain slip casting</a:t>
            </a:r>
            <a:endParaRPr lang="en-IN" b="1"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83672" y="2329161"/>
            <a:ext cx="5186638" cy="204850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Powder Pressing</a:t>
            </a:r>
            <a:endParaRPr lang="en-IN" sz="2800" dirty="0"/>
          </a:p>
        </p:txBody>
      </p:sp>
      <p:pic>
        <p:nvPicPr>
          <p:cNvPr id="2" name="Picture 1"/>
          <p:cNvPicPr>
            <a:picLocks noChangeAspect="1"/>
          </p:cNvPicPr>
          <p:nvPr/>
        </p:nvPicPr>
        <p:blipFill>
          <a:blip r:embed="rId1"/>
          <a:stretch>
            <a:fillRect/>
          </a:stretch>
        </p:blipFill>
        <p:spPr>
          <a:xfrm>
            <a:off x="7942998" y="560510"/>
            <a:ext cx="3822532" cy="5338129"/>
          </a:xfrm>
          <a:prstGeom prst="rect">
            <a:avLst/>
          </a:prstGeom>
        </p:spPr>
      </p:pic>
      <p:pic>
        <p:nvPicPr>
          <p:cNvPr id="8" name="Picture 7"/>
          <p:cNvPicPr>
            <a:picLocks noChangeAspect="1"/>
          </p:cNvPicPr>
          <p:nvPr/>
        </p:nvPicPr>
        <p:blipFill>
          <a:blip r:embed="rId2"/>
          <a:stretch>
            <a:fillRect/>
          </a:stretch>
        </p:blipFill>
        <p:spPr>
          <a:xfrm>
            <a:off x="4290784" y="523220"/>
            <a:ext cx="3306298" cy="6334780"/>
          </a:xfrm>
          <a:prstGeom prst="rect">
            <a:avLst/>
          </a:prstGeom>
        </p:spPr>
      </p:pic>
      <p:pic>
        <p:nvPicPr>
          <p:cNvPr id="9" name="Picture 8"/>
          <p:cNvPicPr>
            <a:picLocks noChangeAspect="1"/>
          </p:cNvPicPr>
          <p:nvPr/>
        </p:nvPicPr>
        <p:blipFill>
          <a:blip r:embed="rId3"/>
          <a:stretch>
            <a:fillRect/>
          </a:stretch>
        </p:blipFill>
        <p:spPr>
          <a:xfrm>
            <a:off x="209723" y="1713867"/>
            <a:ext cx="3735145" cy="395348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B3AEBA-54C1-46AE-B9E9-BABC12F758AA}" type="slidenum">
              <a:rPr lang="en-IN" smtClean="0"/>
            </a:fld>
            <a:endParaRPr lang="en-IN"/>
          </a:p>
        </p:txBody>
      </p:sp>
      <p:sp>
        <p:nvSpPr>
          <p:cNvPr id="6" name="TextBox 5"/>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Tape Casting</a:t>
            </a:r>
            <a:endParaRPr lang="en-IN" sz="2800" dirty="0"/>
          </a:p>
        </p:txBody>
      </p:sp>
      <p:pic>
        <p:nvPicPr>
          <p:cNvPr id="3" name="Picture 2"/>
          <p:cNvPicPr>
            <a:picLocks noChangeAspect="1"/>
          </p:cNvPicPr>
          <p:nvPr/>
        </p:nvPicPr>
        <p:blipFill>
          <a:blip r:embed="rId1"/>
          <a:stretch>
            <a:fillRect/>
          </a:stretch>
        </p:blipFill>
        <p:spPr>
          <a:xfrm>
            <a:off x="1888144" y="1201003"/>
            <a:ext cx="8254586" cy="45447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4496</Words>
  <Application>WPS Presentation</Application>
  <PresentationFormat>Widescreen</PresentationFormat>
  <Paragraphs>289</Paragraphs>
  <Slides>37</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Arial</vt:lpstr>
      <vt:lpstr>SimSun</vt:lpstr>
      <vt:lpstr>Wingdings</vt:lpstr>
      <vt:lpstr>Times New Roman</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Siva Prasad A V S</dc:creator>
  <cp:lastModifiedBy>Sahil Kumar</cp:lastModifiedBy>
  <cp:revision>163</cp:revision>
  <dcterms:created xsi:type="dcterms:W3CDTF">2018-09-04T10:03:00Z</dcterms:created>
  <dcterms:modified xsi:type="dcterms:W3CDTF">2024-11-26T10:26:06Z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59B38785A4334A2BB0F7C53A7A2C9A10_12</vt:lpwstr>
  </property>
  <property fmtid="{D5CDD505-2E9C-101B-9397-08002B2CF9AE}" pid="3" name="KSOProductBuildVer">
    <vt:lpwstr>1033-12.2.0.18911</vt:lpwstr>
  </property>
</Properties>
</file>