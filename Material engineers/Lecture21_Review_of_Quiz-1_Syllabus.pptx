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89" r:id="rId3"/>
    <p:sldId id="290" r:id="rId4"/>
    <p:sldId id="291" r:id="rId5"/>
    <p:sldId id="292" r:id="rId6"/>
    <p:sldId id="288" r:id="rId7"/>
    <p:sldId id="293" r:id="rId8"/>
    <p:sldId id="294" r:id="rId9"/>
    <p:sldId id="295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1" r:id="rId33"/>
    <p:sldId id="322" r:id="rId34"/>
    <p:sldId id="320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4DB9B-14D1-469F-8522-A21C65B8D7B4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5BC86-2116-42F3-8B7E-AA5270F6B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99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81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981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747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95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426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908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541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6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79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586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52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97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94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374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122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95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031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05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03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424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0520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85BC86-2116-42F3-8B7E-AA5270F6BBAD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757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290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547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933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8362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230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088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31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1292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852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3359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14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0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411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5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8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1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7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91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8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4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C99A3-A339-4C6A-A623-A7156799952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3AEBA-54C1-46AE-B9E9-BABC12F75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7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3" Type="http://schemas.openxmlformats.org/officeDocument/2006/relationships/image" Target="../media/image63.emf"/><Relationship Id="rId7" Type="http://schemas.openxmlformats.org/officeDocument/2006/relationships/image" Target="../media/image6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emf"/><Relationship Id="rId5" Type="http://schemas.openxmlformats.org/officeDocument/2006/relationships/image" Target="../media/image102.png"/><Relationship Id="rId4" Type="http://schemas.openxmlformats.org/officeDocument/2006/relationships/image" Target="../media/image92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3053892"/>
            <a:ext cx="12192000" cy="701731"/>
          </a:xfr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+mn-lt"/>
                <a:ea typeface="+mn-ea"/>
                <a:cs typeface="+mn-cs"/>
              </a:rPr>
              <a:t>Review of Quiz – I Syllabus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387522" y="4121624"/>
            <a:ext cx="9144000" cy="1450074"/>
          </a:xfrm>
        </p:spPr>
        <p:txBody>
          <a:bodyPr anchor="ctr">
            <a:normAutofit fontScale="62500" lnSpcReduction="20000"/>
          </a:bodyPr>
          <a:lstStyle/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87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8109"/>
          <a:stretch/>
        </p:blipFill>
        <p:spPr>
          <a:xfrm>
            <a:off x="272955" y="1168990"/>
            <a:ext cx="10874728" cy="1787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05" y="3489109"/>
            <a:ext cx="10442079" cy="192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9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14" y="1046159"/>
            <a:ext cx="11076734" cy="19200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14" y="3781408"/>
            <a:ext cx="11520576" cy="147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33" y="1168989"/>
            <a:ext cx="11171070" cy="19881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3" y="3582223"/>
            <a:ext cx="11059733" cy="210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 Systems – Based on Unit Cell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605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Unit Cell Geometry there are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crystal systems.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941" y="2101756"/>
            <a:ext cx="8901033" cy="191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0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Face–</a:t>
            </a:r>
            <a:r>
              <a:rPr lang="en-IN" sz="2800" dirty="0" err="1"/>
              <a:t>Centered</a:t>
            </a:r>
            <a:r>
              <a:rPr lang="en-IN" sz="2800" dirty="0"/>
              <a:t> Cubic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478" y="2788749"/>
            <a:ext cx="11218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12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2√2 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0.74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corner atoms and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 are equivalent. One can move the lattice such that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 corner and the corner become face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909" y="0"/>
            <a:ext cx="5256091" cy="2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75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Body–</a:t>
            </a:r>
            <a:r>
              <a:rPr lang="en-IN" sz="2800" dirty="0" err="1"/>
              <a:t>Centered</a:t>
            </a:r>
            <a:r>
              <a:rPr lang="en-IN" sz="2800" dirty="0"/>
              <a:t> Cubic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4" y="523220"/>
            <a:ext cx="11218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8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4R/√3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0.68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the cube such that one of the corners coincide with the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 will not alter the crystal structure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0" y="3757675"/>
            <a:ext cx="10129712" cy="27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0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Hexagonal Close–Packed Crystal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4" y="523220"/>
            <a:ext cx="120964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– ordination number: 12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lattice parameter and atomic radius: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lattice parameter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=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1.633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closest packing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Packing Factor: Ratio of volume of the atoms to volume of unit cell = 0.74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comment about translation of the hexagonal unit cell.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519" y="3049859"/>
            <a:ext cx="7750067" cy="370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3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Density Computations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239" y="759342"/>
            <a:ext cx="1836137" cy="10349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6727" y="2690336"/>
            <a:ext cx="11286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Example:</a:t>
            </a:r>
            <a:r>
              <a:rPr lang="en-US" dirty="0"/>
              <a:t> Copper has an atomic radius of 0.128 nm, an FCC crystal structure, and an atomic weight of 63.5 g/mol. Compute its theoretical density and compare the answer with its measured density.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3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3220"/>
            <a:ext cx="119690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A crystallographic point </a:t>
            </a:r>
            <a:r>
              <a:rPr lang="en-US" dirty="0"/>
              <a:t>is represented using 3 co–ordinates, but as </a:t>
            </a:r>
            <a:r>
              <a:rPr lang="en-US" b="1" dirty="0"/>
              <a:t>fractional multiples of unit cell lengths</a:t>
            </a:r>
            <a:r>
              <a:rPr lang="en-US" dirty="0"/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No commas or parenthesis.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945"/>
          <a:stretch/>
        </p:blipFill>
        <p:spPr>
          <a:xfrm>
            <a:off x="351486" y="1147955"/>
            <a:ext cx="5271393" cy="44786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736" y="1349684"/>
            <a:ext cx="4568351" cy="36114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1818" y="5083018"/>
            <a:ext cx="4371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Example: </a:t>
            </a:r>
            <a:r>
              <a:rPr lang="en-US" dirty="0"/>
              <a:t>Locate ¼ 1 ½ in the above unit cell.</a:t>
            </a:r>
          </a:p>
        </p:txBody>
      </p:sp>
    </p:spTree>
    <p:extLst>
      <p:ext uri="{BB962C8B-B14F-4D97-AF65-F5344CB8AC3E}">
        <p14:creationId xmlns:p14="http://schemas.microsoft.com/office/powerpoint/2010/main" val="1656954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523220"/>
                <a:ext cx="8474877" cy="5355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/>
                  <a:t>A crystallographic direction </a:t>
                </a:r>
                <a:r>
                  <a:rPr lang="en-US" dirty="0"/>
                  <a:t>is represented using 3 co–ordinates, determined by following the procedure mentioned below:</a:t>
                </a:r>
              </a:p>
              <a:p>
                <a:pPr algn="just"/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Choose a convenient origin.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Determine the components of the direction in terms of the unit cell dimensions.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Multiply or divide them with a common factor to reduce them to smallest possible integers.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algn="just"/>
                <a:r>
                  <a:rPr lang="en-US" b="1" dirty="0"/>
                  <a:t>NOTE: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A vector can be translated throughout the crystal lattice and it would still represent the same direction. It can be translated to the origin you chose.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The three components or </a:t>
                </a:r>
                <a:r>
                  <a:rPr lang="en-US" b="1" dirty="0"/>
                  <a:t>indices</a:t>
                </a:r>
                <a:r>
                  <a:rPr lang="en-US" dirty="0"/>
                  <a:t>, not separated commas, are kept in </a:t>
                </a:r>
                <a:r>
                  <a:rPr lang="en-US" b="1" dirty="0"/>
                  <a:t>square brackets</a:t>
                </a:r>
                <a:r>
                  <a:rPr lang="en-US" dirty="0"/>
                  <a:t>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en-US" dirty="0"/>
                  <a:t>Negative indices are denoted using a ‘bar’ over the number rather than a ‘–’ sign.</a:t>
                </a:r>
              </a:p>
              <a:p>
                <a:pPr algn="just"/>
                <a:r>
                  <a:rPr lang="en-US" dirty="0"/>
                  <a:t>      </a:t>
                </a:r>
                <a:r>
                  <a:rPr lang="en-US" dirty="0" err="1"/>
                  <a:t>Eg</a:t>
                </a:r>
                <a:r>
                  <a:rPr lang="en-US" dirty="0"/>
                  <a:t>: [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] or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 dirty="0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8474877" cy="5355312"/>
              </a:xfrm>
              <a:prstGeom prst="rect">
                <a:avLst/>
              </a:prstGeom>
              <a:blipFill rotWithShape="0">
                <a:blip r:embed="rId3"/>
                <a:stretch>
                  <a:fillRect l="-576" t="-683" r="-576" b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6741"/>
          <a:stretch/>
        </p:blipFill>
        <p:spPr>
          <a:xfrm>
            <a:off x="8474877" y="523220"/>
            <a:ext cx="3605666" cy="39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75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Points, Directions and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523220"/>
            <a:ext cx="95670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Example 1:</a:t>
            </a:r>
            <a:r>
              <a:rPr lang="en-IN" dirty="0"/>
              <a:t> Determine the crystallographic direction in the figure shown.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Example 2:</a:t>
            </a:r>
            <a:r>
              <a:rPr lang="en-IN" dirty="0"/>
              <a:t> Draw the crystallographic direction corresponding to [1 2 1] and [2 1 1] directions.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634" y="2379316"/>
            <a:ext cx="4614342" cy="37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3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Family of Crystallographic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0" y="523220"/>
                <a:ext cx="12023677" cy="34174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b="1" dirty="0"/>
                  <a:t>Observation:</a:t>
                </a:r>
                <a:r>
                  <a:rPr lang="en-IN" dirty="0"/>
                  <a:t> In a cubic crystal system, all the directions drawn along the lattice or co–ordinate axes are equivalent. So,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acc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IN" dirty="0"/>
                  <a:t> are all equivalent.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Points to note:</a:t>
                </a:r>
                <a:r>
                  <a:rPr lang="en-IN" dirty="0"/>
                  <a:t> 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All these directions are collectively represented as </a:t>
                </a:r>
                <a:r>
                  <a:rPr lang="en-IN" b="1" dirty="0"/>
                  <a:t>&lt;100&gt; family of directions.</a:t>
                </a:r>
                <a:r>
                  <a:rPr lang="en-IN" dirty="0"/>
                  <a:t> 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Likewise,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acc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acc>
                          <m:accPr>
                            <m:chr m:val="̅"/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acc>
                      </m:e>
                    </m:d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123</m:t>
                        </m:r>
                      </m:e>
                    </m:d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are members of the family &lt;123&gt;.</a:t>
                </a:r>
                <a:endParaRPr lang="en-IN" b="1" dirty="0"/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Question 1:</a:t>
                </a:r>
                <a:r>
                  <a:rPr lang="en-IN" dirty="0"/>
                  <a:t> Are [200] and [100] same for a cubic system?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Question 2:</a:t>
                </a:r>
                <a:r>
                  <a:rPr lang="en-IN" dirty="0"/>
                  <a:t> For a tetragonal system [100] and [010] are equivalent, but [100] and [001] are not. Is this true?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023677" cy="3417474"/>
              </a:xfrm>
              <a:prstGeom prst="rect">
                <a:avLst/>
              </a:prstGeom>
              <a:blipFill rotWithShape="0">
                <a:blip r:embed="rId3"/>
                <a:stretch>
                  <a:fillRect l="-406" t="-1071" r="-406" b="-19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546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Directions For Hexagonal Crystals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" y="523219"/>
                <a:ext cx="8541891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b="1" dirty="0"/>
                  <a:t>An Activity to Identify the Road Block:</a:t>
                </a:r>
                <a:r>
                  <a:rPr lang="en-IN" dirty="0"/>
                  <a:t> 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Choose the co – ordinate system as shown and express all the equivalent directions within the hexagonal face in terms of indices.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b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What do you observe?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b="1" dirty="0"/>
                  <a:t>Do the following for the same directions and see if you still face the same problem:</a:t>
                </a:r>
              </a:p>
              <a:p>
                <a:pPr algn="just"/>
                <a:endParaRPr lang="en-IN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IN" dirty="0"/>
                  <a:t> →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𝑢𝑣𝑡𝑤</m:t>
                        </m:r>
                      </m:e>
                    </m:d>
                  </m:oMath>
                </a14:m>
                <a:r>
                  <a:rPr lang="en-IN" dirty="0"/>
                  <a:t>: Using four indices instead of three indices, called Miller–</a:t>
                </a:r>
                <a:r>
                  <a:rPr lang="en-IN" dirty="0" err="1"/>
                  <a:t>Bravais</a:t>
                </a:r>
                <a:r>
                  <a:rPr lang="en-IN" dirty="0"/>
                  <a:t> indices.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523219"/>
                <a:ext cx="8541891" cy="3139321"/>
              </a:xfrm>
              <a:prstGeom prst="rect">
                <a:avLst/>
              </a:prstGeom>
              <a:blipFill rotWithShape="0">
                <a:blip r:embed="rId3"/>
                <a:stretch>
                  <a:fillRect l="-571" t="-1165" r="-571" b="-2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892" y="523219"/>
            <a:ext cx="3650108" cy="44582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/>
          <a:srcRect r="2258"/>
          <a:stretch/>
        </p:blipFill>
        <p:spPr>
          <a:xfrm>
            <a:off x="3996594" y="3812667"/>
            <a:ext cx="1749113" cy="19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8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52"/>
          <a:stretch/>
        </p:blipFill>
        <p:spPr>
          <a:xfrm>
            <a:off x="7369791" y="947090"/>
            <a:ext cx="3848668" cy="4511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Directions For Hexagonal Crystals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2258"/>
          <a:stretch/>
        </p:blipFill>
        <p:spPr>
          <a:xfrm>
            <a:off x="2331567" y="769217"/>
            <a:ext cx="1749113" cy="19965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2956" y="3662204"/>
            <a:ext cx="5117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Example: </a:t>
            </a:r>
            <a:r>
              <a:rPr lang="en-IN" dirty="0"/>
              <a:t>Find the indices of the directions shown</a:t>
            </a:r>
          </a:p>
        </p:txBody>
      </p:sp>
    </p:spTree>
    <p:extLst>
      <p:ext uri="{BB962C8B-B14F-4D97-AF65-F5344CB8AC3E}">
        <p14:creationId xmlns:p14="http://schemas.microsoft.com/office/powerpoint/2010/main" val="3182222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23220"/>
            <a:ext cx="12192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We would like to express a crystallographic planes in terms of 3 indices (</a:t>
            </a:r>
            <a:r>
              <a:rPr lang="en-US" dirty="0" err="1"/>
              <a:t>hkl</a:t>
            </a:r>
            <a:r>
              <a:rPr lang="en-US" dirty="0"/>
              <a:t>) in a manner similar to co–ordinate geometry of planes where we use direction cosines of the normal to denote a plane. These three indices are called </a:t>
            </a:r>
            <a:r>
              <a:rPr lang="en-US" b="1" dirty="0"/>
              <a:t>Miller Indices</a:t>
            </a:r>
            <a:r>
              <a:rPr lang="en-US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If the plane passes through the selected origin, either another parallel plane must be constructed within the unit cell by an appropriate translation, or a new origin must be established at the corner of another unit cell.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At this point the crystallographic plane either intersects or parallels each of the three axes; the length of the planar intercept for each axis is determined in terms of the lattice parameters a, b, and c.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The reciprocals of these numbers are taken. A plane that parallels an axis may be considered to have an infinite intercept, and, therefore, a zero index.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If necessary, these three numbers are changed to the set of smallest integers by multiplication or division by a common factor. 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/>
          </a:p>
          <a:p>
            <a:pPr marL="342900" indent="-342900" algn="just">
              <a:buFont typeface="+mj-lt"/>
              <a:buAutoNum type="arabicPeriod"/>
            </a:pPr>
            <a:r>
              <a:rPr lang="en-US" dirty="0"/>
              <a:t>Finally, the integer indices, not separated by commas, are enclosed within parentheses, thus: (</a:t>
            </a:r>
            <a:r>
              <a:rPr lang="en-US" dirty="0" err="1"/>
              <a:t>hkl</a:t>
            </a:r>
            <a:r>
              <a:rPr lang="en-US" dirty="0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19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0" y="523220"/>
                <a:ext cx="12192000" cy="1501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b="1" dirty="0"/>
                  <a:t>Examples: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/>
                  <a:t>Find the Miller Indices for the planes shown in the figures below.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endParaRPr lang="en-US" dirty="0"/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dirty="0"/>
                  <a:t>Draw the planes with Miller indices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0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), </a:t>
                </a:r>
                <a:r>
                  <a:rPr lang="en-US" dirty="0"/>
                  <a:t>(123),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11</m:t>
                    </m:r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dirty="0"/>
                  <a:t>) in a cubic crystal system.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1501758"/>
              </a:xfrm>
              <a:prstGeom prst="rect">
                <a:avLst/>
              </a:prstGeom>
              <a:blipFill rotWithShape="0">
                <a:blip r:embed="rId2"/>
                <a:stretch>
                  <a:fillRect l="-400" t="-2439" b="-44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27" y="2548198"/>
            <a:ext cx="3576740" cy="39492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876" y="2658744"/>
            <a:ext cx="4612471" cy="371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6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Crystallographic Planes – Equivalent planes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511"/>
          <a:stretch/>
        </p:blipFill>
        <p:spPr>
          <a:xfrm>
            <a:off x="341193" y="632905"/>
            <a:ext cx="3875965" cy="41509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19" y="523220"/>
            <a:ext cx="5155805" cy="3270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088" r="-1"/>
          <a:stretch/>
        </p:blipFill>
        <p:spPr>
          <a:xfrm>
            <a:off x="6955749" y="3955207"/>
            <a:ext cx="4612944" cy="2902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0125" y="5112755"/>
                <a:ext cx="6534194" cy="12009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dirty="0"/>
                  <a:t>A family of planes are expressed within flower brackets</a:t>
                </a:r>
              </a:p>
              <a:p>
                <a:pPr algn="just"/>
                <a:endParaRPr lang="en-IN" dirty="0"/>
              </a:p>
              <a:p>
                <a:pPr algn="just"/>
                <a:r>
                  <a:rPr lang="en-IN" dirty="0"/>
                  <a:t>For e.g., {111} represent eight crystallographic planes in a cubic system – (111),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IN" dirty="0"/>
                  <a:t>),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dirty="0"/>
                  <a:t>) and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11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IN" dirty="0"/>
                  <a:t>) and the negative of them.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125" y="5112755"/>
                <a:ext cx="6534194" cy="1200906"/>
              </a:xfrm>
              <a:prstGeom prst="rect">
                <a:avLst/>
              </a:prstGeom>
              <a:blipFill rotWithShape="0">
                <a:blip r:embed="rId5"/>
                <a:stretch>
                  <a:fillRect l="-840" t="-3046" r="-746" b="-7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96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Crystallographic Planes – Hexagonal Crystals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while representing planes, we need to introduce an additional, dependent co–ordinate in order that a family of planes contain the same combination of indices.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indices h k and l are determined first in the same manner as for cubic systems. After this, an additional co – ordinate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–(h + k). The four – index representation for crystallographic planes in Hexagonal systems is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hkil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14" y="2191617"/>
            <a:ext cx="3421936" cy="37653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04263" y="3101947"/>
            <a:ext cx="60596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Find the Miller indices of the crystallographic plane shown here.</a:t>
            </a:r>
          </a:p>
        </p:txBody>
      </p:sp>
    </p:spTree>
    <p:extLst>
      <p:ext uri="{BB962C8B-B14F-4D97-AF65-F5344CB8AC3E}">
        <p14:creationId xmlns:p14="http://schemas.microsoft.com/office/powerpoint/2010/main" val="798195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and Planar Densities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523220"/>
                <a:ext cx="12192000" cy="5961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Density is associated with a particular crystallographic direction.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Planar Density is associated with a particular crystallographic plane.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Density (LD)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atoms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centered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along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direction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length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direction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vector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Planar Density (PD)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atoms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centered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plane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plane</m:t>
                        </m:r>
                      </m:den>
                    </m:f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Equivalent directions have identical linear densities.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Likewise, equivalent planes have identical planar densities.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indices h k and l are determined first in the same manner as for cubic systems. After this, an additional co–ordinate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as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–(h + k). The four–index representation for crystallographic planes in Hexagonal systems is (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hkil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 1: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Determine LD100, LD110 and LD111 in FCC and BCC crystal systems. Which is the closest packed direction in each case?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Exercise 2: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Determine PD100, PD110 and PD111 in FCC and BCC crystal systems. Which is the closest packed plane in each case?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3220"/>
                <a:ext cx="12192000" cy="5961697"/>
              </a:xfrm>
              <a:prstGeom prst="rect">
                <a:avLst/>
              </a:prstGeom>
              <a:blipFill rotWithShape="0">
                <a:blip r:embed="rId2"/>
                <a:stretch>
                  <a:fillRect l="-400" t="-613" r="-400" b="-7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912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and HCP are the closest packed, with an Atomic Packing Factor value = 0.74.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unit cell representation, these two crystal structures can be visualized as stacking of close – packed planes in a certain pattern.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stacking sequence decides the type of crystal structure.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" y="2550600"/>
            <a:ext cx="5750743" cy="2717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0" y="3447653"/>
            <a:ext cx="54535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realize HCP Crystal Structure from this picture? What kind of stacking sequence should we follow hereafter?</a:t>
            </a:r>
          </a:p>
        </p:txBody>
      </p:sp>
    </p:spTree>
    <p:extLst>
      <p:ext uri="{BB962C8B-B14F-4D97-AF65-F5344CB8AC3E}">
        <p14:creationId xmlns:p14="http://schemas.microsoft.com/office/powerpoint/2010/main" val="3391071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2322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and HCP are the closest packed, with an Atomic Packing Factor value = 0.74.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unit cell representation, these two crystal structures can be visualized as stacking of close – packed planes in a certain pattern.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stacking sequence decides the type of crystal structure.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9" y="2550600"/>
            <a:ext cx="5750743" cy="27174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064" y="2441319"/>
            <a:ext cx="5984936" cy="266294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2060812" y="3152633"/>
            <a:ext cx="423081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3404081" y="3131396"/>
            <a:ext cx="497107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2060812" y="3929789"/>
            <a:ext cx="497107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454661" y="3916142"/>
            <a:ext cx="423081" cy="7779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2545232" y="4694064"/>
            <a:ext cx="9094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2545232" y="3152633"/>
            <a:ext cx="90942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541429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can occupy either B or C positions as shown in the picture on the right (pink ‘B’ spheres placed over blue ‘A’ spheres). So, if we occupy B positions, the next layer of atoms can occupy either C or A positions. If we choose A positions, we will get HCP. If we choose C positions we will get FCC.</a:t>
            </a:r>
          </a:p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FCC corresponds to ABCABCABC….stacking sequence.</a:t>
            </a:r>
          </a:p>
          <a:p>
            <a:pPr algn="just"/>
            <a:r>
              <a:rPr lang="en-I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HCP corresponds to ABABAB…..stacking sequence.</a:t>
            </a:r>
          </a:p>
        </p:txBody>
      </p:sp>
    </p:spTree>
    <p:extLst>
      <p:ext uri="{BB962C8B-B14F-4D97-AF65-F5344CB8AC3E}">
        <p14:creationId xmlns:p14="http://schemas.microsoft.com/office/powerpoint/2010/main" val="1874798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– packed Crystal Structures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4597" y="5176388"/>
            <a:ext cx="8802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 corresponds to ABCABCABC….stacking sequence. These planes are {111} family.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HCP corresponds to ABABAB…..stacking sequence. These planes are {0001} family.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3" y="938739"/>
            <a:ext cx="3571081" cy="35384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315" y="523220"/>
            <a:ext cx="2462499" cy="42376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481" y="523220"/>
            <a:ext cx="3567757" cy="330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28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Point Defects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011" y="1050430"/>
            <a:ext cx="1787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Impurities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705970" y="1377975"/>
            <a:ext cx="1310185" cy="4913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692322" y="1882943"/>
            <a:ext cx="1255594" cy="4367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6155" y="1207575"/>
            <a:ext cx="1787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Interstitial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" y="3058224"/>
            <a:ext cx="48040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Vacancies are driven by thermodynamics.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affecting the type of impurities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size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Crystal structure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Electronegativity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Valences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24" y="523220"/>
            <a:ext cx="4412776" cy="42125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013" y="2780593"/>
            <a:ext cx="3064739" cy="97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28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Edge Dislocation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4" y="958312"/>
            <a:ext cx="4860728" cy="41452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48300" y="523219"/>
            <a:ext cx="3336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note: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Burger’s vector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line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motion</a:t>
            </a:r>
          </a:p>
        </p:txBody>
      </p:sp>
    </p:spTree>
    <p:extLst>
      <p:ext uri="{BB962C8B-B14F-4D97-AF65-F5344CB8AC3E}">
        <p14:creationId xmlns:p14="http://schemas.microsoft.com/office/powerpoint/2010/main" val="3281459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Screw Dislocation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656"/>
          <a:stretch/>
        </p:blipFill>
        <p:spPr>
          <a:xfrm>
            <a:off x="172124" y="818864"/>
            <a:ext cx="6365154" cy="5627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383" y="1420654"/>
            <a:ext cx="5115408" cy="442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81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Line Defects – Mixed Dislocation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895"/>
          <a:stretch/>
        </p:blipFill>
        <p:spPr>
          <a:xfrm>
            <a:off x="20522" y="523220"/>
            <a:ext cx="5640552" cy="5071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523220"/>
            <a:ext cx="5168888" cy="38943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7280"/>
          <a:stretch/>
        </p:blipFill>
        <p:spPr>
          <a:xfrm>
            <a:off x="5084421" y="4355748"/>
            <a:ext cx="2502185" cy="2477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6606" y="5117350"/>
            <a:ext cx="2497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Electron Microscopic Image of a Ti alloy</a:t>
            </a:r>
          </a:p>
        </p:txBody>
      </p:sp>
    </p:spTree>
    <p:extLst>
      <p:ext uri="{BB962C8B-B14F-4D97-AF65-F5344CB8AC3E}">
        <p14:creationId xmlns:p14="http://schemas.microsoft.com/office/powerpoint/2010/main" val="2547050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Grain Boundaries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71" y="523220"/>
            <a:ext cx="5520029" cy="4840350"/>
          </a:xfrm>
          <a:prstGeom prst="rect">
            <a:avLst/>
          </a:prstGeom>
        </p:spPr>
      </p:pic>
      <p:pic>
        <p:nvPicPr>
          <p:cNvPr id="1026" name="Picture 2" descr="Image result for grain boundaries sem imag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74"/>
          <a:stretch/>
        </p:blipFill>
        <p:spPr bwMode="auto">
          <a:xfrm>
            <a:off x="510418" y="803937"/>
            <a:ext cx="3693094" cy="36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74675" y="4490113"/>
            <a:ext cx="3528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Image of grain boundaries</a:t>
            </a:r>
          </a:p>
        </p:txBody>
      </p:sp>
    </p:spTree>
    <p:extLst>
      <p:ext uri="{BB962C8B-B14F-4D97-AF65-F5344CB8AC3E}">
        <p14:creationId xmlns:p14="http://schemas.microsoft.com/office/powerpoint/2010/main" val="2079517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Grain Boundaries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77" y="523220"/>
            <a:ext cx="2816949" cy="5634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98806" y="6158081"/>
            <a:ext cx="3528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Tilt boundary due to alignment of edge dislocations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003" y="698977"/>
            <a:ext cx="72764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adjacent figure shows a type of interfacial defect called tilt boundary.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 type of defect is twist boundary which can be described using screw type of dislocations.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atoms along the grain boundaries are less regularly arranged.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boundaries also are at a higher energy state. The magnitude of this energy is function of the degree of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misorientation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853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Twin Boundaries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24" y="1009953"/>
            <a:ext cx="6817154" cy="464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38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Interfacial Defects – Miscellaneous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003" y="853721"/>
            <a:ext cx="115673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stacking fault – say, in FCC, a break in the sequence of stacking of {111} planes ABCABCABC…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boundaries in multiphase materials.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Ferromagnetic domain walls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3018430"/>
            <a:ext cx="12192001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Bulk or Volume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537" y="4009795"/>
            <a:ext cx="11567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Pores, cracks, foreign inclusions and other phases.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698032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Atomic vibrations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3675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vibrations are also a kind of defect, especially at very high temperatures which affect the properties of a solid.</a:t>
            </a:r>
          </a:p>
        </p:txBody>
      </p:sp>
    </p:spTree>
    <p:extLst>
      <p:ext uri="{BB962C8B-B14F-4D97-AF65-F5344CB8AC3E}">
        <p14:creationId xmlns:p14="http://schemas.microsoft.com/office/powerpoint/2010/main" val="3279414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Concept of 3–D State of Stress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73" y="1603711"/>
            <a:ext cx="6310829" cy="46948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5423" t="2586" r="50249" b="51842"/>
          <a:stretch/>
        </p:blipFill>
        <p:spPr>
          <a:xfrm>
            <a:off x="7615450" y="2045366"/>
            <a:ext cx="4271749" cy="4253174"/>
          </a:xfrm>
          <a:prstGeom prst="rect">
            <a:avLst/>
          </a:prstGeom>
        </p:spPr>
      </p:pic>
      <p:sp>
        <p:nvSpPr>
          <p:cNvPr id="2" name="Cube 1"/>
          <p:cNvSpPr/>
          <p:nvPr/>
        </p:nvSpPr>
        <p:spPr>
          <a:xfrm rot="19467084">
            <a:off x="1417853" y="4249628"/>
            <a:ext cx="470488" cy="415491"/>
          </a:xfrm>
          <a:prstGeom prst="cub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1340915" y="3353362"/>
            <a:ext cx="470488" cy="415491"/>
          </a:xfrm>
          <a:prstGeom prst="cube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 2"/>
          <p:cNvSpPr/>
          <p:nvPr/>
        </p:nvSpPr>
        <p:spPr>
          <a:xfrm>
            <a:off x="1746913" y="4653887"/>
            <a:ext cx="5677469" cy="2050592"/>
          </a:xfrm>
          <a:custGeom>
            <a:avLst/>
            <a:gdLst>
              <a:gd name="connsiteX0" fmla="*/ 0 w 5677469"/>
              <a:gd name="connsiteY0" fmla="*/ 0 h 2050592"/>
              <a:gd name="connsiteX1" fmla="*/ 668741 w 5677469"/>
              <a:gd name="connsiteY1" fmla="*/ 1446662 h 2050592"/>
              <a:gd name="connsiteX2" fmla="*/ 1405720 w 5677469"/>
              <a:gd name="connsiteY2" fmla="*/ 1856095 h 2050592"/>
              <a:gd name="connsiteX3" fmla="*/ 3916908 w 5677469"/>
              <a:gd name="connsiteY3" fmla="*/ 2019868 h 2050592"/>
              <a:gd name="connsiteX4" fmla="*/ 5677469 w 5677469"/>
              <a:gd name="connsiteY4" fmla="*/ 1255594 h 205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7469" h="2050592">
                <a:moveTo>
                  <a:pt x="0" y="0"/>
                </a:moveTo>
                <a:cubicBezTo>
                  <a:pt x="217227" y="568656"/>
                  <a:pt x="434454" y="1137313"/>
                  <a:pt x="668741" y="1446662"/>
                </a:cubicBezTo>
                <a:cubicBezTo>
                  <a:pt x="903028" y="1756011"/>
                  <a:pt x="864359" y="1760561"/>
                  <a:pt x="1405720" y="1856095"/>
                </a:cubicBezTo>
                <a:cubicBezTo>
                  <a:pt x="1947081" y="1951629"/>
                  <a:pt x="3204950" y="2119952"/>
                  <a:pt x="3916908" y="2019868"/>
                </a:cubicBezTo>
                <a:cubicBezTo>
                  <a:pt x="4628866" y="1919784"/>
                  <a:pt x="5153167" y="1587689"/>
                  <a:pt x="5677469" y="125559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202303" y="6098485"/>
            <a:ext cx="3002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of Stress at a point</a:t>
            </a:r>
          </a:p>
        </p:txBody>
      </p:sp>
    </p:spTree>
    <p:extLst>
      <p:ext uri="{BB962C8B-B14F-4D97-AF65-F5344CB8AC3E}">
        <p14:creationId xmlns:p14="http://schemas.microsoft.com/office/powerpoint/2010/main" val="1238402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17" y="764274"/>
            <a:ext cx="1885455" cy="5615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Concept of 3–D State of Stress: Stress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20972" y="2053883"/>
                <a:ext cx="205388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sSup>
                        <m:sSup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m:rPr>
                          <m:sty m:val="p"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cos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972" y="2053883"/>
                <a:ext cx="2053883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0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Stress – Strain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322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metals exhibit linear relationship between stress and strain up to a certain limit of stress. This is known as Hooke’s law.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51" y="1712322"/>
            <a:ext cx="10902924" cy="40879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51" y="997913"/>
            <a:ext cx="1229518" cy="4527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997912"/>
            <a:ext cx="1064455" cy="4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11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Viewing Elasticity at atomistic length scales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6910782" cy="3966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67690" y="1106999"/>
            <a:ext cx="48859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potential as a function of the distance between a pair of atoms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161" y="3088903"/>
            <a:ext cx="6299676" cy="37690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34722" y="3624632"/>
            <a:ext cx="2256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between a pair of atoms</a:t>
            </a:r>
          </a:p>
        </p:txBody>
      </p:sp>
    </p:spTree>
    <p:extLst>
      <p:ext uri="{BB962C8B-B14F-4D97-AF65-F5344CB8AC3E}">
        <p14:creationId xmlns:p14="http://schemas.microsoft.com/office/powerpoint/2010/main" val="3465380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23" y="1487606"/>
            <a:ext cx="8454244" cy="4872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Viewing Elasticity at atomistic length scales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348" y="1044817"/>
            <a:ext cx="1681463" cy="88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91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Elastic Properties of Materials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314" t="1976"/>
          <a:stretch/>
        </p:blipFill>
        <p:spPr>
          <a:xfrm>
            <a:off x="6354792" y="0"/>
            <a:ext cx="5905447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803" y="748027"/>
            <a:ext cx="66196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Poisson’s ratio (</a:t>
            </a:r>
            <a:r>
              <a:rPr lang="el-G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of lateral strain to longitudinal strain, with a negative sign as in the equation below. The negative sign is to ensure that the value of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positive.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13" y="2284936"/>
            <a:ext cx="2222116" cy="7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75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 – axial State and relation between Elastic Constants In Isotropic Materials</a:t>
            </a:r>
          </a:p>
        </p:txBody>
      </p:sp>
      <p:sp>
        <p:nvSpPr>
          <p:cNvPr id="4" name="Rectangle 3"/>
          <p:cNvSpPr>
            <a:spLocks noChangeAspect="1"/>
          </p:cNvSpPr>
          <p:nvPr/>
        </p:nvSpPr>
        <p:spPr>
          <a:xfrm>
            <a:off x="8557146" y="1296537"/>
            <a:ext cx="1571592" cy="157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10128738" y="2082730"/>
            <a:ext cx="78779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769355" y="2110866"/>
            <a:ext cx="78779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9300739" y="693630"/>
            <a:ext cx="0" cy="6029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9342942" y="2868923"/>
            <a:ext cx="0" cy="60290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916529" y="1882675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9527" y="1882675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00739" y="540924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42942" y="3170376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244862" y="3742718"/>
            <a:ext cx="2248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258928" y="1552951"/>
            <a:ext cx="0" cy="220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413280" y="3681553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24764" y="1245723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803" y="748027"/>
            <a:ext cx="66196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Poisson’s ratio (</a:t>
            </a:r>
            <a:r>
              <a:rPr lang="el-GR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of lateral strain to longitudinal strain, with a negative sign as in the equation below. The negative sign is to ensure that the value of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positive.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4066" y="3967526"/>
                <a:ext cx="7244862" cy="1254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here,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 along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direction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ν</m:t>
                    </m:r>
                    <m:f>
                      <m:fPr>
                        <m:ctrlPr>
                          <a:rPr lang="el-GR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e>
                    </m:d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 along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direction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ν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e>
                    </m:d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6" y="3967526"/>
                <a:ext cx="7244862" cy="1254189"/>
              </a:xfrm>
              <a:prstGeom prst="rect">
                <a:avLst/>
              </a:prstGeom>
              <a:blipFill rotWithShape="0">
                <a:blip r:embed="rId2"/>
                <a:stretch>
                  <a:fillRect l="-841" t="-2913" b="-24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13" y="2284936"/>
            <a:ext cx="2222116" cy="73915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393870" y="2809437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972994" y="2768895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109133" y="1033821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09465" y="1002892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0463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Bi – axial State and relation between Elastic Constants In Isotropic Materials</a:t>
            </a:r>
          </a:p>
        </p:txBody>
      </p:sp>
      <p:sp>
        <p:nvSpPr>
          <p:cNvPr id="4" name="Rectangle 3"/>
          <p:cNvSpPr>
            <a:spLocks noChangeAspect="1"/>
          </p:cNvSpPr>
          <p:nvPr/>
        </p:nvSpPr>
        <p:spPr>
          <a:xfrm>
            <a:off x="9232397" y="1240846"/>
            <a:ext cx="1571592" cy="157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>
            <a:stCxn id="4" idx="3"/>
          </p:cNvCxnSpPr>
          <p:nvPr/>
        </p:nvCxnSpPr>
        <p:spPr>
          <a:xfrm>
            <a:off x="10803989" y="2027039"/>
            <a:ext cx="78779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8444606" y="2055175"/>
            <a:ext cx="78779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9975990" y="637939"/>
            <a:ext cx="0" cy="6029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0018193" y="2813232"/>
            <a:ext cx="0" cy="60290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591780" y="1826984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4778" y="1826984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75990" y="485233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8193" y="3114685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920113" y="3687027"/>
            <a:ext cx="2248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934179" y="1497260"/>
            <a:ext cx="0" cy="220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088531" y="3625862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00015" y="1190032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-10216" y="543525"/>
                <a:ext cx="7244862" cy="1254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here,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+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 along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direction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ν</m:t>
                    </m:r>
                    <m:f>
                      <m:fPr>
                        <m:ctrlPr>
                          <a:rPr lang="el-GR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e>
                    </m:d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 along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direction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ν</m:t>
                    </m:r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ν</m:t>
                        </m:r>
                      </m:e>
                    </m:d>
                    <m:f>
                      <m:fPr>
                        <m:ctrlPr>
                          <a:rPr lang="el-GR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l-G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den>
                    </m:f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216" y="543525"/>
                <a:ext cx="7244862" cy="1254189"/>
              </a:xfrm>
              <a:prstGeom prst="rect">
                <a:avLst/>
              </a:prstGeom>
              <a:blipFill rotWithShape="0">
                <a:blip r:embed="rId3"/>
                <a:stretch>
                  <a:fillRect l="-841" t="-2427" b="-24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9069121" y="2753746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648245" y="2713204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784384" y="978130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984716" y="947201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>
            <a:spLocks noChangeAspect="1"/>
          </p:cNvSpPr>
          <p:nvPr/>
        </p:nvSpPr>
        <p:spPr>
          <a:xfrm rot="18784400">
            <a:off x="9480571" y="1499185"/>
            <a:ext cx="1071843" cy="10723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/>
          <p:cNvSpPr>
            <a:spLocks noChangeAspect="1"/>
          </p:cNvSpPr>
          <p:nvPr/>
        </p:nvSpPr>
        <p:spPr>
          <a:xfrm>
            <a:off x="9091717" y="4767220"/>
            <a:ext cx="1071843" cy="10723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8176321" y="6457890"/>
            <a:ext cx="22488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190387" y="4275466"/>
            <a:ext cx="0" cy="2203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0306081" y="6457890"/>
            <a:ext cx="7546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  <a:endParaRPr lang="en-IN" sz="20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69355" y="3967526"/>
            <a:ext cx="5526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</a:t>
            </a:r>
            <a:endParaRPr lang="en-IN" sz="20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10145150" y="5303412"/>
            <a:ext cx="78779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330366" y="5303412"/>
            <a:ext cx="787791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654427" y="5839604"/>
            <a:ext cx="0" cy="6029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9610229" y="4164313"/>
            <a:ext cx="0" cy="60290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9218328" y="4628271"/>
            <a:ext cx="86282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9192187" y="5978770"/>
            <a:ext cx="862821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10294008" y="5025043"/>
            <a:ext cx="0" cy="602907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8936975" y="5025043"/>
            <a:ext cx="0" cy="6029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0862071" y="5103357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10229" y="3975590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4298" y="6081905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57867" y="4871249"/>
            <a:ext cx="4783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82836" y="4812598"/>
            <a:ext cx="77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79041" y="4221275"/>
            <a:ext cx="77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64913" y="5290623"/>
            <a:ext cx="77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1717" y="5866567"/>
            <a:ext cx="7779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0" y="2377003"/>
                <a:ext cx="724486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here,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x’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y’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?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IN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x’y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IN" sz="20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y’x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</a:t>
                </a:r>
                <a:endParaRPr lang="en-I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77003"/>
                <a:ext cx="7244862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842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/>
          <p:cNvSpPr/>
          <p:nvPr/>
        </p:nvSpPr>
        <p:spPr>
          <a:xfrm rot="10800000">
            <a:off x="6603458" y="2465450"/>
            <a:ext cx="1940990" cy="2403965"/>
          </a:xfrm>
          <a:prstGeom prst="arc">
            <a:avLst>
              <a:gd name="adj1" fmla="val 16287630"/>
              <a:gd name="adj2" fmla="val 5660078"/>
            </a:avLst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/>
          <p:cNvSpPr/>
          <p:nvPr/>
        </p:nvSpPr>
        <p:spPr>
          <a:xfrm>
            <a:off x="8900883" y="1628102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975988" y="895915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032260" y="2808408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803989" y="1697807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796951" y="5760111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0083646" y="5692672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095071" y="4582544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832969" y="4500451"/>
            <a:ext cx="3657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539" y="3487231"/>
            <a:ext cx="3296836" cy="95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11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0173"/>
            <a:ext cx="44453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Strength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point M in the adjacent stress–strain curve.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392" y="570173"/>
            <a:ext cx="7636372" cy="61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343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3220"/>
            <a:ext cx="4445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704"/>
          <a:stretch/>
        </p:blipFill>
        <p:spPr>
          <a:xfrm>
            <a:off x="7665465" y="0"/>
            <a:ext cx="4526535" cy="39032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58" y="1682469"/>
            <a:ext cx="2705248" cy="908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616" y="1709764"/>
            <a:ext cx="2914747" cy="7271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208110"/>
            <a:ext cx="640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Quantified as % elongation of length, or, % reduction in area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672" y="3623466"/>
            <a:ext cx="9382667" cy="29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14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0173"/>
            <a:ext cx="4445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990540"/>
                <a:ext cx="8625385" cy="22506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capacity of a material to absorb energy when it is deformed elastically and then, upon unloading, to have this energy recovered. This property is quantified as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modulus of resilience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Its units are N–m/m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i.e., energy per unit volume.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strain at yield point.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90540"/>
                <a:ext cx="8625385" cy="2250681"/>
              </a:xfrm>
              <a:prstGeom prst="rect">
                <a:avLst/>
              </a:prstGeom>
              <a:blipFill rotWithShape="0">
                <a:blip r:embed="rId3"/>
                <a:stretch>
                  <a:fillRect l="-707" t="-1351" r="-707" b="-3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865" y="523220"/>
            <a:ext cx="3479772" cy="53589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317" y="3345631"/>
            <a:ext cx="1810283" cy="7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20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0173"/>
            <a:ext cx="4445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990540"/>
                <a:ext cx="12192000" cy="1944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capacity of a material to absorb energy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upto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fracture. This property is quantified as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modulus of resilience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Its units are also N–m/m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i.e., energy per unit volume.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𝜖</m:t>
                          </m:r>
                        </m:e>
                      </m:nary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IN" sz="2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strain at fracture.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90540"/>
                <a:ext cx="12192000" cy="1944571"/>
              </a:xfrm>
              <a:prstGeom prst="rect">
                <a:avLst/>
              </a:prstGeom>
              <a:blipFill rotWithShape="0">
                <a:blip r:embed="rId3"/>
                <a:stretch>
                  <a:fillRect l="-500" t="-1567" r="-500" b="-47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528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0173"/>
            <a:ext cx="4445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Stress – True Strain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9" y="1120877"/>
            <a:ext cx="1416765" cy="10940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992" y="1120876"/>
            <a:ext cx="1459848" cy="918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2" y="3520426"/>
            <a:ext cx="1521188" cy="445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56" y="4192920"/>
            <a:ext cx="2232021" cy="15312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355" y="2661947"/>
            <a:ext cx="53586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no change in volume during the entire deformation process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67" y="1310185"/>
            <a:ext cx="6400733" cy="41656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0885" y="6066459"/>
            <a:ext cx="1695401" cy="6507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18833" y="6011868"/>
            <a:ext cx="7323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true stress–true strain relationship from the onset of plastic deformation to necking can be described using</a:t>
            </a:r>
          </a:p>
        </p:txBody>
      </p:sp>
    </p:spTree>
    <p:extLst>
      <p:ext uri="{BB962C8B-B14F-4D97-AF65-F5344CB8AC3E}">
        <p14:creationId xmlns:p14="http://schemas.microsoft.com/office/powerpoint/2010/main" val="34459780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Plastic Deformation – Uniaxial Tension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0173"/>
            <a:ext cx="4445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Stress – True Strain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50" y="1194208"/>
            <a:ext cx="1695401" cy="65071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3298" y="1137032"/>
            <a:ext cx="7323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true stress–true strain relationship from the onset of plastic deformation to necking can be described using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751" y="1844918"/>
            <a:ext cx="6683522" cy="480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35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Practice Problems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523220"/>
            <a:ext cx="1219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piece of copper originally 300 mm long is pulled in tension with a stress of 275 MPa. If the deformation is entirely elastic, what will be the resultant elongation? The elastic modulus of Copper is 110 GPa. 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tensile stress is to be applied along the long axis of a cylindrical brass rod that has a diameter of 10 mm. Determine the magnitude of the load required to produce a 2.5 X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–3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change in diameter if the deformation is entirely elastic. The elastic modulus of Brass is 97 GPa and Poisson’s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ratio is 0.34.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cylindrical specimen of steel having an original diameter of 12.8 mm is tensile tested to fracture and found to have an engineering fracture strength of 460 MPa. If its cross-sectional diameter at fracture is 10.7 mm, determine (a) the ductility in terms of percent reduction in area (b) the true stress at fracture.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strain-hardening exponent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 alloy in which a true stress of 415 MPa produces a true strain of 0.10, assuming a value of 1035 MPa for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tensile-testing apparatus is to be constructed that must withstand a maximum load of 220,000 N. The design calls for two cylindrical support posts, each of which is to support half of the maximum load. Furthermore, plain-carbon (1045) steel ground and polished shafting rounds are to be used; the minimum yield and tensile strengths of this alloy are 310 MPa and 565 MPa, respectively. Specify a suitable diameter for these support posts. Use a factor of safety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052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Dislocation motion – Plastic Deformation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483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motion – Plastic Deformation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25" y="923330"/>
            <a:ext cx="3463109" cy="33096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570" y="1142078"/>
            <a:ext cx="2671505" cy="30431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510" y="1142078"/>
            <a:ext cx="3164385" cy="304315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3753134" y="2975212"/>
            <a:ext cx="74043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165075" y="2975212"/>
            <a:ext cx="74043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42" y="4420774"/>
            <a:ext cx="9314318" cy="221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08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Dislocation motion – Plastic Deformation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3220"/>
            <a:ext cx="7397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motion – Edge Vs Screw Dislocation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897" y="1160060"/>
            <a:ext cx="7231384" cy="2409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83" y="3934013"/>
            <a:ext cx="8176211" cy="252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7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Strains around dislocations – Dislocation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50" y="1381977"/>
            <a:ext cx="60732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edge dislocation, the atoms beside the extra half–plane feel repulsion between each other. Hence,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strains are induced. With a similar argument, one may conclude that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strains exist in the region below the extra half–plane.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511" t="11718" b="5129"/>
          <a:stretch/>
        </p:blipFill>
        <p:spPr>
          <a:xfrm>
            <a:off x="6933063" y="523220"/>
            <a:ext cx="4456489" cy="33487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0850" y="3518007"/>
            <a:ext cx="6073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screw–dislocation case, the strains are purely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850" y="4730707"/>
            <a:ext cx="9737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strains around dislocations of close proximity will interact with each other such that forces are imposed on each dislocation by all the neighbouring dislocations.</a:t>
            </a:r>
          </a:p>
        </p:txBody>
      </p:sp>
    </p:spTree>
    <p:extLst>
      <p:ext uri="{BB962C8B-B14F-4D97-AF65-F5344CB8AC3E}">
        <p14:creationId xmlns:p14="http://schemas.microsoft.com/office/powerpoint/2010/main" val="440442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Strains around dislocations – Dislocation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50" y="1381977"/>
            <a:ext cx="60732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Dislocations of same type (same sign) on the same slip plane repel each other.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Whereas, the dislocations of opposite type attract each other and annihilate to combine and form a perfect crystal.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830" t="4598" r="1674"/>
          <a:stretch/>
        </p:blipFill>
        <p:spPr>
          <a:xfrm>
            <a:off x="7076025" y="735896"/>
            <a:ext cx="4913872" cy="25694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379" y="3643040"/>
            <a:ext cx="7090877" cy="23210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0850" y="3643040"/>
            <a:ext cx="41175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severe deformation, dislocations multiply causing increase in dislocation density. Further, the grain boundaries, internal defects, surface irregularities also act as source of dislocation nucleation.</a:t>
            </a:r>
          </a:p>
        </p:txBody>
      </p:sp>
    </p:spTree>
    <p:extLst>
      <p:ext uri="{BB962C8B-B14F-4D97-AF65-F5344CB8AC3E}">
        <p14:creationId xmlns:p14="http://schemas.microsoft.com/office/powerpoint/2010/main" val="18002291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Slip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0004"/>
            <a:ext cx="1107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independent slip systems for FCC Crystal structure.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23224"/>
            <a:ext cx="12005711" cy="58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86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Slip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56" y="658646"/>
            <a:ext cx="1107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slip systems for FCC, BCC and HCP Crystal structures.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6" y="1194182"/>
            <a:ext cx="9274517" cy="4483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662616" y="2419873"/>
                <a:ext cx="2047164" cy="203190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Burger’s vector: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FCC: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 &lt;1 1 0&gt;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BCC: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 &lt;1 1 1&gt;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HCP: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/3 &lt;1 1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0&gt;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616" y="2419873"/>
                <a:ext cx="2047164" cy="2031903"/>
              </a:xfrm>
              <a:prstGeom prst="rect">
                <a:avLst/>
              </a:prstGeom>
              <a:blipFill rotWithShape="0">
                <a:blip r:embed="rId4"/>
                <a:stretch>
                  <a:fillRect l="-1760" t="-1183" b="-295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0893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Slip in Single Crystals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656" y="658646"/>
            <a:ext cx="2941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shear stress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1899" r="3487"/>
          <a:stretch/>
        </p:blipFill>
        <p:spPr>
          <a:xfrm>
            <a:off x="0" y="1058756"/>
            <a:ext cx="3284869" cy="56770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26339" y="658646"/>
            <a:ext cx="6359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resolved shear stress for different slip systems in a FCC crystal when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along [0 0 1]?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6340" y="1968832"/>
            <a:ext cx="65236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that has the maximum resolved shear stress is the most favourable slip system.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326340" y="3047006"/>
                <a:ext cx="6523630" cy="2387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material has a critical resolved shear stress, a threshold above which slip can occur. So, when the resolved shear stress for the most favourable system exceeds this threshold value, slip occurs.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critical resolved shear stress on a slip plane can be related to the yield strength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𝑐𝑟𝑠𝑠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I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0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𝜑</m:t>
                                </m:r>
                                <m:r>
                                  <a:rPr lang="en-I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40" y="3047006"/>
                <a:ext cx="6523630" cy="2387064"/>
              </a:xfrm>
              <a:prstGeom prst="rect">
                <a:avLst/>
              </a:prstGeom>
              <a:blipFill rotWithShape="0">
                <a:blip r:embed="rId4"/>
                <a:stretch>
                  <a:fillRect l="-1028" t="-1535" r="-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7346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Strengthening </a:t>
            </a:r>
            <a:r>
              <a:rPr lang="en-IN" sz="2800"/>
              <a:t>Mechanisms in Metals</a:t>
            </a:r>
            <a:endParaRPr lang="en-IN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100974"/>
            <a:ext cx="9758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Restricting or hindering dislocation motion renders a material harder and stronger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30" y="1810658"/>
            <a:ext cx="97581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size reduction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– Solution Strengthening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Hardening</a:t>
            </a:r>
          </a:p>
        </p:txBody>
      </p:sp>
    </p:spTree>
    <p:extLst>
      <p:ext uri="{BB962C8B-B14F-4D97-AF65-F5344CB8AC3E}">
        <p14:creationId xmlns:p14="http://schemas.microsoft.com/office/powerpoint/2010/main" val="2240933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Strengthening Mechanisms in Metals – Grain size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983" y="1954226"/>
            <a:ext cx="60599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average grain size.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constants for a particular material.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angle grain boundaries are not as effective in hindering the slipping process.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Twin boundaries, again, can block the dislocation motion.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complex alloys, phase boundaries act as obstacles to dislocation motion.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371" y="932238"/>
            <a:ext cx="2592312" cy="632348"/>
          </a:xfrm>
          <a:prstGeom prst="rect">
            <a:avLst/>
          </a:prstGeom>
        </p:spPr>
      </p:pic>
      <p:cxnSp>
        <p:nvCxnSpPr>
          <p:cNvPr id="6" name="Straight Arrow Connector 5"/>
          <p:cNvCxnSpPr>
            <a:stCxn id="3" idx="3"/>
          </p:cNvCxnSpPr>
          <p:nvPr/>
        </p:nvCxnSpPr>
        <p:spPr>
          <a:xfrm flipV="1">
            <a:off x="5616683" y="1225976"/>
            <a:ext cx="10243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5959" y="872033"/>
            <a:ext cx="440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Strength Variation With Grain Size: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–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967" y="1564585"/>
            <a:ext cx="5718368" cy="529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88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Strengthening Mechanisms in Metals – Solid Solution Strengthening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" y="523220"/>
            <a:ext cx="6687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interstitial impurity atoms act as obstacles to dislocation motion. This phenomenon is called Solid–Solution strengthening.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912" y="523220"/>
            <a:ext cx="4549540" cy="33452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" y="1511587"/>
            <a:ext cx="4596716" cy="34505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86" y="3642809"/>
            <a:ext cx="3828431" cy="321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18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Strengthening Mechanisms in Metals – Solid Solution Strengthening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215542"/>
            <a:ext cx="4449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strains induced in the case where, a smaller atom “substitutes” a parent atom.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36" y="616619"/>
            <a:ext cx="2403424" cy="15989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996" y="593236"/>
            <a:ext cx="2908233" cy="2352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60230" y="787355"/>
            <a:ext cx="4077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Tensile strains due to smaller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 interact the with compressive strains of a dislocation, restricting further motion of the dislocation.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67" y="3477874"/>
            <a:ext cx="2289193" cy="162638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996" y="3477874"/>
            <a:ext cx="3025153" cy="25370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9307" y="5104263"/>
            <a:ext cx="4449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strains induced in the case where, a bigger atom “substitutes” a parent atom.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149" y="3980878"/>
            <a:ext cx="40770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Compressive strains due to bigger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 interact the with tensile strains of a dislocation, restricting further motion of the dislocation. </a:t>
            </a:r>
          </a:p>
        </p:txBody>
      </p:sp>
    </p:spTree>
    <p:extLst>
      <p:ext uri="{BB962C8B-B14F-4D97-AF65-F5344CB8AC3E}">
        <p14:creationId xmlns:p14="http://schemas.microsoft.com/office/powerpoint/2010/main" val="12789226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Strengthening Mechanisms in Metals – Strain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3220"/>
            <a:ext cx="10399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“Work Hardening” or “Cold Working”.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684" y="1046440"/>
            <a:ext cx="3786902" cy="4156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9" y="1046440"/>
            <a:ext cx="3957850" cy="4220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39106" y="5722080"/>
                <a:ext cx="3558480" cy="569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Cold Working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100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06" y="5722080"/>
                <a:ext cx="3558480" cy="569258"/>
              </a:xfrm>
              <a:prstGeom prst="rect">
                <a:avLst/>
              </a:prstGeom>
              <a:blipFill rotWithShape="0">
                <a:blip r:embed="rId5"/>
                <a:stretch>
                  <a:fillRect l="-1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282" y="971832"/>
            <a:ext cx="3590091" cy="436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049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20621"/>
            <a:ext cx="12192000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Best Wishes</a:t>
            </a:r>
          </a:p>
        </p:txBody>
      </p:sp>
    </p:spTree>
    <p:extLst>
      <p:ext uri="{BB962C8B-B14F-4D97-AF65-F5344CB8AC3E}">
        <p14:creationId xmlns:p14="http://schemas.microsoft.com/office/powerpoint/2010/main" val="400509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4183</TotalTime>
  <Words>3378</Words>
  <Application>Microsoft Office PowerPoint</Application>
  <PresentationFormat>Widescreen</PresentationFormat>
  <Paragraphs>392</Paragraphs>
  <Slides>59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Review of Quiz – I Syllabus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Siva Prasad A V S</dc:creator>
  <cp:lastModifiedBy>jagadish151223@outlook.com</cp:lastModifiedBy>
  <cp:revision>334</cp:revision>
  <dcterms:created xsi:type="dcterms:W3CDTF">2018-09-04T10:03:30Z</dcterms:created>
  <dcterms:modified xsi:type="dcterms:W3CDTF">2024-08-20T05:42:31Z</dcterms:modified>
</cp:coreProperties>
</file>