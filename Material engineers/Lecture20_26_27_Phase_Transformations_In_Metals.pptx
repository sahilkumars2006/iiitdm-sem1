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8" r:id="rId13"/>
    <p:sldId id="285" r:id="rId14"/>
    <p:sldId id="286" r:id="rId15"/>
    <p:sldId id="287" r:id="rId16"/>
    <p:sldId id="288" r:id="rId17"/>
    <p:sldId id="279" r:id="rId18"/>
    <p:sldId id="281" r:id="rId19"/>
    <p:sldId id="280" r:id="rId20"/>
    <p:sldId id="282" r:id="rId21"/>
    <p:sldId id="283" r:id="rId22"/>
    <p:sldId id="28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B1E19-955A-456C-9E5D-553061E3F00B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BC38F-76A6-475D-9A87-1AA0B17B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79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457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04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328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016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26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953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529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47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429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73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500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723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45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06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815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970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024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062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6772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97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4E50-9F75-4DA7-AD0F-4A53F33CAD7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9829-FB65-4A74-B93B-A2AC0DB3CA32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48FA-12EB-49D9-9A61-EBD84431EF7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4C9B-7394-44BA-BD30-2FF87C825A48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6D17-2118-47D8-B830-EFA5A080548D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7C01-0CB4-4708-85FC-6ABDAE56C6E9}" type="datetime1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CED3-45F8-402A-AA03-55028586046B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32DD-8FE3-42BF-9189-77504FF52A2E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DCB7-B57A-4F0A-B618-78C9CD8220ED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9BBA-3CEC-4F9D-8CFD-0F564BA72DCF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42067-29E4-4E30-A301-5F219282EE4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A31BE-42BD-4507-AD17-26440FDCE293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3.emf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4.emf"/><Relationship Id="rId10" Type="http://schemas.openxmlformats.org/officeDocument/2006/relationships/image" Target="../media/image12.emf"/><Relationship Id="rId4" Type="http://schemas.openxmlformats.org/officeDocument/2006/relationships/image" Target="../media/image7.emf"/><Relationship Id="rId9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3053892"/>
            <a:ext cx="12192000" cy="701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dirty="0">
                <a:latin typeface="+mn-lt"/>
                <a:ea typeface="+mn-ea"/>
                <a:cs typeface="+mn-cs"/>
              </a:rPr>
              <a:t>Phase Transformations in Metals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387522" y="4121624"/>
            <a:ext cx="9144000" cy="1450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</a:p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Metastable states vs Equilibrium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" y="523220"/>
            <a:ext cx="349382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diagrams do not convey the time dependence of the phase structure formation.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of transformation vs time or rate curves are helpful.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equilibrium structures are practically not possible even for extremely slow cooling rates.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metastable state between initial and equilibrium phase is obtained in most of the cases.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desirable.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1178" t="972" r="1049"/>
          <a:stretch/>
        </p:blipFill>
        <p:spPr>
          <a:xfrm>
            <a:off x="3658589" y="523220"/>
            <a:ext cx="8533411" cy="633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1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Basic concepts of Phase Transformations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604" y="823469"/>
            <a:ext cx="114914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kinds of phase transformations: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that involves no change in either composition or number of phases and is diffusion dependent.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that involves change in phase compositions or their numbers (say Eutectoid reaction) and is diffusion dependent.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Diffusionless phase transformation (metastable state)</a:t>
            </a:r>
          </a:p>
        </p:txBody>
      </p:sp>
    </p:spTree>
    <p:extLst>
      <p:ext uri="{BB962C8B-B14F-4D97-AF65-F5344CB8AC3E}">
        <p14:creationId xmlns:p14="http://schemas.microsoft.com/office/powerpoint/2010/main" val="226360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/>
              <a:t>Kinetics of </a:t>
            </a:r>
            <a:r>
              <a:rPr lang="en-IN" sz="2800" dirty="0"/>
              <a:t>Phase Transformations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604" y="823469"/>
            <a:ext cx="1149141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transformation process occurs primarily in two stages: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Nucleation of particles of the new phase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of these particles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nucleation may be considered: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Homogenous and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</a:t>
            </a:r>
          </a:p>
        </p:txBody>
      </p:sp>
    </p:spTree>
    <p:extLst>
      <p:ext uri="{BB962C8B-B14F-4D97-AF65-F5344CB8AC3E}">
        <p14:creationId xmlns:p14="http://schemas.microsoft.com/office/powerpoint/2010/main" val="34402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Homogeneous Nucleation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523220"/>
            <a:ext cx="80152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sites in the system are equally likely to be nucleation sites. Thus, even growth process also takes place uniformly at all of these sites.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variables (composition, temperature, pressure) must be uniform during the phase transformation process.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can be best described in terms of the Gibbs Free energy, which depends upon the enthalpy (H) and entropy (S) of the system.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3063" r="811"/>
          <a:stretch/>
        </p:blipFill>
        <p:spPr>
          <a:xfrm>
            <a:off x="8015279" y="523220"/>
            <a:ext cx="4176721" cy="31371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244" y="2983776"/>
            <a:ext cx="3372610" cy="5983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606635"/>
            <a:ext cx="3848669" cy="32100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791" y="3582094"/>
            <a:ext cx="3622152" cy="32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2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Homogeneous Nucleation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3063" r="811"/>
          <a:stretch/>
        </p:blipFill>
        <p:spPr>
          <a:xfrm>
            <a:off x="8015279" y="523220"/>
            <a:ext cx="4176721" cy="3137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87" y="1746913"/>
            <a:ext cx="4244158" cy="7656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287" y="731895"/>
            <a:ext cx="3372610" cy="5983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287" y="2661314"/>
            <a:ext cx="1582823" cy="88452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0875" y="2702103"/>
            <a:ext cx="2029213" cy="8437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559" y="4012569"/>
            <a:ext cx="2133118" cy="66861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9438" y="4102609"/>
            <a:ext cx="2936766" cy="82423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9730" y="5477558"/>
            <a:ext cx="4007990" cy="96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4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Homogeneous Nucleation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87" y="873456"/>
            <a:ext cx="3546887" cy="11166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600" y="1080317"/>
            <a:ext cx="2358799" cy="7028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600" y="1932044"/>
            <a:ext cx="6406567" cy="81651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137" y="1932044"/>
            <a:ext cx="3575713" cy="477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59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Heterogeneous Nucleation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752" y="523219"/>
            <a:ext cx="6719248" cy="27550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50" y="1080085"/>
            <a:ext cx="3858196" cy="6962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50" y="3725838"/>
            <a:ext cx="3633672" cy="26340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9481" y="3278308"/>
            <a:ext cx="4995080" cy="347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457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Growth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901" y="679080"/>
            <a:ext cx="2767960" cy="10117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" y="523220"/>
            <a:ext cx="80152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happens by diffusion of atoms.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through the phase, across the phase boundary and finally to the nucleus of the growing phase are the stages involved in growth process.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481" y="2002519"/>
            <a:ext cx="5571519" cy="404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13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3220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taken for completion of some degree of transformation and the rate of transformation are inversely related to each other.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702" y="1846659"/>
            <a:ext cx="7997298" cy="350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7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Kinetic Considerations in Solid – Solid Phase Transformations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3220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necessary to study the kinetics of transformations  in terms of times for which the heat treatments are carried out in Solid – Solid Transformations.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9" y="1231106"/>
            <a:ext cx="5593477" cy="42273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49" y="5526622"/>
            <a:ext cx="2809556" cy="5918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22326" y="5526622"/>
            <a:ext cx="2115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Avraami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4052" y="5994895"/>
            <a:ext cx="1485975" cy="8155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027" y="1767542"/>
            <a:ext cx="7348014" cy="25997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52881" y="4503610"/>
            <a:ext cx="2115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pure Copper</a:t>
            </a:r>
          </a:p>
        </p:txBody>
      </p:sp>
    </p:spTree>
    <p:extLst>
      <p:ext uri="{BB962C8B-B14F-4D97-AF65-F5344CB8AC3E}">
        <p14:creationId xmlns:p14="http://schemas.microsoft.com/office/powerpoint/2010/main" val="1879948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Iron–Carbon Alloys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523220"/>
            <a:ext cx="58350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– Resistance to deform permanently (plastic deformation).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Hardness – Resistance to localized plastic deformation (like dents, scratches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 – A measure of material’s capability to undergo large plastic deformations before fracture.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94" y="4303649"/>
            <a:ext cx="5798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Pearlite: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Fe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will make the material more brittle and harder.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701" y="14555"/>
            <a:ext cx="4276299" cy="68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72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Iron–Carbon Alloys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523220"/>
            <a:ext cx="58350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– Resistance to deform permanently (plastic deformation).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Hardness – Resistance to localized plastic deformation (like dents, scratches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 – A measure of material’s capability to undergo large plastic deformations before fracture.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94" y="4303649"/>
            <a:ext cx="5798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Pearlite: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Fe3C will make the material more brittle and harder.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961" y="23887"/>
            <a:ext cx="4124821" cy="683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1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Iron–Carbon Alloys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523220"/>
            <a:ext cx="5835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Spheroidite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" y="1046440"/>
            <a:ext cx="57986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when 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pearlitic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bainitic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 is heated above Eutectoid and then cooled slowly. Slow enough to allow the Cementite phases to form spherical microstructures.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cooling is done by keeping the sample below Eutectoid temperature for sufficiently long duration.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change in composition of the phases.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825" y="0"/>
            <a:ext cx="5060175" cy="630526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6359857" y="4107976"/>
            <a:ext cx="1037230" cy="69603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91116" y="4708478"/>
            <a:ext cx="1337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Cementite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6387153" y="2473559"/>
            <a:ext cx="1037230" cy="69603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18412" y="3074061"/>
            <a:ext cx="1337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Ferrite</a:t>
            </a:r>
          </a:p>
        </p:txBody>
      </p:sp>
    </p:spTree>
    <p:extLst>
      <p:ext uri="{BB962C8B-B14F-4D97-AF65-F5344CB8AC3E}">
        <p14:creationId xmlns:p14="http://schemas.microsoft.com/office/powerpoint/2010/main" val="3714998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Iron–Carbon Alloys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009" y="523220"/>
            <a:ext cx="7465991" cy="63347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1" y="523220"/>
            <a:ext cx="5835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Bainite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" y="1046440"/>
            <a:ext cx="47260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when a austenite–pearlite transformation takes place at temperatures below 600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needle like microstructure with cementite phases as needles, embedded in ferrite phase. This combination is in turn surrounded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Martentisite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another microstructure common in Iron – Carbon systems.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change in composition of the phases.</a:t>
            </a:r>
          </a:p>
        </p:txBody>
      </p:sp>
    </p:spTree>
    <p:extLst>
      <p:ext uri="{BB962C8B-B14F-4D97-AF65-F5344CB8AC3E}">
        <p14:creationId xmlns:p14="http://schemas.microsoft.com/office/powerpoint/2010/main" val="4156831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Iron–Carbon Alloys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523220"/>
            <a:ext cx="5835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Martensite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" y="1046440"/>
            <a:ext cx="5798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cooling, called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quenching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material to a temperature well below Eutectoid (say 300 – 600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602" y="0"/>
            <a:ext cx="5431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20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Iron–Carbon Alloys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3220"/>
            <a:ext cx="6291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Pearlite Vs Coarse Pearlite Vs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Spheroidite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171" y="1019145"/>
            <a:ext cx="9441183" cy="581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66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Iron–Carbon Alloys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3" y="1202645"/>
            <a:ext cx="5295330" cy="56074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523220"/>
            <a:ext cx="2620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Martensite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994" y="1202645"/>
            <a:ext cx="5966006" cy="356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82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Iron–Carbon Alloys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" y="523220"/>
            <a:ext cx="1023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Bainite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8999"/>
            <a:ext cx="6000720" cy="43383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667" y="1188998"/>
            <a:ext cx="4565866" cy="48350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24382" y="523220"/>
            <a:ext cx="4258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Martensite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Tempered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Martensite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941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Iron–Carbon Alloys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2620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Martensite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6440"/>
            <a:ext cx="5235201" cy="53680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6434" y="1674237"/>
            <a:ext cx="6725566" cy="45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2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Review and Summary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361" y="1232904"/>
            <a:ext cx="7369613" cy="4635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70746" y="678007"/>
            <a:ext cx="4534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Phase Transformations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408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Review and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0746" y="514231"/>
            <a:ext cx="4534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Microstructures and their properties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46" y="1078116"/>
            <a:ext cx="10200010" cy="565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2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3625</TotalTime>
  <Words>703</Words>
  <Application>Microsoft Office PowerPoint</Application>
  <PresentationFormat>Widescreen</PresentationFormat>
  <Paragraphs>122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151</cp:revision>
  <dcterms:created xsi:type="dcterms:W3CDTF">2018-09-04T10:03:30Z</dcterms:created>
  <dcterms:modified xsi:type="dcterms:W3CDTF">2024-08-20T05:42:20Z</dcterms:modified>
</cp:coreProperties>
</file>