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8" r:id="rId19"/>
    <p:sldId id="279" r:id="rId20"/>
    <p:sldId id="281" r:id="rId21"/>
    <p:sldId id="280" r:id="rId22"/>
    <p:sldId id="282" r:id="rId23"/>
    <p:sldId id="283" r:id="rId24"/>
    <p:sldId id="285" r:id="rId25"/>
    <p:sldId id="28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712F99-8FE6-48AE-949A-2956D933E215}" type="datetimeFigureOut">
              <a:rPr lang="en-IN" smtClean="0"/>
              <a:t>20-08-2024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9CBA0F-3BA0-4AFE-8A2A-574E3535EF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960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9CBA0F-3BA0-4AFE-8A2A-574E3535EF6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601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93292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969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48186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25483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26534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25916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30387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42264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14489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30548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98380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91801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40619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17029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95932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66782-D957-489F-AB85-B3D9DA15E9DD}" type="slidenum">
              <a:rPr lang="en-IN" smtClean="0"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3239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A6577-5F2B-48AD-8EDB-CBE5F60BE944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97559-6B0F-4DF5-A996-7CB8AFCCA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787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951CF-9621-4221-A207-759D5BB0F6F7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97559-6B0F-4DF5-A996-7CB8AFCCA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388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F7AF4-F045-4CAC-82BA-CC838C04B041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97559-6B0F-4DF5-A996-7CB8AFCCA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040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A0464-A4F4-4DCC-990F-BE3ED8C52067}" type="datetime1">
              <a:rPr lang="en-IN" smtClean="0"/>
              <a:t>20-08-2024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97559-6B0F-4DF5-A996-7CB8AFCCA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821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3BAA7-317C-4B1A-ABB7-50610F6B13B1}" type="datetime1">
              <a:rPr lang="en-IN" smtClean="0"/>
              <a:t>20-08-2024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97559-6B0F-4DF5-A996-7CB8AFCCA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404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128C7-F15B-42A6-98C2-809142D2D8E9}" type="datetime1">
              <a:rPr lang="en-IN" smtClean="0"/>
              <a:t>20-08-2024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97559-6B0F-4DF5-A996-7CB8AFCCA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499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5087-DB79-44BA-94B2-6C878BBA17E9}" type="datetime1">
              <a:rPr lang="en-IN" smtClean="0"/>
              <a:t>20-08-2024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97559-6B0F-4DF5-A996-7CB8AFCCA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802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4F284-3E73-4A82-B65C-FBA58A9DE1D1}" type="datetime1">
              <a:rPr lang="en-IN" smtClean="0"/>
              <a:t>20-08-2024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97559-6B0F-4DF5-A996-7CB8AFCCA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749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C18EC-5963-436A-ACC5-FBCB963C13DF}" type="datetime1">
              <a:rPr lang="en-IN" smtClean="0"/>
              <a:t>20-08-2024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97559-6B0F-4DF5-A996-7CB8AFCCA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763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6E631-685A-4478-8B6F-D3024D996E2F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97559-6B0F-4DF5-A996-7CB8AFCCA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1027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930A3-9EFC-4A8E-944F-D0B853D38E49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97559-6B0F-4DF5-A996-7CB8AFCCA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972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F9194-F821-4221-A866-97D27EC9B6D1}" type="datetime1">
              <a:rPr lang="en-IN" smtClean="0"/>
              <a:t>20-08-2024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97559-6B0F-4DF5-A996-7CB8AFCCA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125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3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Relationship Id="rId9" Type="http://schemas.openxmlformats.org/officeDocument/2006/relationships/image" Target="../media/image9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emf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emf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 preferRelativeResize="0"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3" t="5329" r="5306" b="2876"/>
          <a:stretch/>
        </p:blipFill>
        <p:spPr>
          <a:xfrm>
            <a:off x="8707278" y="6"/>
            <a:ext cx="2700843" cy="2700843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0" y="3053892"/>
            <a:ext cx="12192000" cy="7017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400" dirty="0">
                <a:latin typeface="+mn-lt"/>
                <a:ea typeface="+mn-ea"/>
                <a:cs typeface="+mn-cs"/>
              </a:rPr>
              <a:t>Environmental Degradation of Materials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387522" y="4121624"/>
            <a:ext cx="9144000" cy="1450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 </a:t>
            </a:r>
          </a:p>
          <a:p>
            <a:r>
              <a:rPr lang="en-IN" b="1" dirty="0"/>
              <a:t> </a:t>
            </a:r>
          </a:p>
          <a:p>
            <a:r>
              <a:rPr lang="en-IN" b="1" dirty="0" err="1"/>
              <a:t>Dr.</a:t>
            </a:r>
            <a:r>
              <a:rPr lang="en-IN" b="1" dirty="0"/>
              <a:t> J. </a:t>
            </a:r>
            <a:r>
              <a:rPr lang="en-IN" b="1" dirty="0" err="1"/>
              <a:t>Venkatramani</a:t>
            </a:r>
            <a:endParaRPr lang="en-IN" b="1" dirty="0"/>
          </a:p>
          <a:p>
            <a:r>
              <a:rPr lang="en-IN" b="1" dirty="0"/>
              <a:t>219-B</a:t>
            </a:r>
          </a:p>
          <a:p>
            <a:r>
              <a:rPr lang="en-IN" b="1"/>
              <a:t>venkatramani@iiitdm.ac.in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216041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Corrosion and Degradation of Materials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3AEBA-54C1-46AE-B9E9-BABC12F758AA}" type="slidenum">
              <a:rPr lang="en-IN" smtClean="0"/>
              <a:t>2</a:t>
            </a:fld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125135" y="531297"/>
            <a:ext cx="30817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Corrosion Cracking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143" y="531297"/>
            <a:ext cx="6309857" cy="560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872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Corrosion and Degradation of Materials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670435" y="6356350"/>
            <a:ext cx="2743200" cy="365125"/>
          </a:xfrm>
        </p:spPr>
        <p:txBody>
          <a:bodyPr/>
          <a:lstStyle/>
          <a:p>
            <a:fld id="{11B3AEBA-54C1-46AE-B9E9-BABC12F758AA}" type="slidenum">
              <a:rPr lang="en-IN" smtClean="0"/>
              <a:t>3</a:t>
            </a:fld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125135" y="531297"/>
            <a:ext cx="30817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Electrochemistry</a:t>
            </a:r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5408" y="1399411"/>
            <a:ext cx="3406643" cy="60969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5134" y="931407"/>
            <a:ext cx="364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Oxidation Reactions at Anode: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7295" y="1131462"/>
            <a:ext cx="3418423" cy="10612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5134" y="2685240"/>
            <a:ext cx="364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 Reactions at Cathode: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5408" y="3227124"/>
            <a:ext cx="3141514" cy="53436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9385" y="4066471"/>
            <a:ext cx="3742987" cy="46689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9385" y="4874768"/>
            <a:ext cx="4133180" cy="57284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134" y="5818853"/>
            <a:ext cx="3792567" cy="58661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8729" y="5849801"/>
            <a:ext cx="3010678" cy="506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41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Corrosion and Degradation of Materials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670435" y="6356350"/>
            <a:ext cx="2743200" cy="365125"/>
          </a:xfrm>
        </p:spPr>
        <p:txBody>
          <a:bodyPr/>
          <a:lstStyle/>
          <a:p>
            <a:fld id="{11B3AEBA-54C1-46AE-B9E9-BABC12F758AA}" type="slidenum">
              <a:rPr lang="en-IN" smtClean="0"/>
              <a:t>4</a:t>
            </a:fld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125134" y="531297"/>
            <a:ext cx="56677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Electrochemistry – Example: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Corrosion of Zinc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5134" y="931407"/>
            <a:ext cx="364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Oxidation Reaction at Anode: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42408" y="531297"/>
            <a:ext cx="364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 Reaction at Cathode: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097" y="2363207"/>
            <a:ext cx="4360341" cy="34065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512142" y="5618798"/>
            <a:ext cx="2192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Corrosion of Zinc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5987" y="1330127"/>
            <a:ext cx="2896874" cy="4015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5"/>
          <a:srcRect r="1331"/>
          <a:stretch/>
        </p:blipFill>
        <p:spPr>
          <a:xfrm>
            <a:off x="7714445" y="939484"/>
            <a:ext cx="4005972" cy="56270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5134" y="2328173"/>
            <a:ext cx="364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electrochemical reaction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2499" y="3005440"/>
            <a:ext cx="4500375" cy="143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088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Corrosion and Degradation of Materials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670435" y="6356350"/>
            <a:ext cx="2743200" cy="365125"/>
          </a:xfrm>
        </p:spPr>
        <p:txBody>
          <a:bodyPr/>
          <a:lstStyle/>
          <a:p>
            <a:fld id="{11B3AEBA-54C1-46AE-B9E9-BABC12F758AA}" type="slidenum">
              <a:rPr lang="en-IN" smtClean="0"/>
              <a:t>5</a:t>
            </a:fld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125134" y="531297"/>
            <a:ext cx="56677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Electrochemistry – Example: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Rusting of Iron</a:t>
            </a:r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5134" y="931407"/>
            <a:ext cx="56677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Electrochemical reaction takes place in two stages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478" y="1519876"/>
            <a:ext cx="6214065" cy="54876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63" y="2363206"/>
            <a:ext cx="5111396" cy="52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068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Corrosion and Degradation of Materials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670435" y="6356350"/>
            <a:ext cx="2743200" cy="365125"/>
          </a:xfrm>
        </p:spPr>
        <p:txBody>
          <a:bodyPr/>
          <a:lstStyle/>
          <a:p>
            <a:fld id="{11B3AEBA-54C1-46AE-B9E9-BABC12F758AA}" type="slidenum">
              <a:rPr lang="en-IN" smtClean="0"/>
              <a:t>6</a:t>
            </a:fld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125134" y="531297"/>
            <a:ext cx="56677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of Electrode Potential</a:t>
            </a:r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5134" y="931407"/>
            <a:ext cx="11968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all metallic materials oxidize to form ions with same degree of ease.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68674"/>
            <a:ext cx="4417453" cy="535280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4744" y="1731627"/>
            <a:ext cx="3861900" cy="9479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7318" y="3554891"/>
            <a:ext cx="4411395" cy="6451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44744" y="3091118"/>
            <a:ext cx="364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electrochemical reaction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0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Corrosion and Degradation of Materials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670435" y="6356350"/>
            <a:ext cx="2743200" cy="365125"/>
          </a:xfrm>
        </p:spPr>
        <p:txBody>
          <a:bodyPr/>
          <a:lstStyle/>
          <a:p>
            <a:fld id="{11B3AEBA-54C1-46AE-B9E9-BABC12F758AA}" type="slidenum">
              <a:rPr lang="en-IN" smtClean="0"/>
              <a:t>7</a:t>
            </a:fld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125134" y="531297"/>
            <a:ext cx="56677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of Electrode Potential</a:t>
            </a:r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5134" y="931407"/>
            <a:ext cx="11968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all metallic materials oxidize to form ions with same degree of ease.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4744" y="3091118"/>
            <a:ext cx="364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electrochemical reaction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34" y="1505352"/>
            <a:ext cx="4202167" cy="521612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643" y="3569555"/>
            <a:ext cx="2975337" cy="33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659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Corrosion and Degradation of Materials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670435" y="6370282"/>
            <a:ext cx="2743200" cy="365125"/>
          </a:xfrm>
        </p:spPr>
        <p:txBody>
          <a:bodyPr/>
          <a:lstStyle/>
          <a:p>
            <a:fld id="{11B3AEBA-54C1-46AE-B9E9-BABC12F758AA}" type="slidenum">
              <a:rPr lang="en-IN" smtClean="0"/>
              <a:t>8</a:t>
            </a:fld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125134" y="531297"/>
            <a:ext cx="56677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EMF Series</a:t>
            </a:r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0" y="1679111"/>
            <a:ext cx="6284891" cy="5100703"/>
            <a:chOff x="0" y="1679111"/>
            <a:chExt cx="6284891" cy="5100703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941087"/>
              <a:ext cx="5584331" cy="4838727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2859110" y="1679111"/>
              <a:ext cx="3425781" cy="6260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3532" y="415"/>
            <a:ext cx="8368468" cy="556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098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Corrosion and Degradation of Materials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670435" y="6370282"/>
            <a:ext cx="2743200" cy="365125"/>
          </a:xfrm>
        </p:spPr>
        <p:txBody>
          <a:bodyPr/>
          <a:lstStyle/>
          <a:p>
            <a:fld id="{11B3AEBA-54C1-46AE-B9E9-BABC12F758AA}" type="slidenum">
              <a:rPr lang="en-IN" smtClean="0"/>
              <a:t>9</a:t>
            </a:fld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125134" y="531297"/>
            <a:ext cx="56677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EMF Series</a:t>
            </a:r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3532" y="415"/>
            <a:ext cx="8368468" cy="556325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34" y="2277997"/>
            <a:ext cx="4118177" cy="7356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287" y="3675138"/>
            <a:ext cx="3442314" cy="459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0146" y="3275028"/>
            <a:ext cx="364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electrochemical reaction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5134" y="4360246"/>
            <a:ext cx="3648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overall cell potential of 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IN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given by,</a:t>
            </a:r>
            <a:endParaRPr lang="en-I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9304" y="5576825"/>
            <a:ext cx="2167101" cy="540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429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Corrosion and Degradation of Materials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670435" y="6370282"/>
            <a:ext cx="2743200" cy="365125"/>
          </a:xfrm>
        </p:spPr>
        <p:txBody>
          <a:bodyPr/>
          <a:lstStyle/>
          <a:p>
            <a:fld id="{11B3AEBA-54C1-46AE-B9E9-BABC12F758AA}" type="slidenum">
              <a:rPr lang="en-IN" smtClean="0"/>
              <a:t>10</a:t>
            </a:fld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125134" y="531297"/>
            <a:ext cx="56677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Influence of Concentration and Temperature</a:t>
            </a:r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5134" y="984855"/>
            <a:ext cx="69453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Nernst equation:</a:t>
            </a:r>
            <a:endParaRPr lang="en-I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6508" y="1122605"/>
            <a:ext cx="3552527" cy="7239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0" y="2710624"/>
                <a:ext cx="1219200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gas constant; 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absolute temperature; 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number of electrons participating in either of the half cell reactions;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IN" sz="20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I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molar concentrations and F is the Faraday constant = 96500 C/mol.</a:t>
                </a:r>
              </a:p>
              <a:p>
                <a:pPr algn="just"/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25</a:t>
                </a:r>
                <a:r>
                  <a:rPr lang="en-IN" sz="20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C, 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710624"/>
                <a:ext cx="12192000" cy="1323439"/>
              </a:xfrm>
              <a:prstGeom prst="rect">
                <a:avLst/>
              </a:prstGeom>
              <a:blipFill rotWithShape="0">
                <a:blip r:embed="rId4"/>
                <a:stretch>
                  <a:fillRect l="-500" t="-2765" r="-500" b="-73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6508" y="4209829"/>
            <a:ext cx="3757698" cy="688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683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Corrosion and Degradation of Materials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670435" y="6370282"/>
            <a:ext cx="2743200" cy="365125"/>
          </a:xfrm>
        </p:spPr>
        <p:txBody>
          <a:bodyPr/>
          <a:lstStyle/>
          <a:p>
            <a:fld id="{11B3AEBA-54C1-46AE-B9E9-BABC12F758AA}" type="slidenum">
              <a:rPr lang="en-IN" smtClean="0"/>
              <a:t>11</a:t>
            </a:fld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523220"/>
            <a:ext cx="12192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One-half of an electrochemical cell consists of a pure nickel electrode in a solution of Ni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ions; the other half is a cadmium electrode immersed in a Cd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solution.</a:t>
            </a:r>
          </a:p>
          <a:p>
            <a:pPr marL="457200" indent="-457200" algn="just">
              <a:buFont typeface="+mj-lt"/>
              <a:buAutoNum type="alphaLcParenR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cell is a standard one, write the spontaneous overall reaction and calculate the voltage that is generated.</a:t>
            </a:r>
          </a:p>
          <a:p>
            <a:pPr marL="457200" indent="-457200" algn="just">
              <a:buFont typeface="+mj-lt"/>
              <a:buAutoNum type="alphaLcParenR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the cell potential at 25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if the Cd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Ni2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concentrations are 0.5 and 0.001 M, respectively. Is the spontaneous reaction direction still the same as for the standard cell?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323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Corrosion and Degradation of Materials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670435" y="6370282"/>
            <a:ext cx="2743200" cy="365125"/>
          </a:xfrm>
        </p:spPr>
        <p:txBody>
          <a:bodyPr/>
          <a:lstStyle/>
          <a:p>
            <a:fld id="{11B3AEBA-54C1-46AE-B9E9-BABC12F758AA}" type="slidenum">
              <a:rPr lang="en-IN" smtClean="0"/>
              <a:t>12</a:t>
            </a:fld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523220"/>
            <a:ext cx="5138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Galvanic Series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 more realistic and practical ranking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069" y="0"/>
            <a:ext cx="66699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120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Corrosion and Degradation of Materials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670435" y="6370282"/>
            <a:ext cx="2743200" cy="365125"/>
          </a:xfrm>
        </p:spPr>
        <p:txBody>
          <a:bodyPr/>
          <a:lstStyle/>
          <a:p>
            <a:fld id="{11B3AEBA-54C1-46AE-B9E9-BABC12F758AA}" type="slidenum">
              <a:rPr lang="en-IN" smtClean="0"/>
              <a:t>13</a:t>
            </a:fld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523220"/>
            <a:ext cx="51386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Quantifying corrosion rates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Corrosion penetration rate (CPR):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614" y="1651118"/>
            <a:ext cx="1774112" cy="8219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0" y="2690336"/>
                <a:ext cx="12192000" cy="18996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weight loss after exposure time </a:t>
                </a:r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:r>
                  <a:rPr lang="el-GR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ρ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represent the density and exposed specimen area, respectively, and </a:t>
                </a:r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constant, its magnitude depending on the system of units used.</a:t>
                </a:r>
              </a:p>
              <a:p>
                <a:pPr algn="just"/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𝑟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𝑛𝐹</m:t>
                          </m:r>
                        </m:den>
                      </m:f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Where, </a:t>
                </a:r>
                <a:r>
                  <a:rPr lang="en-I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current density.</a:t>
                </a:r>
                <a:endParaRPr lang="en-IN" sz="2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690336"/>
                <a:ext cx="12192000" cy="1899687"/>
              </a:xfrm>
              <a:prstGeom prst="rect">
                <a:avLst/>
              </a:prstGeom>
              <a:blipFill rotWithShape="0">
                <a:blip r:embed="rId4"/>
                <a:stretch>
                  <a:fillRect l="-500" t="-1603" r="-500" b="-48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7859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Corrosion and Degradation of Materials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670435" y="6370282"/>
            <a:ext cx="2743200" cy="365125"/>
          </a:xfrm>
        </p:spPr>
        <p:txBody>
          <a:bodyPr/>
          <a:lstStyle/>
          <a:p>
            <a:fld id="{11B3AEBA-54C1-46AE-B9E9-BABC12F758AA}" type="slidenum">
              <a:rPr lang="en-IN" smtClean="0"/>
              <a:t>14</a:t>
            </a:fld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523220"/>
            <a:ext cx="51386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of corrosion Rates – Polarization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971063"/>
            <a:ext cx="12192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electrochemical reaction in not in equilibrium, there will be a difference between the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generated and the standard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difference is called overvoltage, denoted by </a:t>
            </a:r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displacement of each electrode voltage potential from equilibrium is called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Polarization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Zn cell connected to a standard cell, actual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emf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Registered is – 0.621 V. Then,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η = – 0.621 – (–0.763) = 0.142 V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439" y="1748356"/>
            <a:ext cx="5882561" cy="5025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574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Corrosion and Degradation of Materials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670435" y="6370282"/>
            <a:ext cx="2743200" cy="365125"/>
          </a:xfrm>
        </p:spPr>
        <p:txBody>
          <a:bodyPr/>
          <a:lstStyle/>
          <a:p>
            <a:fld id="{11B3AEBA-54C1-46AE-B9E9-BABC12F758AA}" type="slidenum">
              <a:rPr lang="en-IN" smtClean="0"/>
              <a:t>15</a:t>
            </a:fld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-1" y="523220"/>
            <a:ext cx="65295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of corrosion Rates – Activation Polarization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939117"/>
            <a:ext cx="1219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rate of reaction is controlled by the slowest step involved. This step has an activation barrier (energy) which has to be overcome.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834" y="1400383"/>
            <a:ext cx="5469166" cy="48625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236226" y="1914888"/>
                <a:ext cx="4108505" cy="9349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±</m:t>
                      </m:r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func>
                        <m:func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𝐽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IN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  <a:endParaRPr lang="en-IN" b="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IN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exchange current density.</a:t>
                </a:r>
                <a:endParaRPr lang="en-IN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226" y="1914888"/>
                <a:ext cx="4108505" cy="934936"/>
              </a:xfrm>
              <a:prstGeom prst="rect">
                <a:avLst/>
              </a:prstGeom>
              <a:blipFill rotWithShape="0">
                <a:blip r:embed="rId4"/>
                <a:stretch>
                  <a:fillRect l="-1335" b="-98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-1" y="3493316"/>
            <a:ext cx="65295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significance of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I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When the electrochemical reaction is at equilibrium for a standard half – cell, the rates of reduction (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oxidation (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oxid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are same and can be written as follows from the earlier definition of rate.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041373" y="4764360"/>
                <a:ext cx="2005069" cy="6108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red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oxd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𝑛𝐹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1373" y="4764360"/>
                <a:ext cx="2005069" cy="61087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9193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Corrosion and Degradation of Materials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670435" y="6370282"/>
            <a:ext cx="2743200" cy="365125"/>
          </a:xfrm>
        </p:spPr>
        <p:txBody>
          <a:bodyPr/>
          <a:lstStyle/>
          <a:p>
            <a:fld id="{11B3AEBA-54C1-46AE-B9E9-BABC12F758AA}" type="slidenum">
              <a:rPr lang="en-IN" smtClean="0"/>
              <a:t>16</a:t>
            </a:fld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-1" y="523220"/>
            <a:ext cx="65295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of corrosion Rates – Activation Polarization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939117"/>
            <a:ext cx="12192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 of overvoltage for Hydrogen electrode.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3199162" y="1764375"/>
            <a:ext cx="5793676" cy="4971032"/>
            <a:chOff x="3199162" y="1764375"/>
            <a:chExt cx="5793676" cy="4971032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99162" y="1764375"/>
              <a:ext cx="5793676" cy="4971032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4971244" y="3654699"/>
              <a:ext cx="386367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just"/>
              <a:r>
                <a:rPr lang="en-I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I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2877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5787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Corrosion and Degradation of Materials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670435" y="6370282"/>
            <a:ext cx="2743200" cy="365125"/>
          </a:xfrm>
        </p:spPr>
        <p:txBody>
          <a:bodyPr/>
          <a:lstStyle/>
          <a:p>
            <a:fld id="{11B3AEBA-54C1-46AE-B9E9-BABC12F758AA}" type="slidenum">
              <a:rPr lang="en-IN" smtClean="0"/>
              <a:t>17</a:t>
            </a:fld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-1" y="539007"/>
            <a:ext cx="69417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of corrosion Rates – Concentration Polarization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903" y="1462337"/>
            <a:ext cx="4903041" cy="471154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8296" y="1339227"/>
            <a:ext cx="4336559" cy="46365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12903" y="6188215"/>
            <a:ext cx="45939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reaction rates and high concentrations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00907" y="6152734"/>
            <a:ext cx="45939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reaction rates and low concentrations</a:t>
            </a:r>
          </a:p>
        </p:txBody>
      </p:sp>
    </p:spTree>
    <p:extLst>
      <p:ext uri="{BB962C8B-B14F-4D97-AF65-F5344CB8AC3E}">
        <p14:creationId xmlns:p14="http://schemas.microsoft.com/office/powerpoint/2010/main" val="1062983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15787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Corrosion and Degradation of Materials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2" y="551886"/>
            <a:ext cx="66550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Forms of Corrosion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-2" y="964875"/>
            <a:ext cx="11616744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 Attack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Galvanic Corrosion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Crevice Corrosion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Pitting Corrosion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Intergranular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Corrosion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Leaching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Erosion Corrosion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Corrosion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Hydrogen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Embrittlement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5808" y="15787"/>
            <a:ext cx="4516192" cy="683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4209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15787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Corrosion and Degradation of Materials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2" y="551886"/>
            <a:ext cx="66550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Forms of Corrosion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-2" y="964875"/>
            <a:ext cx="548640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 Attack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Galvanic Corrosion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Crevice Corrosion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Pitting Corrosion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Intergranular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Corrosion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Leaching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Erosion Corrosion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Corrosion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Hydrogen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Embrittlement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3575" y="15787"/>
            <a:ext cx="4168425" cy="176149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2351" y="1763679"/>
            <a:ext cx="7480632" cy="509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95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15787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Corrosion and Degradation of Materials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2" y="551886"/>
            <a:ext cx="66550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Forms of Corrosion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-2" y="964875"/>
            <a:ext cx="548640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 Attack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Galvanic Corrosion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Crevice Corrosion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Pitting Corrosion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Intergranular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Corrosion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Leaching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Erosion Corrosion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Corrosion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Hydrogen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Embrittlement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623" y="1663969"/>
            <a:ext cx="3366000" cy="337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5669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15787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Corrosion and Degradation of Materials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2" y="551886"/>
            <a:ext cx="66550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Forms of Corrosion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-2" y="964875"/>
            <a:ext cx="548640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 Attack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Galvanic Corrosion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Crevice Corrosion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Pitting Corrosion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Intergranular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Corrosion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Leaching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Erosion Corrosion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Corrosion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Hydrogen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Embrittlement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751941"/>
            <a:ext cx="5458215" cy="278417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259" y="3576923"/>
            <a:ext cx="4134044" cy="303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716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15787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Corrosion and Degradation of Materials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2" y="551886"/>
            <a:ext cx="66550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Forms of Corrosion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-2" y="964875"/>
            <a:ext cx="548640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 Attack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Galvanic Corrosion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Crevice Corrosion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Pitting Corrosion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Intergranular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Corrosion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Leaching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Erosion Corrosion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Corrosion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Hydrogen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Embrittlement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013" y="1649039"/>
            <a:ext cx="4130169" cy="4759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8772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15787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Corrosion and Degradation of Materials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2" y="551886"/>
            <a:ext cx="66550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Forms of Corrosion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-2" y="964875"/>
            <a:ext cx="548640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 Attack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Galvanic Corrosion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Crevice Corrosion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Pitting Corrosion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Intergranular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Corrosion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Leaching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Erosion Corrosion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Corrosion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Hydrogen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Embrittlement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4995" y="1296011"/>
            <a:ext cx="4206571" cy="4188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9139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15787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Corrosion and Degradation of Materials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2" y="551886"/>
            <a:ext cx="66550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Corrosion Prevention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-2" y="964875"/>
            <a:ext cx="1219200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judicious choice of materials depending upon the type of environment.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Changing the environmental conditions such as reduced fluid velocity, temperature; modifying the concentrations in the solutions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inhibitors – depending upon the type of metal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Coatings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Cathodic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Protection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18" y="3781859"/>
            <a:ext cx="4223487" cy="239999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527" y="2428037"/>
            <a:ext cx="4494727" cy="427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6387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15787"/>
            <a:ext cx="12192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800" dirty="0"/>
              <a:t>Corrosion and Degradation of Materials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2" y="551886"/>
            <a:ext cx="66550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Corrosion Prevention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-2" y="964875"/>
            <a:ext cx="1219200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judicious choice of materials depending upon the type of environment.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Changing the environmental conditions such as reduced fluid velocity, temperature; modifying the concentrations in the solutions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inhibitors – depending upon the type of metal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Coatings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Cathodic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Protection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711" y="3320727"/>
            <a:ext cx="5499362" cy="305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479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2677</TotalTime>
  <Words>931</Words>
  <Application>Microsoft Office PowerPoint</Application>
  <PresentationFormat>Widescreen</PresentationFormat>
  <Paragraphs>242</Paragraphs>
  <Slides>25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Siva Prasad A V S</dc:creator>
  <cp:lastModifiedBy>jagadish151223@outlook.com</cp:lastModifiedBy>
  <cp:revision>184</cp:revision>
  <dcterms:created xsi:type="dcterms:W3CDTF">2019-04-04T00:32:56Z</dcterms:created>
  <dcterms:modified xsi:type="dcterms:W3CDTF">2024-08-20T05:44:18Z</dcterms:modified>
</cp:coreProperties>
</file>