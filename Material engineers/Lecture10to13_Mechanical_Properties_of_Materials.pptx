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8" r:id="rId3"/>
    <p:sldId id="259" r:id="rId4"/>
    <p:sldId id="260" r:id="rId5"/>
    <p:sldId id="261" r:id="rId6"/>
    <p:sldId id="257" r:id="rId7"/>
    <p:sldId id="262" r:id="rId8"/>
    <p:sldId id="263" r:id="rId9"/>
    <p:sldId id="264" r:id="rId10"/>
    <p:sldId id="265" r:id="rId11"/>
    <p:sldId id="266" r:id="rId12"/>
    <p:sldId id="267" r:id="rId13"/>
    <p:sldId id="268" r:id="rId14"/>
    <p:sldId id="270" r:id="rId15"/>
    <p:sldId id="272" r:id="rId16"/>
    <p:sldId id="273"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7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64DB9B-14D1-469F-8522-A21C65B8D7B4}" type="datetimeFigureOut">
              <a:rPr lang="en-IN" smtClean="0"/>
              <a:t>20-08-2024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85BC86-2116-42F3-8B7E-AA5270F6BBAD}" type="slidenum">
              <a:rPr lang="en-IN" smtClean="0"/>
              <a:t>‹#›</a:t>
            </a:fld>
            <a:endParaRPr lang="en-IN"/>
          </a:p>
        </p:txBody>
      </p:sp>
    </p:spTree>
    <p:extLst>
      <p:ext uri="{BB962C8B-B14F-4D97-AF65-F5344CB8AC3E}">
        <p14:creationId xmlns:p14="http://schemas.microsoft.com/office/powerpoint/2010/main" val="934994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2</a:t>
            </a:fld>
            <a:endParaRPr lang="en-IN"/>
          </a:p>
        </p:txBody>
      </p:sp>
    </p:spTree>
    <p:extLst>
      <p:ext uri="{BB962C8B-B14F-4D97-AF65-F5344CB8AC3E}">
        <p14:creationId xmlns:p14="http://schemas.microsoft.com/office/powerpoint/2010/main" val="696123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3</a:t>
            </a:fld>
            <a:endParaRPr lang="en-IN"/>
          </a:p>
        </p:txBody>
      </p:sp>
    </p:spTree>
    <p:extLst>
      <p:ext uri="{BB962C8B-B14F-4D97-AF65-F5344CB8AC3E}">
        <p14:creationId xmlns:p14="http://schemas.microsoft.com/office/powerpoint/2010/main" val="3390396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4</a:t>
            </a:fld>
            <a:endParaRPr lang="en-IN"/>
          </a:p>
        </p:txBody>
      </p:sp>
    </p:spTree>
    <p:extLst>
      <p:ext uri="{BB962C8B-B14F-4D97-AF65-F5344CB8AC3E}">
        <p14:creationId xmlns:p14="http://schemas.microsoft.com/office/powerpoint/2010/main" val="44867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5</a:t>
            </a:fld>
            <a:endParaRPr lang="en-IN"/>
          </a:p>
        </p:txBody>
      </p:sp>
    </p:spTree>
    <p:extLst>
      <p:ext uri="{BB962C8B-B14F-4D97-AF65-F5344CB8AC3E}">
        <p14:creationId xmlns:p14="http://schemas.microsoft.com/office/powerpoint/2010/main" val="39095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6</a:t>
            </a:fld>
            <a:endParaRPr lang="en-IN"/>
          </a:p>
        </p:txBody>
      </p:sp>
    </p:spTree>
    <p:extLst>
      <p:ext uri="{BB962C8B-B14F-4D97-AF65-F5344CB8AC3E}">
        <p14:creationId xmlns:p14="http://schemas.microsoft.com/office/powerpoint/2010/main" val="158335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7</a:t>
            </a:fld>
            <a:endParaRPr lang="en-IN"/>
          </a:p>
        </p:txBody>
      </p:sp>
    </p:spTree>
    <p:extLst>
      <p:ext uri="{BB962C8B-B14F-4D97-AF65-F5344CB8AC3E}">
        <p14:creationId xmlns:p14="http://schemas.microsoft.com/office/powerpoint/2010/main" val="153550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185BC86-2116-42F3-8B7E-AA5270F6BBAD}" type="slidenum">
              <a:rPr lang="en-IN" smtClean="0"/>
              <a:t>16</a:t>
            </a:fld>
            <a:endParaRPr lang="en-IN"/>
          </a:p>
        </p:txBody>
      </p:sp>
    </p:spTree>
    <p:extLst>
      <p:ext uri="{BB962C8B-B14F-4D97-AF65-F5344CB8AC3E}">
        <p14:creationId xmlns:p14="http://schemas.microsoft.com/office/powerpoint/2010/main" val="2773827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17</a:t>
            </a:fld>
            <a:endParaRPr lang="en-IN"/>
          </a:p>
        </p:txBody>
      </p:sp>
    </p:spTree>
    <p:extLst>
      <p:ext uri="{BB962C8B-B14F-4D97-AF65-F5344CB8AC3E}">
        <p14:creationId xmlns:p14="http://schemas.microsoft.com/office/powerpoint/2010/main" val="3970734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18</a:t>
            </a:fld>
            <a:endParaRPr lang="en-IN"/>
          </a:p>
        </p:txBody>
      </p:sp>
    </p:spTree>
    <p:extLst>
      <p:ext uri="{BB962C8B-B14F-4D97-AF65-F5344CB8AC3E}">
        <p14:creationId xmlns:p14="http://schemas.microsoft.com/office/powerpoint/2010/main" val="2839340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19</a:t>
            </a:fld>
            <a:endParaRPr lang="en-IN"/>
          </a:p>
        </p:txBody>
      </p:sp>
    </p:spTree>
    <p:extLst>
      <p:ext uri="{BB962C8B-B14F-4D97-AF65-F5344CB8AC3E}">
        <p14:creationId xmlns:p14="http://schemas.microsoft.com/office/powerpoint/2010/main" val="3692923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20</a:t>
            </a:fld>
            <a:endParaRPr lang="en-IN"/>
          </a:p>
        </p:txBody>
      </p:sp>
    </p:spTree>
    <p:extLst>
      <p:ext uri="{BB962C8B-B14F-4D97-AF65-F5344CB8AC3E}">
        <p14:creationId xmlns:p14="http://schemas.microsoft.com/office/powerpoint/2010/main" val="2575587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21</a:t>
            </a:fld>
            <a:endParaRPr lang="en-IN"/>
          </a:p>
        </p:txBody>
      </p:sp>
    </p:spTree>
    <p:extLst>
      <p:ext uri="{BB962C8B-B14F-4D97-AF65-F5344CB8AC3E}">
        <p14:creationId xmlns:p14="http://schemas.microsoft.com/office/powerpoint/2010/main" val="3698210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22</a:t>
            </a:fld>
            <a:endParaRPr lang="en-IN"/>
          </a:p>
        </p:txBody>
      </p:sp>
    </p:spTree>
    <p:extLst>
      <p:ext uri="{BB962C8B-B14F-4D97-AF65-F5344CB8AC3E}">
        <p14:creationId xmlns:p14="http://schemas.microsoft.com/office/powerpoint/2010/main" val="523790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23</a:t>
            </a:fld>
            <a:endParaRPr lang="en-IN"/>
          </a:p>
        </p:txBody>
      </p:sp>
    </p:spTree>
    <p:extLst>
      <p:ext uri="{BB962C8B-B14F-4D97-AF65-F5344CB8AC3E}">
        <p14:creationId xmlns:p14="http://schemas.microsoft.com/office/powerpoint/2010/main" val="3006930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24</a:t>
            </a:fld>
            <a:endParaRPr lang="en-IN"/>
          </a:p>
        </p:txBody>
      </p:sp>
    </p:spTree>
    <p:extLst>
      <p:ext uri="{BB962C8B-B14F-4D97-AF65-F5344CB8AC3E}">
        <p14:creationId xmlns:p14="http://schemas.microsoft.com/office/powerpoint/2010/main" val="1294094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25</a:t>
            </a:fld>
            <a:endParaRPr lang="en-IN"/>
          </a:p>
        </p:txBody>
      </p:sp>
    </p:spTree>
    <p:extLst>
      <p:ext uri="{BB962C8B-B14F-4D97-AF65-F5344CB8AC3E}">
        <p14:creationId xmlns:p14="http://schemas.microsoft.com/office/powerpoint/2010/main" val="41288716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26</a:t>
            </a:fld>
            <a:endParaRPr lang="en-IN"/>
          </a:p>
        </p:txBody>
      </p:sp>
    </p:spTree>
    <p:extLst>
      <p:ext uri="{BB962C8B-B14F-4D97-AF65-F5344CB8AC3E}">
        <p14:creationId xmlns:p14="http://schemas.microsoft.com/office/powerpoint/2010/main" val="37274078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27</a:t>
            </a:fld>
            <a:endParaRPr lang="en-IN"/>
          </a:p>
        </p:txBody>
      </p:sp>
    </p:spTree>
    <p:extLst>
      <p:ext uri="{BB962C8B-B14F-4D97-AF65-F5344CB8AC3E}">
        <p14:creationId xmlns:p14="http://schemas.microsoft.com/office/powerpoint/2010/main" val="15754632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28</a:t>
            </a:fld>
            <a:endParaRPr lang="en-IN"/>
          </a:p>
        </p:txBody>
      </p:sp>
    </p:spTree>
    <p:extLst>
      <p:ext uri="{BB962C8B-B14F-4D97-AF65-F5344CB8AC3E}">
        <p14:creationId xmlns:p14="http://schemas.microsoft.com/office/powerpoint/2010/main" val="39802510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29</a:t>
            </a:fld>
            <a:endParaRPr lang="en-IN"/>
          </a:p>
        </p:txBody>
      </p:sp>
    </p:spTree>
    <p:extLst>
      <p:ext uri="{BB962C8B-B14F-4D97-AF65-F5344CB8AC3E}">
        <p14:creationId xmlns:p14="http://schemas.microsoft.com/office/powerpoint/2010/main" val="33896600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185BC86-2116-42F3-8B7E-AA5270F6BBAD}" type="slidenum">
              <a:rPr lang="en-IN" smtClean="0"/>
              <a:t>30</a:t>
            </a:fld>
            <a:endParaRPr lang="en-IN"/>
          </a:p>
        </p:txBody>
      </p:sp>
    </p:spTree>
    <p:extLst>
      <p:ext uri="{BB962C8B-B14F-4D97-AF65-F5344CB8AC3E}">
        <p14:creationId xmlns:p14="http://schemas.microsoft.com/office/powerpoint/2010/main" val="2231310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19C99A3-A339-4C6A-A623-A71567999525}"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986737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19C99A3-A339-4C6A-A623-A71567999525}"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262430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9C99A3-A339-4C6A-A623-A71567999525}"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669411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19C99A3-A339-4C6A-A623-A71567999525}"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975652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19C99A3-A339-4C6A-A623-A71567999525}" type="datetimeFigureOut">
              <a:rPr lang="en-IN" smtClean="0"/>
              <a:t>20-08-2024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761304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19C99A3-A339-4C6A-A623-A71567999525}" type="datetimeFigureOut">
              <a:rPr lang="en-IN" smtClean="0"/>
              <a:t>20-08-2024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551580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9C99A3-A339-4C6A-A623-A71567999525}" type="datetimeFigureOut">
              <a:rPr lang="en-IN" smtClean="0"/>
              <a:t>20-08-2024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706165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9C99A3-A339-4C6A-A623-A71567999525}"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871769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9C99A3-A339-4C6A-A623-A71567999525}"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747991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19C99A3-A339-4C6A-A623-A71567999525}"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765583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19C99A3-A339-4C6A-A623-A71567999525}"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2749348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9C99A3-A339-4C6A-A623-A71567999525}" type="datetimeFigureOut">
              <a:rPr lang="en-IN" smtClean="0"/>
              <a:t>20-08-2024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B3AEBA-54C1-46AE-B9E9-BABC12F758AA}" type="slidenum">
              <a:rPr lang="en-IN" smtClean="0"/>
              <a:t>‹#›</a:t>
            </a:fld>
            <a:endParaRPr lang="en-IN"/>
          </a:p>
        </p:txBody>
      </p:sp>
    </p:spTree>
    <p:extLst>
      <p:ext uri="{BB962C8B-B14F-4D97-AF65-F5344CB8AC3E}">
        <p14:creationId xmlns:p14="http://schemas.microsoft.com/office/powerpoint/2010/main" val="2367174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astm.or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1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5.emf"/></Relationships>
</file>

<file path=ppt/slides/_rels/slide1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emf"/></Relationships>
</file>

<file path=ppt/slides/_rels/slide2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1.emf"/><Relationship Id="rId5" Type="http://schemas.openxmlformats.org/officeDocument/2006/relationships/image" Target="../media/image29.emf"/><Relationship Id="rId4" Type="http://schemas.openxmlformats.org/officeDocument/2006/relationships/image" Target="../media/image28.emf"/></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3.emf"/><Relationship Id="rId4" Type="http://schemas.openxmlformats.org/officeDocument/2006/relationships/image" Target="../media/image32.emf"/></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39.emf"/><Relationship Id="rId3" Type="http://schemas.openxmlformats.org/officeDocument/2006/relationships/image" Target="../media/image34.emf"/><Relationship Id="rId7" Type="http://schemas.openxmlformats.org/officeDocument/2006/relationships/image" Target="../media/image38.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image" Target="../media/image35.emf"/></Relationships>
</file>

<file path=ppt/slides/_rels/slide24.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0.emf"/></Relationships>
</file>

<file path=ppt/slides/_rels/slide2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referRelativeResize="0">
            <a:picLocks noChangeAspect="1"/>
          </p:cNvPicPr>
          <p:nvPr/>
        </p:nvPicPr>
        <p:blipFill rotWithShape="1">
          <a:blip r:embed="rId2" cstate="print">
            <a:extLst>
              <a:ext uri="{28A0092B-C50C-407E-A947-70E740481C1C}">
                <a14:useLocalDpi xmlns:a14="http://schemas.microsoft.com/office/drawing/2010/main" val="0"/>
              </a:ext>
            </a:extLst>
          </a:blip>
          <a:srcRect l="6353" t="5329" r="5306" b="2876"/>
          <a:stretch/>
        </p:blipFill>
        <p:spPr>
          <a:xfrm>
            <a:off x="8707278" y="6"/>
            <a:ext cx="2700843" cy="2700843"/>
          </a:xfrm>
          <a:prstGeom prst="rect">
            <a:avLst/>
          </a:prstGeom>
        </p:spPr>
      </p:pic>
      <p:sp>
        <p:nvSpPr>
          <p:cNvPr id="7" name="Title 1"/>
          <p:cNvSpPr>
            <a:spLocks noGrp="1"/>
          </p:cNvSpPr>
          <p:nvPr>
            <p:ph type="ctrTitle"/>
          </p:nvPr>
        </p:nvSpPr>
        <p:spPr>
          <a:xfrm>
            <a:off x="0" y="3053892"/>
            <a:ext cx="12192000" cy="701731"/>
          </a:xfrm>
          <a:solidFill>
            <a:schemeClr val="tx2">
              <a:lumMod val="20000"/>
              <a:lumOff val="80000"/>
            </a:schemeClr>
          </a:solidFill>
        </p:spPr>
        <p:txBody>
          <a:bodyPr wrap="square" rtlCol="0">
            <a:spAutoFit/>
          </a:bodyPr>
          <a:lstStyle/>
          <a:p>
            <a:r>
              <a:rPr lang="en-IN" sz="4400" dirty="0">
                <a:latin typeface="+mn-lt"/>
                <a:ea typeface="+mn-ea"/>
                <a:cs typeface="+mn-cs"/>
              </a:rPr>
              <a:t>Mechanical Properties of Materials</a:t>
            </a:r>
          </a:p>
        </p:txBody>
      </p:sp>
      <p:sp>
        <p:nvSpPr>
          <p:cNvPr id="8" name="Subtitle 2"/>
          <p:cNvSpPr>
            <a:spLocks noGrp="1"/>
          </p:cNvSpPr>
          <p:nvPr>
            <p:ph type="subTitle" idx="1"/>
          </p:nvPr>
        </p:nvSpPr>
        <p:spPr>
          <a:xfrm>
            <a:off x="1387522" y="4121624"/>
            <a:ext cx="9144000" cy="1450074"/>
          </a:xfrm>
        </p:spPr>
        <p:txBody>
          <a:bodyPr anchor="ctr">
            <a:normAutofit fontScale="92500" lnSpcReduction="20000"/>
          </a:bodyPr>
          <a:lstStyle/>
          <a:p>
            <a:r>
              <a:rPr lang="en-IN" b="1" dirty="0"/>
              <a:t> </a:t>
            </a:r>
          </a:p>
          <a:p>
            <a:r>
              <a:rPr lang="en-IN" b="1" dirty="0" err="1"/>
              <a:t>Dr.</a:t>
            </a:r>
            <a:r>
              <a:rPr lang="en-IN" b="1" dirty="0"/>
              <a:t> J. </a:t>
            </a:r>
            <a:r>
              <a:rPr lang="en-IN" b="1" dirty="0" err="1"/>
              <a:t>Venkatramani</a:t>
            </a:r>
            <a:endParaRPr lang="en-IN" b="1" dirty="0"/>
          </a:p>
          <a:p>
            <a:r>
              <a:rPr lang="en-IN" b="1" dirty="0"/>
              <a:t>219-B</a:t>
            </a:r>
          </a:p>
          <a:p>
            <a:r>
              <a:rPr lang="en-IN" b="1"/>
              <a:t>venkatramani@iiitdm.ac.in</a:t>
            </a:r>
            <a:endParaRPr lang="en-IN" b="1" dirty="0"/>
          </a:p>
        </p:txBody>
      </p:sp>
    </p:spTree>
    <p:extLst>
      <p:ext uri="{BB962C8B-B14F-4D97-AF65-F5344CB8AC3E}">
        <p14:creationId xmlns:p14="http://schemas.microsoft.com/office/powerpoint/2010/main" val="1887596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Mechanical Properties of Materials</a:t>
            </a:r>
          </a:p>
        </p:txBody>
      </p:sp>
      <p:sp>
        <p:nvSpPr>
          <p:cNvPr id="9" name="TextBox 8"/>
          <p:cNvSpPr txBox="1"/>
          <p:nvPr/>
        </p:nvSpPr>
        <p:spPr>
          <a:xfrm>
            <a:off x="286604" y="823469"/>
            <a:ext cx="11905396" cy="5632311"/>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Important mechanical properties in today’s structural applications</a:t>
            </a:r>
          </a:p>
          <a:p>
            <a:pPr algn="just"/>
            <a:endParaRPr lang="en-IN"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Strength</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Hardness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Ductility</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Stiffness</a:t>
            </a:r>
          </a:p>
          <a:p>
            <a:pPr marL="342900" indent="-342900" algn="just">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Types of loads:</a:t>
            </a:r>
          </a:p>
          <a:p>
            <a:pPr marL="342900" indent="-342900" algn="just">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Static</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Dynamic – Impact, variable loading, deformation at constant load (creep)</a:t>
            </a:r>
          </a:p>
          <a:p>
            <a:pPr marL="342900" indent="-342900" algn="just">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A material may show different response to different kinds of forces such as compressive, tensile and shear of same magnitude can be different (e.g., wood).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5168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Mechanical Properties of Materials</a:t>
            </a:r>
          </a:p>
        </p:txBody>
      </p:sp>
      <p:sp>
        <p:nvSpPr>
          <p:cNvPr id="9" name="TextBox 8"/>
          <p:cNvSpPr txBox="1"/>
          <p:nvPr/>
        </p:nvSpPr>
        <p:spPr>
          <a:xfrm>
            <a:off x="0" y="823469"/>
            <a:ext cx="12192000" cy="2862322"/>
          </a:xfrm>
          <a:prstGeom prst="rect">
            <a:avLst/>
          </a:prstGeom>
          <a:noFill/>
        </p:spPr>
        <p:txBody>
          <a:bodyPr wrap="square" rtlCol="0">
            <a:spAutoFit/>
          </a:bodyPr>
          <a:lstStyle/>
          <a:p>
            <a:pPr marL="34290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Certain Standards have to be following to do Laboratory testing to determine the mechanical properties.</a:t>
            </a:r>
          </a:p>
          <a:p>
            <a:pPr marL="342900" indent="-342900" algn="just">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American Society for Testing and Materials (ASTM – </a:t>
            </a:r>
            <a:r>
              <a:rPr lang="en-IN" sz="2000" b="1" dirty="0">
                <a:latin typeface="Times New Roman" panose="02020603050405020304" pitchFamily="18" charset="0"/>
                <a:cs typeface="Times New Roman" panose="02020603050405020304" pitchFamily="18" charset="0"/>
                <a:hlinkClick r:id="rId3"/>
              </a:rPr>
              <a:t>http://www.astm.org</a:t>
            </a:r>
            <a:r>
              <a:rPr lang="en-IN" sz="2000" b="1"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 structural engineer’s role is to determine the stress distribution and deflections in the component/member that is being designed. These aspects will be discussed in a detailed course “Mechanics of Materials”.</a:t>
            </a:r>
          </a:p>
          <a:p>
            <a:pPr marL="342900" indent="-342900" algn="just">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Materials and Metallurgical engineers are concerned with producing and fabricating materials to suit a particular application.</a:t>
            </a:r>
          </a:p>
        </p:txBody>
      </p:sp>
    </p:spTree>
    <p:extLst>
      <p:ext uri="{BB962C8B-B14F-4D97-AF65-F5344CB8AC3E}">
        <p14:creationId xmlns:p14="http://schemas.microsoft.com/office/powerpoint/2010/main" val="1534642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Concept of Stress</a:t>
            </a:r>
          </a:p>
        </p:txBody>
      </p:sp>
      <p:sp>
        <p:nvSpPr>
          <p:cNvPr id="9" name="TextBox 8"/>
          <p:cNvSpPr txBox="1"/>
          <p:nvPr/>
        </p:nvSpPr>
        <p:spPr>
          <a:xfrm>
            <a:off x="129656" y="658646"/>
            <a:ext cx="11075156"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Stress is the resistance force acting per unit area, the direction of the resistance force and the direction of the normal to the area being arbitrary.</a:t>
            </a:r>
          </a:p>
        </p:txBody>
      </p:sp>
      <p:pic>
        <p:nvPicPr>
          <p:cNvPr id="5" name="Picture 4"/>
          <p:cNvPicPr>
            <a:picLocks noChangeAspect="1"/>
          </p:cNvPicPr>
          <p:nvPr/>
        </p:nvPicPr>
        <p:blipFill>
          <a:blip r:embed="rId3"/>
          <a:stretch>
            <a:fillRect/>
          </a:stretch>
        </p:blipFill>
        <p:spPr>
          <a:xfrm>
            <a:off x="49866" y="1603712"/>
            <a:ext cx="5805023" cy="4318544"/>
          </a:xfrm>
          <a:prstGeom prst="rect">
            <a:avLst/>
          </a:prstGeom>
        </p:spPr>
      </p:pic>
      <p:pic>
        <p:nvPicPr>
          <p:cNvPr id="7" name="Picture 6"/>
          <p:cNvPicPr>
            <a:picLocks noChangeAspect="1"/>
          </p:cNvPicPr>
          <p:nvPr/>
        </p:nvPicPr>
        <p:blipFill rotWithShape="1">
          <a:blip r:embed="rId4"/>
          <a:srcRect t="1513"/>
          <a:stretch/>
        </p:blipFill>
        <p:spPr>
          <a:xfrm>
            <a:off x="6069394" y="1060165"/>
            <a:ext cx="3253285" cy="3380799"/>
          </a:xfrm>
          <a:prstGeom prst="rect">
            <a:avLst/>
          </a:prstGeom>
        </p:spPr>
      </p:pic>
      <p:pic>
        <p:nvPicPr>
          <p:cNvPr id="8" name="Picture 7"/>
          <p:cNvPicPr>
            <a:picLocks noChangeAspect="1"/>
          </p:cNvPicPr>
          <p:nvPr/>
        </p:nvPicPr>
        <p:blipFill>
          <a:blip r:embed="rId5"/>
          <a:stretch>
            <a:fillRect/>
          </a:stretch>
        </p:blipFill>
        <p:spPr>
          <a:xfrm>
            <a:off x="8686493" y="3323991"/>
            <a:ext cx="3285553" cy="3401613"/>
          </a:xfrm>
          <a:prstGeom prst="rect">
            <a:avLst/>
          </a:prstGeom>
        </p:spPr>
      </p:pic>
      <p:sp>
        <p:nvSpPr>
          <p:cNvPr id="10" name="TextBox 9"/>
          <p:cNvSpPr txBox="1"/>
          <p:nvPr/>
        </p:nvSpPr>
        <p:spPr>
          <a:xfrm>
            <a:off x="129656" y="5959381"/>
            <a:ext cx="2463419"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Tensile normal stress</a:t>
            </a:r>
          </a:p>
        </p:txBody>
      </p:sp>
      <p:sp>
        <p:nvSpPr>
          <p:cNvPr id="11" name="TextBox 10"/>
          <p:cNvSpPr txBox="1"/>
          <p:nvPr/>
        </p:nvSpPr>
        <p:spPr>
          <a:xfrm>
            <a:off x="3066885" y="5722201"/>
            <a:ext cx="3002509"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Compressive normal stress</a:t>
            </a:r>
          </a:p>
        </p:txBody>
      </p:sp>
      <p:sp>
        <p:nvSpPr>
          <p:cNvPr id="12" name="TextBox 11"/>
          <p:cNvSpPr txBox="1"/>
          <p:nvPr/>
        </p:nvSpPr>
        <p:spPr>
          <a:xfrm>
            <a:off x="6320170" y="4343777"/>
            <a:ext cx="3002509"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Shear stress due to a shear force</a:t>
            </a:r>
          </a:p>
        </p:txBody>
      </p:sp>
      <p:sp>
        <p:nvSpPr>
          <p:cNvPr id="13" name="TextBox 12"/>
          <p:cNvSpPr txBox="1"/>
          <p:nvPr/>
        </p:nvSpPr>
        <p:spPr>
          <a:xfrm>
            <a:off x="8660457" y="6097862"/>
            <a:ext cx="3002509"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Shear stress due to a torque</a:t>
            </a:r>
          </a:p>
        </p:txBody>
      </p:sp>
    </p:spTree>
    <p:extLst>
      <p:ext uri="{BB962C8B-B14F-4D97-AF65-F5344CB8AC3E}">
        <p14:creationId xmlns:p14="http://schemas.microsoft.com/office/powerpoint/2010/main" val="3503968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Concept of Stress</a:t>
            </a:r>
          </a:p>
        </p:txBody>
      </p:sp>
      <p:pic>
        <p:nvPicPr>
          <p:cNvPr id="2" name="Picture 1"/>
          <p:cNvPicPr>
            <a:picLocks noChangeAspect="1"/>
          </p:cNvPicPr>
          <p:nvPr/>
        </p:nvPicPr>
        <p:blipFill>
          <a:blip r:embed="rId3"/>
          <a:stretch>
            <a:fillRect/>
          </a:stretch>
        </p:blipFill>
        <p:spPr>
          <a:xfrm>
            <a:off x="108369" y="523220"/>
            <a:ext cx="7620843" cy="2110798"/>
          </a:xfrm>
          <a:prstGeom prst="rect">
            <a:avLst/>
          </a:prstGeom>
        </p:spPr>
      </p:pic>
      <p:sp>
        <p:nvSpPr>
          <p:cNvPr id="14" name="TextBox 13"/>
          <p:cNvSpPr txBox="1"/>
          <p:nvPr/>
        </p:nvSpPr>
        <p:spPr>
          <a:xfrm>
            <a:off x="354029" y="2634018"/>
            <a:ext cx="5350735"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Tensile Testing Specimen (Dog – Bone Specimen)</a:t>
            </a:r>
          </a:p>
        </p:txBody>
      </p:sp>
      <mc:AlternateContent xmlns:mc="http://schemas.openxmlformats.org/markup-compatibility/2006" xmlns:a14="http://schemas.microsoft.com/office/drawing/2010/main">
        <mc:Choice Requires="a14">
          <p:sp>
            <p:nvSpPr>
              <p:cNvPr id="15" name="TextBox 14"/>
              <p:cNvSpPr txBox="1"/>
              <p:nvPr/>
            </p:nvSpPr>
            <p:spPr>
              <a:xfrm>
                <a:off x="354028" y="3657600"/>
                <a:ext cx="5350735" cy="1926489"/>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Engineering Stress: </a:t>
                </a:r>
                <a14:m>
                  <m:oMath xmlns:m="http://schemas.openxmlformats.org/officeDocument/2006/math">
                    <m:sSub>
                      <m:sSubPr>
                        <m:ctrlPr>
                          <a:rPr lang="en-IN" sz="2000" i="1">
                            <a:latin typeface="Cambria Math" panose="02040503050406030204" pitchFamily="18" charset="0"/>
                            <a:cs typeface="Times New Roman" panose="02020603050405020304" pitchFamily="18" charset="0"/>
                          </a:rPr>
                        </m:ctrlPr>
                      </m:sSubPr>
                      <m:e>
                        <m:r>
                          <a:rPr lang="en-IN" sz="2000"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IN" sz="2000" i="1">
                            <a:latin typeface="Cambria Math" panose="02040503050406030204" pitchFamily="18" charset="0"/>
                            <a:cs typeface="Times New Roman" panose="02020603050405020304" pitchFamily="18" charset="0"/>
                          </a:rPr>
                          <m:t>0</m:t>
                        </m:r>
                      </m:sub>
                    </m:sSub>
                    <m:r>
                      <a:rPr lang="en-IN" sz="2000" b="0" i="1" smtClean="0">
                        <a:latin typeface="Cambria Math" panose="02040503050406030204" pitchFamily="18" charset="0"/>
                        <a:cs typeface="Times New Roman" panose="02020603050405020304" pitchFamily="18" charset="0"/>
                      </a:rPr>
                      <m:t>=</m:t>
                    </m:r>
                    <m:f>
                      <m:fPr>
                        <m:ctrlPr>
                          <a:rPr lang="en-IN" sz="2000" b="0" i="1" smtClean="0">
                            <a:latin typeface="Cambria Math" panose="02040503050406030204" pitchFamily="18" charset="0"/>
                            <a:cs typeface="Times New Roman" panose="02020603050405020304" pitchFamily="18" charset="0"/>
                          </a:rPr>
                        </m:ctrlPr>
                      </m:fPr>
                      <m:num>
                        <m:r>
                          <a:rPr lang="en-IN" sz="2000" b="0" i="1" smtClean="0">
                            <a:latin typeface="Cambria Math" panose="02040503050406030204" pitchFamily="18" charset="0"/>
                            <a:cs typeface="Times New Roman" panose="02020603050405020304" pitchFamily="18" charset="0"/>
                          </a:rPr>
                          <m:t>𝐹</m:t>
                        </m:r>
                      </m:num>
                      <m:den>
                        <m:sSub>
                          <m:sSubPr>
                            <m:ctrlPr>
                              <a:rPr lang="en-IN" sz="2000" b="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𝐴</m:t>
                            </m:r>
                          </m:e>
                          <m:sub>
                            <m:r>
                              <a:rPr lang="en-IN" sz="2000" b="0" i="1" smtClean="0">
                                <a:latin typeface="Cambria Math" panose="02040503050406030204" pitchFamily="18" charset="0"/>
                                <a:cs typeface="Times New Roman" panose="02020603050405020304" pitchFamily="18" charset="0"/>
                              </a:rPr>
                              <m:t>0</m:t>
                            </m:r>
                          </m:sub>
                        </m:sSub>
                      </m:den>
                    </m:f>
                  </m:oMath>
                </a14:m>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True Stress: </a:t>
                </a:r>
                <a14:m>
                  <m:oMath xmlns:m="http://schemas.openxmlformats.org/officeDocument/2006/math">
                    <m:r>
                      <m:rPr>
                        <m:sty m:val="p"/>
                      </m:rPr>
                      <a:rPr lang="el-GR" sz="2000" i="1" smtClean="0">
                        <a:latin typeface="Cambria Math" panose="02040503050406030204" pitchFamily="18" charset="0"/>
                        <a:ea typeface="Cambria Math" panose="02040503050406030204" pitchFamily="18" charset="0"/>
                        <a:cs typeface="Times New Roman" panose="02020603050405020304" pitchFamily="18" charset="0"/>
                      </a:rPr>
                      <m:t>σ</m:t>
                    </m:r>
                    <m:r>
                      <a:rPr lang="en-IN" sz="2000" i="1">
                        <a:latin typeface="Cambria Math" panose="02040503050406030204" pitchFamily="18" charset="0"/>
                        <a:cs typeface="Times New Roman" panose="02020603050405020304" pitchFamily="18" charset="0"/>
                      </a:rPr>
                      <m:t>=</m:t>
                    </m:r>
                    <m:f>
                      <m:fPr>
                        <m:ctrlPr>
                          <a:rPr lang="en-IN" sz="2000" i="1">
                            <a:latin typeface="Cambria Math" panose="02040503050406030204" pitchFamily="18" charset="0"/>
                            <a:cs typeface="Times New Roman" panose="02020603050405020304" pitchFamily="18" charset="0"/>
                          </a:rPr>
                        </m:ctrlPr>
                      </m:fPr>
                      <m:num>
                        <m:r>
                          <a:rPr lang="en-IN" sz="2000" i="1">
                            <a:latin typeface="Cambria Math" panose="02040503050406030204" pitchFamily="18" charset="0"/>
                            <a:cs typeface="Times New Roman" panose="02020603050405020304" pitchFamily="18" charset="0"/>
                          </a:rPr>
                          <m:t>𝐹</m:t>
                        </m:r>
                      </m:num>
                      <m:den>
                        <m:r>
                          <a:rPr lang="en-IN" sz="2000" b="0" i="1" smtClean="0">
                            <a:latin typeface="Cambria Math" panose="02040503050406030204" pitchFamily="18" charset="0"/>
                            <a:cs typeface="Times New Roman" panose="02020603050405020304" pitchFamily="18" charset="0"/>
                          </a:rPr>
                          <m:t>𝐴</m:t>
                        </m:r>
                      </m:den>
                    </m:f>
                  </m:oMath>
                </a14:m>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where, </a:t>
                </a:r>
                <a:r>
                  <a:rPr lang="en-IN" sz="2000" i="1" dirty="0">
                    <a:latin typeface="Times New Roman" panose="02020603050405020304" pitchFamily="18" charset="0"/>
                    <a:cs typeface="Times New Roman" panose="02020603050405020304" pitchFamily="18" charset="0"/>
                  </a:rPr>
                  <a:t>A</a:t>
                </a:r>
                <a:r>
                  <a:rPr lang="en-IN" sz="2000" baseline="-25000" dirty="0">
                    <a:latin typeface="Times New Roman" panose="02020603050405020304" pitchFamily="18" charset="0"/>
                    <a:cs typeface="Times New Roman" panose="02020603050405020304" pitchFamily="18" charset="0"/>
                  </a:rPr>
                  <a:t>0</a:t>
                </a:r>
                <a:r>
                  <a:rPr lang="en-IN" sz="2000" dirty="0">
                    <a:latin typeface="Times New Roman" panose="02020603050405020304" pitchFamily="18" charset="0"/>
                    <a:cs typeface="Times New Roman" panose="02020603050405020304" pitchFamily="18" charset="0"/>
                  </a:rPr>
                  <a:t> is the initial cross–sectional area and </a:t>
                </a:r>
                <a:r>
                  <a:rPr lang="en-IN" sz="2000" i="1" dirty="0">
                    <a:latin typeface="Times New Roman" panose="02020603050405020304" pitchFamily="18" charset="0"/>
                    <a:cs typeface="Times New Roman" panose="02020603050405020304" pitchFamily="18" charset="0"/>
                  </a:rPr>
                  <a:t>A</a:t>
                </a:r>
                <a:r>
                  <a:rPr lang="en-IN" sz="2000" dirty="0">
                    <a:latin typeface="Times New Roman" panose="02020603050405020304" pitchFamily="18" charset="0"/>
                    <a:cs typeface="Times New Roman" panose="02020603050405020304" pitchFamily="18" charset="0"/>
                  </a:rPr>
                  <a:t> is the deformed cross–sectional area.</a:t>
                </a:r>
              </a:p>
            </p:txBody>
          </p:sp>
        </mc:Choice>
        <mc:Fallback xmlns="">
          <p:sp>
            <p:nvSpPr>
              <p:cNvPr id="15" name="TextBox 14"/>
              <p:cNvSpPr txBox="1">
                <a:spLocks noRot="1" noChangeAspect="1" noMove="1" noResize="1" noEditPoints="1" noAdjustHandles="1" noChangeArrowheads="1" noChangeShapeType="1" noTextEdit="1"/>
              </p:cNvSpPr>
              <p:nvPr/>
            </p:nvSpPr>
            <p:spPr>
              <a:xfrm>
                <a:off x="354028" y="3657600"/>
                <a:ext cx="5350735" cy="1926489"/>
              </a:xfrm>
              <a:prstGeom prst="rect">
                <a:avLst/>
              </a:prstGeom>
              <a:blipFill rotWithShape="0">
                <a:blip r:embed="rId4"/>
                <a:stretch>
                  <a:fillRect l="-1139" r="-1253" b="-4747"/>
                </a:stretch>
              </a:blipFill>
            </p:spPr>
            <p:txBody>
              <a:bodyPr/>
              <a:lstStyle/>
              <a:p>
                <a:r>
                  <a:rPr lang="en-IN">
                    <a:noFill/>
                  </a:rPr>
                  <a:t> </a:t>
                </a:r>
              </a:p>
            </p:txBody>
          </p:sp>
        </mc:Fallback>
      </mc:AlternateContent>
      <p:pic>
        <p:nvPicPr>
          <p:cNvPr id="3" name="Picture 2"/>
          <p:cNvPicPr>
            <a:picLocks noChangeAspect="1"/>
          </p:cNvPicPr>
          <p:nvPr/>
        </p:nvPicPr>
        <p:blipFill>
          <a:blip r:embed="rId5"/>
          <a:stretch>
            <a:fillRect/>
          </a:stretch>
        </p:blipFill>
        <p:spPr>
          <a:xfrm>
            <a:off x="7095156" y="2274666"/>
            <a:ext cx="4236104" cy="4453679"/>
          </a:xfrm>
          <a:prstGeom prst="rect">
            <a:avLst/>
          </a:prstGeom>
        </p:spPr>
      </p:pic>
    </p:spTree>
    <p:extLst>
      <p:ext uri="{BB962C8B-B14F-4D97-AF65-F5344CB8AC3E}">
        <p14:creationId xmlns:p14="http://schemas.microsoft.com/office/powerpoint/2010/main" val="3396384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Concepts of Strain</a:t>
            </a:r>
          </a:p>
        </p:txBody>
      </p:sp>
      <p:sp>
        <p:nvSpPr>
          <p:cNvPr id="9" name="TextBox 8"/>
          <p:cNvSpPr txBox="1"/>
          <p:nvPr/>
        </p:nvSpPr>
        <p:spPr>
          <a:xfrm>
            <a:off x="286604" y="823469"/>
            <a:ext cx="5581933" cy="4093428"/>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Engineering Normal Strain</a:t>
            </a:r>
            <a:r>
              <a:rPr lang="en-IN" sz="2000" dirty="0">
                <a:latin typeface="Times New Roman" panose="02020603050405020304" pitchFamily="18" charset="0"/>
                <a:cs typeface="Times New Roman" panose="02020603050405020304" pitchFamily="18" charset="0"/>
              </a:rPr>
              <a:t>: Ratio of change in length to original length of a linear element taken along a certain direction. Indicates stretch. Compressive strains imply decrease in the length, while tensile strain implies increase in the length, along the direction being considered.</a:t>
            </a:r>
          </a:p>
          <a:p>
            <a:pPr algn="just"/>
            <a:endParaRPr lang="en-IN" sz="2000" b="1"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Engineering Shear Strain</a:t>
            </a:r>
            <a:r>
              <a:rPr lang="en-IN" sz="2000" dirty="0">
                <a:latin typeface="Times New Roman" panose="02020603050405020304" pitchFamily="18" charset="0"/>
                <a:cs typeface="Times New Roman" panose="02020603050405020304" pitchFamily="18" charset="0"/>
              </a:rPr>
              <a:t>: Change in angle between two linear elements whose directions are initially perpendicular. Indicates distortion.</a:t>
            </a:r>
          </a:p>
          <a:p>
            <a:pPr algn="just"/>
            <a:endParaRPr lang="en-IN" sz="2000" b="1"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Strain Energy</a:t>
            </a:r>
            <a:r>
              <a:rPr lang="en-IN" sz="2000" dirty="0">
                <a:latin typeface="Times New Roman" panose="02020603050405020304" pitchFamily="18" charset="0"/>
                <a:cs typeface="Times New Roman" panose="02020603050405020304" pitchFamily="18" charset="0"/>
              </a:rPr>
              <a:t>: Energy stored by the material as it is subjected to deformation.</a:t>
            </a:r>
          </a:p>
        </p:txBody>
      </p:sp>
      <p:pic>
        <p:nvPicPr>
          <p:cNvPr id="3" name="Picture 2"/>
          <p:cNvPicPr>
            <a:picLocks noChangeAspect="1"/>
          </p:cNvPicPr>
          <p:nvPr/>
        </p:nvPicPr>
        <p:blipFill>
          <a:blip r:embed="rId3"/>
          <a:stretch>
            <a:fillRect/>
          </a:stretch>
        </p:blipFill>
        <p:spPr>
          <a:xfrm>
            <a:off x="6022856" y="823470"/>
            <a:ext cx="5441263" cy="2131506"/>
          </a:xfrm>
          <a:prstGeom prst="rect">
            <a:avLst/>
          </a:prstGeom>
        </p:spPr>
      </p:pic>
      <p:pic>
        <p:nvPicPr>
          <p:cNvPr id="2050" name="Picture 2" descr="Image result for shear strain"/>
          <p:cNvPicPr>
            <a:picLocks noChangeAspect="1" noChangeArrowheads="1"/>
          </p:cNvPicPr>
          <p:nvPr/>
        </p:nvPicPr>
        <p:blipFill rotWithShape="1">
          <a:blip r:embed="rId4">
            <a:extLst>
              <a:ext uri="{28A0092B-C50C-407E-A947-70E740481C1C}">
                <a14:useLocalDpi xmlns:a14="http://schemas.microsoft.com/office/drawing/2010/main" val="0"/>
              </a:ext>
            </a:extLst>
          </a:blip>
          <a:srcRect l="62063" t="19344" r="7234" b="14746"/>
          <a:stretch/>
        </p:blipFill>
        <p:spPr bwMode="auto">
          <a:xfrm>
            <a:off x="7242232" y="2954976"/>
            <a:ext cx="3002510" cy="3683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950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Concept of 3–D State of Stress</a:t>
            </a:r>
          </a:p>
        </p:txBody>
      </p:sp>
      <p:pic>
        <p:nvPicPr>
          <p:cNvPr id="5" name="Picture 4"/>
          <p:cNvPicPr>
            <a:picLocks noChangeAspect="1"/>
          </p:cNvPicPr>
          <p:nvPr/>
        </p:nvPicPr>
        <p:blipFill>
          <a:blip r:embed="rId3"/>
          <a:stretch>
            <a:fillRect/>
          </a:stretch>
        </p:blipFill>
        <p:spPr>
          <a:xfrm>
            <a:off x="428373" y="1603711"/>
            <a:ext cx="6310829" cy="4694829"/>
          </a:xfrm>
          <a:prstGeom prst="rect">
            <a:avLst/>
          </a:prstGeom>
        </p:spPr>
      </p:pic>
      <p:pic>
        <p:nvPicPr>
          <p:cNvPr id="6" name="Picture 5"/>
          <p:cNvPicPr>
            <a:picLocks noChangeAspect="1"/>
          </p:cNvPicPr>
          <p:nvPr/>
        </p:nvPicPr>
        <p:blipFill rotWithShape="1">
          <a:blip r:embed="rId4"/>
          <a:srcRect l="15423" t="2586" r="50249" b="51842"/>
          <a:stretch/>
        </p:blipFill>
        <p:spPr>
          <a:xfrm>
            <a:off x="7615450" y="2045366"/>
            <a:ext cx="4271749" cy="4253174"/>
          </a:xfrm>
          <a:prstGeom prst="rect">
            <a:avLst/>
          </a:prstGeom>
        </p:spPr>
      </p:pic>
      <p:sp>
        <p:nvSpPr>
          <p:cNvPr id="2" name="Cube 1"/>
          <p:cNvSpPr/>
          <p:nvPr/>
        </p:nvSpPr>
        <p:spPr>
          <a:xfrm rot="19467084">
            <a:off x="1417853" y="4249628"/>
            <a:ext cx="470488" cy="415491"/>
          </a:xfrm>
          <a:prstGeom prst="cub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Cube 6"/>
          <p:cNvSpPr/>
          <p:nvPr/>
        </p:nvSpPr>
        <p:spPr>
          <a:xfrm>
            <a:off x="1340915" y="3353362"/>
            <a:ext cx="470488" cy="415491"/>
          </a:xfrm>
          <a:prstGeom prst="cube">
            <a:avLst/>
          </a:prstGeom>
          <a:solidFill>
            <a:schemeClr val="bg2">
              <a:lumMod val="9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reeform 2"/>
          <p:cNvSpPr/>
          <p:nvPr/>
        </p:nvSpPr>
        <p:spPr>
          <a:xfrm>
            <a:off x="1746913" y="4653887"/>
            <a:ext cx="5677469" cy="2050592"/>
          </a:xfrm>
          <a:custGeom>
            <a:avLst/>
            <a:gdLst>
              <a:gd name="connsiteX0" fmla="*/ 0 w 5677469"/>
              <a:gd name="connsiteY0" fmla="*/ 0 h 2050592"/>
              <a:gd name="connsiteX1" fmla="*/ 668741 w 5677469"/>
              <a:gd name="connsiteY1" fmla="*/ 1446662 h 2050592"/>
              <a:gd name="connsiteX2" fmla="*/ 1405720 w 5677469"/>
              <a:gd name="connsiteY2" fmla="*/ 1856095 h 2050592"/>
              <a:gd name="connsiteX3" fmla="*/ 3916908 w 5677469"/>
              <a:gd name="connsiteY3" fmla="*/ 2019868 h 2050592"/>
              <a:gd name="connsiteX4" fmla="*/ 5677469 w 5677469"/>
              <a:gd name="connsiteY4" fmla="*/ 1255594 h 2050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7469" h="2050592">
                <a:moveTo>
                  <a:pt x="0" y="0"/>
                </a:moveTo>
                <a:cubicBezTo>
                  <a:pt x="217227" y="568656"/>
                  <a:pt x="434454" y="1137313"/>
                  <a:pt x="668741" y="1446662"/>
                </a:cubicBezTo>
                <a:cubicBezTo>
                  <a:pt x="903028" y="1756011"/>
                  <a:pt x="864359" y="1760561"/>
                  <a:pt x="1405720" y="1856095"/>
                </a:cubicBezTo>
                <a:cubicBezTo>
                  <a:pt x="1947081" y="1951629"/>
                  <a:pt x="3204950" y="2119952"/>
                  <a:pt x="3916908" y="2019868"/>
                </a:cubicBezTo>
                <a:cubicBezTo>
                  <a:pt x="4628866" y="1919784"/>
                  <a:pt x="5153167" y="1587689"/>
                  <a:pt x="5677469" y="1255594"/>
                </a:cubicBez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p:cNvSpPr txBox="1"/>
          <p:nvPr/>
        </p:nvSpPr>
        <p:spPr>
          <a:xfrm>
            <a:off x="8202303" y="6098485"/>
            <a:ext cx="3002509"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State of Stress at a point</a:t>
            </a:r>
          </a:p>
        </p:txBody>
      </p:sp>
    </p:spTree>
    <p:extLst>
      <p:ext uri="{BB962C8B-B14F-4D97-AF65-F5344CB8AC3E}">
        <p14:creationId xmlns:p14="http://schemas.microsoft.com/office/powerpoint/2010/main" val="3007050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21517" y="764274"/>
            <a:ext cx="1885455" cy="5615107"/>
          </a:xfrm>
          <a:prstGeom prst="rect">
            <a:avLst/>
          </a:prstGeom>
        </p:spPr>
      </p:pic>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Concept of 3–D State of Stress: Stress components</a:t>
            </a:r>
          </a:p>
        </p:txBody>
      </p:sp>
      <mc:AlternateContent xmlns:mc="http://schemas.openxmlformats.org/markup-compatibility/2006" xmlns:a14="http://schemas.microsoft.com/office/drawing/2010/main">
        <mc:Choice Requires="a14">
          <p:sp>
            <p:nvSpPr>
              <p:cNvPr id="2" name="TextBox 1"/>
              <p:cNvSpPr txBox="1"/>
              <p:nvPr/>
            </p:nvSpPr>
            <p:spPr>
              <a:xfrm>
                <a:off x="6020972" y="2053883"/>
                <a:ext cx="2053883"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IN" sz="2000" i="1" smtClean="0">
                              <a:latin typeface="Cambria Math" panose="02040503050406030204" pitchFamily="18" charset="0"/>
                            </a:rPr>
                          </m:ctrlPr>
                        </m:sSupPr>
                        <m:e>
                          <m:r>
                            <a:rPr lang="en-IN" sz="2000" i="1" smtClean="0">
                              <a:latin typeface="Cambria Math" panose="02040503050406030204" pitchFamily="18" charset="0"/>
                              <a:ea typeface="Cambria Math" panose="02040503050406030204" pitchFamily="18" charset="0"/>
                            </a:rPr>
                            <m:t>𝜎</m:t>
                          </m:r>
                        </m:e>
                        <m:sup>
                          <m:r>
                            <a:rPr lang="en-IN" sz="2000" b="0" i="1" smtClean="0">
                              <a:latin typeface="Cambria Math" panose="02040503050406030204" pitchFamily="18" charset="0"/>
                            </a:rPr>
                            <m:t>′</m:t>
                          </m:r>
                        </m:sup>
                      </m:sSup>
                      <m:r>
                        <a:rPr lang="en-IN" sz="2000" b="0" i="1" smtClean="0">
                          <a:latin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𝜎</m:t>
                      </m:r>
                      <m:sSup>
                        <m:sSupPr>
                          <m:ctrlPr>
                            <a:rPr lang="en-IN" sz="2000" b="0" i="1" smtClean="0">
                              <a:latin typeface="Cambria Math" panose="02040503050406030204" pitchFamily="18" charset="0"/>
                              <a:ea typeface="Cambria Math" panose="02040503050406030204" pitchFamily="18" charset="0"/>
                            </a:rPr>
                          </m:ctrlPr>
                        </m:sSupPr>
                        <m:e>
                          <m:r>
                            <m:rPr>
                              <m:sty m:val="p"/>
                            </m:rPr>
                            <a:rPr lang="en-IN" sz="2000">
                              <a:latin typeface="Cambria Math" panose="02040503050406030204" pitchFamily="18" charset="0"/>
                              <a:ea typeface="Cambria Math" panose="02040503050406030204" pitchFamily="18" charset="0"/>
                            </a:rPr>
                            <m:t>cos</m:t>
                          </m:r>
                        </m:e>
                        <m:sup>
                          <m:r>
                            <a:rPr lang="en-IN" sz="2000" b="0" i="1" smtClean="0">
                              <a:latin typeface="Cambria Math" panose="02040503050406030204" pitchFamily="18" charset="0"/>
                              <a:ea typeface="Cambria Math" panose="02040503050406030204" pitchFamily="18" charset="0"/>
                            </a:rPr>
                            <m:t>2</m:t>
                          </m:r>
                        </m:sup>
                      </m:sSup>
                      <m:r>
                        <a:rPr lang="en-IN" sz="2000" b="0" i="1" smtClean="0">
                          <a:latin typeface="Cambria Math" panose="02040503050406030204" pitchFamily="18" charset="0"/>
                          <a:ea typeface="Cambria Math" panose="02040503050406030204" pitchFamily="18" charset="0"/>
                        </a:rPr>
                        <m:t>𝜃</m:t>
                      </m:r>
                    </m:oMath>
                  </m:oMathPara>
                </a14:m>
                <a:endParaRPr lang="en-IN" sz="2000" dirty="0"/>
              </a:p>
              <a:p>
                <a:pPr/>
                <a14:m>
                  <m:oMathPara xmlns:m="http://schemas.openxmlformats.org/officeDocument/2006/math">
                    <m:oMathParaPr>
                      <m:jc m:val="centerGroup"/>
                    </m:oMathParaPr>
                    <m:oMath xmlns:m="http://schemas.openxmlformats.org/officeDocument/2006/math">
                      <m:sSup>
                        <m:sSupPr>
                          <m:ctrlPr>
                            <a:rPr lang="en-IN" sz="2000" i="1">
                              <a:latin typeface="Cambria Math" panose="02040503050406030204" pitchFamily="18" charset="0"/>
                            </a:rPr>
                          </m:ctrlPr>
                        </m:sSupPr>
                        <m:e>
                          <m:r>
                            <a:rPr lang="en-IN" sz="2000" i="1" smtClean="0">
                              <a:latin typeface="Cambria Math" panose="02040503050406030204" pitchFamily="18" charset="0"/>
                              <a:ea typeface="Cambria Math" panose="02040503050406030204" pitchFamily="18" charset="0"/>
                            </a:rPr>
                            <m:t>𝜏</m:t>
                          </m:r>
                        </m:e>
                        <m:sup>
                          <m:r>
                            <a:rPr lang="en-IN" sz="2000" i="1">
                              <a:latin typeface="Cambria Math" panose="02040503050406030204" pitchFamily="18" charset="0"/>
                            </a:rPr>
                            <m:t>′</m:t>
                          </m:r>
                        </m:sup>
                      </m:sSup>
                      <m:r>
                        <a:rPr lang="en-IN" sz="2000" i="1">
                          <a:latin typeface="Cambria Math" panose="02040503050406030204" pitchFamily="18" charset="0"/>
                        </a:rPr>
                        <m:t>=</m:t>
                      </m:r>
                      <m:r>
                        <a:rPr lang="en-IN" sz="2000" i="1">
                          <a:latin typeface="Cambria Math" panose="02040503050406030204" pitchFamily="18" charset="0"/>
                          <a:ea typeface="Cambria Math" panose="02040503050406030204" pitchFamily="18" charset="0"/>
                        </a:rPr>
                        <m:t>𝜎</m:t>
                      </m:r>
                      <m:r>
                        <m:rPr>
                          <m:sty m:val="p"/>
                        </m:rPr>
                        <a:rPr lang="en-IN" sz="2000">
                          <a:latin typeface="Cambria Math" panose="02040503050406030204" pitchFamily="18" charset="0"/>
                          <a:ea typeface="Cambria Math" panose="02040503050406030204" pitchFamily="18" charset="0"/>
                        </a:rPr>
                        <m:t>sin</m:t>
                      </m:r>
                      <m:r>
                        <a:rPr lang="en-IN" sz="2000" b="0" i="1" smtClean="0">
                          <a:latin typeface="Cambria Math" panose="02040503050406030204" pitchFamily="18" charset="0"/>
                          <a:ea typeface="Cambria Math" panose="02040503050406030204" pitchFamily="18" charset="0"/>
                        </a:rPr>
                        <m:t> </m:t>
                      </m:r>
                      <m:r>
                        <a:rPr lang="en-IN" sz="2000" i="1">
                          <a:latin typeface="Cambria Math" panose="02040503050406030204" pitchFamily="18" charset="0"/>
                          <a:ea typeface="Cambria Math" panose="02040503050406030204" pitchFamily="18" charset="0"/>
                        </a:rPr>
                        <m:t>𝜃</m:t>
                      </m:r>
                      <m:r>
                        <m:rPr>
                          <m:sty m:val="p"/>
                        </m:rPr>
                        <a:rPr lang="en-IN" sz="2000" b="0" i="0" smtClean="0">
                          <a:latin typeface="Cambria Math" panose="02040503050406030204" pitchFamily="18" charset="0"/>
                          <a:ea typeface="Cambria Math" panose="02040503050406030204" pitchFamily="18" charset="0"/>
                        </a:rPr>
                        <m:t>cos</m:t>
                      </m:r>
                      <m:r>
                        <a:rPr lang="en-IN" sz="2000" i="1">
                          <a:latin typeface="Cambria Math" panose="02040503050406030204" pitchFamily="18" charset="0"/>
                          <a:ea typeface="Cambria Math" panose="02040503050406030204" pitchFamily="18" charset="0"/>
                        </a:rPr>
                        <m:t> </m:t>
                      </m:r>
                      <m:r>
                        <a:rPr lang="en-IN" sz="2000" i="1">
                          <a:latin typeface="Cambria Math" panose="02040503050406030204" pitchFamily="18" charset="0"/>
                          <a:ea typeface="Cambria Math" panose="02040503050406030204" pitchFamily="18" charset="0"/>
                        </a:rPr>
                        <m:t>𝜃</m:t>
                      </m:r>
                    </m:oMath>
                  </m:oMathPara>
                </a14:m>
                <a:endParaRPr lang="en-IN" sz="2000" dirty="0"/>
              </a:p>
            </p:txBody>
          </p:sp>
        </mc:Choice>
        <mc:Fallback xmlns="">
          <p:sp>
            <p:nvSpPr>
              <p:cNvPr id="2" name="TextBox 1"/>
              <p:cNvSpPr txBox="1">
                <a:spLocks noRot="1" noChangeAspect="1" noMove="1" noResize="1" noEditPoints="1" noAdjustHandles="1" noChangeArrowheads="1" noChangeShapeType="1" noTextEdit="1"/>
              </p:cNvSpPr>
              <p:nvPr/>
            </p:nvSpPr>
            <p:spPr>
              <a:xfrm>
                <a:off x="6020972" y="2053883"/>
                <a:ext cx="2053883" cy="707886"/>
              </a:xfrm>
              <a:prstGeom prst="rect">
                <a:avLst/>
              </a:prstGeom>
              <a:blipFill rotWithShape="0">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76726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Stress – Strain Behaviour</a:t>
            </a:r>
          </a:p>
        </p:txBody>
      </p:sp>
      <p:sp>
        <p:nvSpPr>
          <p:cNvPr id="6" name="TextBox 5"/>
          <p:cNvSpPr txBox="1"/>
          <p:nvPr/>
        </p:nvSpPr>
        <p:spPr>
          <a:xfrm>
            <a:off x="0" y="523220"/>
            <a:ext cx="12192000" cy="1323439"/>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Most of the metals exhibit linear relationship between stress and strain up to a certain limit of stress. This is known as Hooke’s law.</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427551" y="1712322"/>
            <a:ext cx="10902924" cy="4087976"/>
          </a:xfrm>
          <a:prstGeom prst="rect">
            <a:avLst/>
          </a:prstGeom>
        </p:spPr>
      </p:pic>
      <p:pic>
        <p:nvPicPr>
          <p:cNvPr id="3" name="Picture 2"/>
          <p:cNvPicPr>
            <a:picLocks noChangeAspect="1"/>
          </p:cNvPicPr>
          <p:nvPr/>
        </p:nvPicPr>
        <p:blipFill>
          <a:blip r:embed="rId3"/>
          <a:stretch>
            <a:fillRect/>
          </a:stretch>
        </p:blipFill>
        <p:spPr>
          <a:xfrm>
            <a:off x="3896751" y="997913"/>
            <a:ext cx="1229518" cy="452799"/>
          </a:xfrm>
          <a:prstGeom prst="rect">
            <a:avLst/>
          </a:prstGeom>
        </p:spPr>
      </p:pic>
      <p:pic>
        <p:nvPicPr>
          <p:cNvPr id="4" name="Picture 3"/>
          <p:cNvPicPr>
            <a:picLocks noChangeAspect="1"/>
          </p:cNvPicPr>
          <p:nvPr/>
        </p:nvPicPr>
        <p:blipFill>
          <a:blip r:embed="rId4"/>
          <a:stretch>
            <a:fillRect/>
          </a:stretch>
        </p:blipFill>
        <p:spPr>
          <a:xfrm>
            <a:off x="6095999" y="997912"/>
            <a:ext cx="1064455" cy="455239"/>
          </a:xfrm>
          <a:prstGeom prst="rect">
            <a:avLst/>
          </a:prstGeom>
        </p:spPr>
      </p:pic>
    </p:spTree>
    <p:extLst>
      <p:ext uri="{BB962C8B-B14F-4D97-AF65-F5344CB8AC3E}">
        <p14:creationId xmlns:p14="http://schemas.microsoft.com/office/powerpoint/2010/main" val="3512838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Stress – Strain Behaviour</a:t>
            </a:r>
          </a:p>
        </p:txBody>
      </p:sp>
      <p:sp>
        <p:nvSpPr>
          <p:cNvPr id="6" name="TextBox 5"/>
          <p:cNvSpPr txBox="1"/>
          <p:nvPr/>
        </p:nvSpPr>
        <p:spPr>
          <a:xfrm>
            <a:off x="0" y="523220"/>
            <a:ext cx="12192000" cy="1323439"/>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Most of the metals exhibit linear relationship between stress and strain up to a certain limit of stress. This is known as Hooke’s law.</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Certain materials like Grey cast iron, concrete and polymers exhibit nonlinear elasticity.</a:t>
            </a:r>
          </a:p>
        </p:txBody>
      </p:sp>
      <p:pic>
        <p:nvPicPr>
          <p:cNvPr id="3" name="Picture 2"/>
          <p:cNvPicPr>
            <a:picLocks noChangeAspect="1"/>
          </p:cNvPicPr>
          <p:nvPr/>
        </p:nvPicPr>
        <p:blipFill>
          <a:blip r:embed="rId2"/>
          <a:stretch>
            <a:fillRect/>
          </a:stretch>
        </p:blipFill>
        <p:spPr>
          <a:xfrm>
            <a:off x="95535" y="2194873"/>
            <a:ext cx="3766781" cy="4561916"/>
          </a:xfrm>
          <a:prstGeom prst="rect">
            <a:avLst/>
          </a:prstGeom>
        </p:spPr>
      </p:pic>
      <p:pic>
        <p:nvPicPr>
          <p:cNvPr id="4" name="Picture 3"/>
          <p:cNvPicPr>
            <a:picLocks noChangeAspect="1"/>
          </p:cNvPicPr>
          <p:nvPr/>
        </p:nvPicPr>
        <p:blipFill rotWithShape="1">
          <a:blip r:embed="rId3"/>
          <a:srcRect t="8331"/>
          <a:stretch/>
        </p:blipFill>
        <p:spPr>
          <a:xfrm>
            <a:off x="6059606" y="1846659"/>
            <a:ext cx="5665874" cy="4919032"/>
          </a:xfrm>
          <a:prstGeom prst="rect">
            <a:avLst/>
          </a:prstGeom>
        </p:spPr>
      </p:pic>
    </p:spTree>
    <p:extLst>
      <p:ext uri="{BB962C8B-B14F-4D97-AF65-F5344CB8AC3E}">
        <p14:creationId xmlns:p14="http://schemas.microsoft.com/office/powerpoint/2010/main" val="2383465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Viewing Elasticity at atomistic length scales</a:t>
            </a:r>
          </a:p>
        </p:txBody>
      </p:sp>
      <p:pic>
        <p:nvPicPr>
          <p:cNvPr id="7" name="Picture 6"/>
          <p:cNvPicPr>
            <a:picLocks noChangeAspect="1"/>
          </p:cNvPicPr>
          <p:nvPr/>
        </p:nvPicPr>
        <p:blipFill>
          <a:blip r:embed="rId2"/>
          <a:stretch>
            <a:fillRect/>
          </a:stretch>
        </p:blipFill>
        <p:spPr>
          <a:xfrm>
            <a:off x="0" y="523220"/>
            <a:ext cx="6910782" cy="3966893"/>
          </a:xfrm>
          <a:prstGeom prst="rect">
            <a:avLst/>
          </a:prstGeom>
        </p:spPr>
      </p:pic>
      <p:sp>
        <p:nvSpPr>
          <p:cNvPr id="8" name="TextBox 7"/>
          <p:cNvSpPr txBox="1"/>
          <p:nvPr/>
        </p:nvSpPr>
        <p:spPr>
          <a:xfrm>
            <a:off x="4967690" y="1106999"/>
            <a:ext cx="4885994" cy="707886"/>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Energy potential as a function of the distance between a pair of atoms</a:t>
            </a:r>
          </a:p>
        </p:txBody>
      </p:sp>
      <p:pic>
        <p:nvPicPr>
          <p:cNvPr id="2" name="Picture 1"/>
          <p:cNvPicPr>
            <a:picLocks noChangeAspect="1"/>
          </p:cNvPicPr>
          <p:nvPr/>
        </p:nvPicPr>
        <p:blipFill>
          <a:blip r:embed="rId3"/>
          <a:stretch>
            <a:fillRect/>
          </a:stretch>
        </p:blipFill>
        <p:spPr>
          <a:xfrm>
            <a:off x="5418161" y="3088903"/>
            <a:ext cx="6299676" cy="3769097"/>
          </a:xfrm>
          <a:prstGeom prst="rect">
            <a:avLst/>
          </a:prstGeom>
        </p:spPr>
      </p:pic>
      <p:sp>
        <p:nvSpPr>
          <p:cNvPr id="9" name="TextBox 8"/>
          <p:cNvSpPr txBox="1"/>
          <p:nvPr/>
        </p:nvSpPr>
        <p:spPr>
          <a:xfrm>
            <a:off x="9034722" y="3624632"/>
            <a:ext cx="2256619" cy="707886"/>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Force between a pair of atoms</a:t>
            </a:r>
          </a:p>
        </p:txBody>
      </p:sp>
    </p:spTree>
    <p:extLst>
      <p:ext uri="{BB962C8B-B14F-4D97-AF65-F5344CB8AC3E}">
        <p14:creationId xmlns:p14="http://schemas.microsoft.com/office/powerpoint/2010/main" val="4135487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23423" y="1487606"/>
            <a:ext cx="8454244" cy="4872251"/>
          </a:xfrm>
          <a:prstGeom prst="rect">
            <a:avLst/>
          </a:prstGeom>
        </p:spPr>
      </p:pic>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Viewing Elasticity at atomistic length scales</a:t>
            </a:r>
          </a:p>
        </p:txBody>
      </p:sp>
      <p:pic>
        <p:nvPicPr>
          <p:cNvPr id="6" name="Picture 5"/>
          <p:cNvPicPr>
            <a:picLocks noChangeAspect="1"/>
          </p:cNvPicPr>
          <p:nvPr/>
        </p:nvPicPr>
        <p:blipFill>
          <a:blip r:embed="rId3"/>
          <a:stretch>
            <a:fillRect/>
          </a:stretch>
        </p:blipFill>
        <p:spPr>
          <a:xfrm>
            <a:off x="9523348" y="1044817"/>
            <a:ext cx="1681463" cy="885578"/>
          </a:xfrm>
          <a:prstGeom prst="rect">
            <a:avLst/>
          </a:prstGeom>
        </p:spPr>
      </p:pic>
    </p:spTree>
    <p:extLst>
      <p:ext uri="{BB962C8B-B14F-4D97-AF65-F5344CB8AC3E}">
        <p14:creationId xmlns:p14="http://schemas.microsoft.com/office/powerpoint/2010/main" val="1603552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Elastic Modulus Vs Temperature Rise</a:t>
            </a:r>
          </a:p>
        </p:txBody>
      </p:sp>
      <p:pic>
        <p:nvPicPr>
          <p:cNvPr id="2" name="Picture 1"/>
          <p:cNvPicPr>
            <a:picLocks noChangeAspect="1"/>
          </p:cNvPicPr>
          <p:nvPr/>
        </p:nvPicPr>
        <p:blipFill>
          <a:blip r:embed="rId2"/>
          <a:stretch>
            <a:fillRect/>
          </a:stretch>
        </p:blipFill>
        <p:spPr>
          <a:xfrm>
            <a:off x="2280042" y="727748"/>
            <a:ext cx="7191503" cy="5754939"/>
          </a:xfrm>
          <a:prstGeom prst="rect">
            <a:avLst/>
          </a:prstGeom>
        </p:spPr>
      </p:pic>
    </p:spTree>
    <p:extLst>
      <p:ext uri="{BB962C8B-B14F-4D97-AF65-F5344CB8AC3E}">
        <p14:creationId xmlns:p14="http://schemas.microsoft.com/office/powerpoint/2010/main" val="3700297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Elastic Properties of Materials</a:t>
            </a:r>
          </a:p>
        </p:txBody>
      </p:sp>
      <p:pic>
        <p:nvPicPr>
          <p:cNvPr id="6" name="Picture 5"/>
          <p:cNvPicPr>
            <a:picLocks noChangeAspect="1"/>
          </p:cNvPicPr>
          <p:nvPr/>
        </p:nvPicPr>
        <p:blipFill rotWithShape="1">
          <a:blip r:embed="rId2"/>
          <a:srcRect l="17314" t="1976"/>
          <a:stretch/>
        </p:blipFill>
        <p:spPr>
          <a:xfrm>
            <a:off x="6354792" y="0"/>
            <a:ext cx="5905447" cy="6858000"/>
          </a:xfrm>
          <a:prstGeom prst="rect">
            <a:avLst/>
          </a:prstGeom>
        </p:spPr>
      </p:pic>
      <p:sp>
        <p:nvSpPr>
          <p:cNvPr id="7" name="Rectangle 6"/>
          <p:cNvSpPr/>
          <p:nvPr/>
        </p:nvSpPr>
        <p:spPr>
          <a:xfrm>
            <a:off x="13803" y="748027"/>
            <a:ext cx="6619612" cy="1015663"/>
          </a:xfrm>
          <a:prstGeom prst="rect">
            <a:avLst/>
          </a:prstGeom>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Poisson’s ratio (</a:t>
            </a:r>
            <a:r>
              <a:rPr lang="el-GR" sz="2000" b="1" i="1" dirty="0">
                <a:latin typeface="Times New Roman" panose="02020603050405020304" pitchFamily="18" charset="0"/>
                <a:cs typeface="Times New Roman" panose="02020603050405020304" pitchFamily="18" charset="0"/>
              </a:rPr>
              <a:t>ν</a:t>
            </a:r>
            <a:r>
              <a:rPr lang="en-IN" sz="2000" b="1"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Ratio of lateral strain to longitudinal strain, with a negative sign as in the equation below. The negative sign is to ensure that the value of </a:t>
            </a:r>
            <a:r>
              <a:rPr lang="el-GR" sz="2000" i="1" dirty="0">
                <a:latin typeface="Times New Roman" panose="02020603050405020304" pitchFamily="18" charset="0"/>
                <a:cs typeface="Times New Roman" panose="02020603050405020304" pitchFamily="18" charset="0"/>
              </a:rPr>
              <a:t>ν</a:t>
            </a:r>
            <a:r>
              <a:rPr lang="en-IN" sz="2000" dirty="0">
                <a:latin typeface="Times New Roman" panose="02020603050405020304" pitchFamily="18" charset="0"/>
                <a:cs typeface="Times New Roman" panose="02020603050405020304" pitchFamily="18" charset="0"/>
              </a:rPr>
              <a:t> remains positive.</a:t>
            </a: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stretch>
            <a:fillRect/>
          </a:stretch>
        </p:blipFill>
        <p:spPr>
          <a:xfrm>
            <a:off x="1110113" y="2284936"/>
            <a:ext cx="2222116" cy="739152"/>
          </a:xfrm>
          <a:prstGeom prst="rect">
            <a:avLst/>
          </a:prstGeom>
        </p:spPr>
      </p:pic>
    </p:spTree>
    <p:extLst>
      <p:ext uri="{BB962C8B-B14F-4D97-AF65-F5344CB8AC3E}">
        <p14:creationId xmlns:p14="http://schemas.microsoft.com/office/powerpoint/2010/main" val="153163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Bi – axial State and relation between Elastic Constants In Isotropic Materials</a:t>
            </a:r>
          </a:p>
        </p:txBody>
      </p:sp>
      <p:sp>
        <p:nvSpPr>
          <p:cNvPr id="4" name="Rectangle 3"/>
          <p:cNvSpPr>
            <a:spLocks noChangeAspect="1"/>
          </p:cNvSpPr>
          <p:nvPr/>
        </p:nvSpPr>
        <p:spPr>
          <a:xfrm>
            <a:off x="8557146" y="1296537"/>
            <a:ext cx="1571592" cy="1572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p:cNvCxnSpPr>
            <a:stCxn id="4" idx="3"/>
          </p:cNvCxnSpPr>
          <p:nvPr/>
        </p:nvCxnSpPr>
        <p:spPr>
          <a:xfrm>
            <a:off x="10128738" y="2082730"/>
            <a:ext cx="787791" cy="0"/>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7769355" y="2110866"/>
            <a:ext cx="787791" cy="0"/>
          </a:xfrm>
          <a:prstGeom prst="straightConnector1">
            <a:avLst/>
          </a:prstGeom>
          <a:ln>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10" name="Straight Arrow Connector 9"/>
          <p:cNvCxnSpPr/>
          <p:nvPr/>
        </p:nvCxnSpPr>
        <p:spPr>
          <a:xfrm flipH="1">
            <a:off x="9300739" y="693630"/>
            <a:ext cx="0" cy="602907"/>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flipH="1">
            <a:off x="9342942" y="2868923"/>
            <a:ext cx="0" cy="602907"/>
          </a:xfrm>
          <a:prstGeom prst="straightConnector1">
            <a:avLst/>
          </a:prstGeom>
          <a:ln>
            <a:headEnd type="arrow" w="med" len="med"/>
            <a:tailEnd type="none" w="med" len="med"/>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10916529" y="1882675"/>
            <a:ext cx="478302"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σ</a:t>
            </a:r>
            <a:r>
              <a:rPr lang="en-IN" sz="2000" baseline="-25000" dirty="0">
                <a:latin typeface="Times New Roman" panose="02020603050405020304" pitchFamily="18" charset="0"/>
                <a:cs typeface="Times New Roman" panose="02020603050405020304" pitchFamily="18" charset="0"/>
              </a:rPr>
              <a:t>0</a:t>
            </a:r>
          </a:p>
        </p:txBody>
      </p:sp>
      <p:sp>
        <p:nvSpPr>
          <p:cNvPr id="16" name="Rectangle 15"/>
          <p:cNvSpPr/>
          <p:nvPr/>
        </p:nvSpPr>
        <p:spPr>
          <a:xfrm>
            <a:off x="7389527" y="1882675"/>
            <a:ext cx="478302"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σ</a:t>
            </a:r>
            <a:r>
              <a:rPr lang="en-IN" sz="2000" baseline="-25000" dirty="0">
                <a:latin typeface="Times New Roman" panose="02020603050405020304" pitchFamily="18" charset="0"/>
                <a:cs typeface="Times New Roman" panose="02020603050405020304" pitchFamily="18" charset="0"/>
              </a:rPr>
              <a:t>0</a:t>
            </a:r>
          </a:p>
        </p:txBody>
      </p:sp>
      <p:sp>
        <p:nvSpPr>
          <p:cNvPr id="17" name="Rectangle 16"/>
          <p:cNvSpPr/>
          <p:nvPr/>
        </p:nvSpPr>
        <p:spPr>
          <a:xfrm>
            <a:off x="9300739" y="540924"/>
            <a:ext cx="478302"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σ</a:t>
            </a:r>
            <a:r>
              <a:rPr lang="en-IN" sz="2000" baseline="-25000" dirty="0">
                <a:latin typeface="Times New Roman" panose="02020603050405020304" pitchFamily="18" charset="0"/>
                <a:cs typeface="Times New Roman" panose="02020603050405020304" pitchFamily="18" charset="0"/>
              </a:rPr>
              <a:t>0</a:t>
            </a:r>
          </a:p>
        </p:txBody>
      </p:sp>
      <p:sp>
        <p:nvSpPr>
          <p:cNvPr id="18" name="Rectangle 17"/>
          <p:cNvSpPr/>
          <p:nvPr/>
        </p:nvSpPr>
        <p:spPr>
          <a:xfrm>
            <a:off x="9342942" y="3170376"/>
            <a:ext cx="478302"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σ</a:t>
            </a:r>
            <a:r>
              <a:rPr lang="en-IN" sz="2000" baseline="-25000" dirty="0">
                <a:latin typeface="Times New Roman" panose="02020603050405020304" pitchFamily="18" charset="0"/>
                <a:cs typeface="Times New Roman" panose="02020603050405020304" pitchFamily="18" charset="0"/>
              </a:rPr>
              <a:t>0</a:t>
            </a:r>
          </a:p>
        </p:txBody>
      </p:sp>
      <p:cxnSp>
        <p:nvCxnSpPr>
          <p:cNvPr id="20" name="Straight Arrow Connector 19"/>
          <p:cNvCxnSpPr/>
          <p:nvPr/>
        </p:nvCxnSpPr>
        <p:spPr>
          <a:xfrm>
            <a:off x="7244862" y="3742718"/>
            <a:ext cx="224883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7258928" y="1552951"/>
            <a:ext cx="0" cy="22031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Rectangle 22"/>
          <p:cNvSpPr/>
          <p:nvPr/>
        </p:nvSpPr>
        <p:spPr>
          <a:xfrm>
            <a:off x="9413280" y="3681553"/>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x</a:t>
            </a:r>
            <a:endParaRPr lang="en-IN" sz="2000" baseline="-25000" dirty="0">
              <a:latin typeface="Times New Roman" panose="02020603050405020304" pitchFamily="18" charset="0"/>
              <a:cs typeface="Times New Roman" panose="02020603050405020304" pitchFamily="18" charset="0"/>
            </a:endParaRPr>
          </a:p>
        </p:txBody>
      </p:sp>
      <p:sp>
        <p:nvSpPr>
          <p:cNvPr id="24" name="Rectangle 23"/>
          <p:cNvSpPr/>
          <p:nvPr/>
        </p:nvSpPr>
        <p:spPr>
          <a:xfrm>
            <a:off x="7024764" y="1245723"/>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y</a:t>
            </a:r>
            <a:endParaRPr lang="en-IN" sz="2000" baseline="-25000" dirty="0">
              <a:latin typeface="Times New Roman" panose="02020603050405020304" pitchFamily="18" charset="0"/>
              <a:cs typeface="Times New Roman" panose="02020603050405020304" pitchFamily="18" charset="0"/>
            </a:endParaRPr>
          </a:p>
        </p:txBody>
      </p:sp>
      <p:sp>
        <p:nvSpPr>
          <p:cNvPr id="25" name="Rectangle 24"/>
          <p:cNvSpPr/>
          <p:nvPr/>
        </p:nvSpPr>
        <p:spPr>
          <a:xfrm>
            <a:off x="13803" y="748027"/>
            <a:ext cx="6619612" cy="1015663"/>
          </a:xfrm>
          <a:prstGeom prst="rect">
            <a:avLst/>
          </a:prstGeom>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Poisson’s ratio (</a:t>
            </a:r>
            <a:r>
              <a:rPr lang="el-GR" sz="2000" b="1" i="1" dirty="0">
                <a:latin typeface="Times New Roman" panose="02020603050405020304" pitchFamily="18" charset="0"/>
                <a:cs typeface="Times New Roman" panose="02020603050405020304" pitchFamily="18" charset="0"/>
              </a:rPr>
              <a:t>ν</a:t>
            </a:r>
            <a:r>
              <a:rPr lang="en-IN" sz="2000" b="1"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Ratio of lateral strain to longitudinal strain, with a negative sign as in the equation below. The negative sign is to ensure that the value of </a:t>
            </a:r>
            <a:r>
              <a:rPr lang="el-GR" sz="2000" i="1" dirty="0">
                <a:latin typeface="Times New Roman" panose="02020603050405020304" pitchFamily="18" charset="0"/>
                <a:cs typeface="Times New Roman" panose="02020603050405020304" pitchFamily="18" charset="0"/>
              </a:rPr>
              <a:t>ν</a:t>
            </a:r>
            <a:r>
              <a:rPr lang="en-IN" sz="2000" dirty="0">
                <a:latin typeface="Times New Roman" panose="02020603050405020304" pitchFamily="18" charset="0"/>
                <a:cs typeface="Times New Roman" panose="02020603050405020304" pitchFamily="18" charset="0"/>
              </a:rPr>
              <a:t> remains positive.</a:t>
            </a: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Rectangle 27"/>
              <p:cNvSpPr/>
              <p:nvPr/>
            </p:nvSpPr>
            <p:spPr>
              <a:xfrm>
                <a:off x="14066" y="3967526"/>
                <a:ext cx="7244862" cy="1254189"/>
              </a:xfrm>
              <a:prstGeom prst="rect">
                <a:avLst/>
              </a:prstGeom>
            </p:spPr>
            <p:txBody>
              <a:bodyPr wrap="square">
                <a:spAutoFit/>
              </a:bodyPr>
              <a:lstStyle/>
              <a:p>
                <a:pPr algn="just"/>
                <a:r>
                  <a:rPr lang="en-IN" sz="2000" dirty="0">
                    <a:latin typeface="Times New Roman" panose="02020603050405020304" pitchFamily="18" charset="0"/>
                    <a:cs typeface="Times New Roman" panose="02020603050405020304" pitchFamily="18" charset="0"/>
                  </a:rPr>
                  <a:t>Note that here, </a:t>
                </a:r>
                <a:r>
                  <a:rPr lang="el-GR" sz="2000" i="1" dirty="0">
                    <a:latin typeface="Times New Roman" panose="02020603050405020304" pitchFamily="18" charset="0"/>
                    <a:cs typeface="Times New Roman" panose="02020603050405020304" pitchFamily="18" charset="0"/>
                  </a:rPr>
                  <a:t>σ</a:t>
                </a:r>
                <a:r>
                  <a:rPr lang="en-IN" sz="2000" i="1" baseline="-25000" dirty="0">
                    <a:latin typeface="Times New Roman" panose="02020603050405020304" pitchFamily="18" charset="0"/>
                    <a:cs typeface="Times New Roman" panose="02020603050405020304" pitchFamily="18" charset="0"/>
                  </a:rPr>
                  <a:t>x</a:t>
                </a:r>
                <a:r>
                  <a:rPr lang="en-IN" sz="2000" dirty="0">
                    <a:latin typeface="Times New Roman" panose="02020603050405020304" pitchFamily="18" charset="0"/>
                    <a:cs typeface="Times New Roman" panose="02020603050405020304" pitchFamily="18" charset="0"/>
                  </a:rPr>
                  <a:t> = +</a:t>
                </a:r>
                <a:r>
                  <a:rPr lang="el-GR" sz="2000" i="1" dirty="0">
                    <a:latin typeface="Times New Roman" panose="02020603050405020304" pitchFamily="18" charset="0"/>
                    <a:cs typeface="Times New Roman" panose="02020603050405020304" pitchFamily="18" charset="0"/>
                  </a:rPr>
                  <a:t>σ</a:t>
                </a:r>
                <a:r>
                  <a:rPr lang="en-IN" sz="2000" baseline="-25000" dirty="0">
                    <a:latin typeface="Times New Roman" panose="02020603050405020304" pitchFamily="18" charset="0"/>
                    <a:cs typeface="Times New Roman" panose="02020603050405020304" pitchFamily="18" charset="0"/>
                  </a:rPr>
                  <a:t>0</a:t>
                </a:r>
                <a:r>
                  <a:rPr lang="en-IN" sz="2000" dirty="0">
                    <a:latin typeface="Times New Roman" panose="02020603050405020304" pitchFamily="18" charset="0"/>
                    <a:cs typeface="Times New Roman" panose="02020603050405020304" pitchFamily="18" charset="0"/>
                  </a:rPr>
                  <a:t>, </a:t>
                </a:r>
                <a:r>
                  <a:rPr lang="el-GR" sz="2000" i="1" dirty="0">
                    <a:latin typeface="Times New Roman" panose="02020603050405020304" pitchFamily="18" charset="0"/>
                    <a:cs typeface="Times New Roman" panose="02020603050405020304" pitchFamily="18" charset="0"/>
                  </a:rPr>
                  <a:t>σ</a:t>
                </a:r>
                <a:r>
                  <a:rPr lang="en-IN" sz="2000" i="1" baseline="-25000" dirty="0">
                    <a:latin typeface="Times New Roman" panose="02020603050405020304" pitchFamily="18" charset="0"/>
                    <a:cs typeface="Times New Roman" panose="02020603050405020304" pitchFamily="18" charset="0"/>
                  </a:rPr>
                  <a:t>y</a:t>
                </a:r>
                <a:r>
                  <a:rPr lang="en-IN" sz="2000" dirty="0">
                    <a:latin typeface="Times New Roman" panose="02020603050405020304" pitchFamily="18" charset="0"/>
                    <a:cs typeface="Times New Roman" panose="02020603050405020304" pitchFamily="18" charset="0"/>
                  </a:rPr>
                  <a:t> = </a:t>
                </a:r>
                <a14:m>
                  <m:oMath xmlns:m="http://schemas.openxmlformats.org/officeDocument/2006/math">
                    <m:r>
                      <a:rPr lang="en-IN" sz="2000" i="1">
                        <a:latin typeface="Cambria Math" panose="02040503050406030204" pitchFamily="18" charset="0"/>
                        <a:cs typeface="Times New Roman" panose="02020603050405020304" pitchFamily="18" charset="0"/>
                      </a:rPr>
                      <m:t>−</m:t>
                    </m:r>
                  </m:oMath>
                </a14:m>
                <a:r>
                  <a:rPr lang="el-GR" sz="2000" i="1" dirty="0">
                    <a:latin typeface="Times New Roman" panose="02020603050405020304" pitchFamily="18" charset="0"/>
                    <a:cs typeface="Times New Roman" panose="02020603050405020304" pitchFamily="18" charset="0"/>
                  </a:rPr>
                  <a:t>σ</a:t>
                </a:r>
                <a:r>
                  <a:rPr lang="en-IN" sz="2000" baseline="-25000" dirty="0">
                    <a:latin typeface="Times New Roman" panose="02020603050405020304" pitchFamily="18" charset="0"/>
                    <a:cs typeface="Times New Roman" panose="02020603050405020304" pitchFamily="18" charset="0"/>
                  </a:rPr>
                  <a:t>0</a:t>
                </a:r>
                <a:r>
                  <a:rPr lang="en-IN" sz="2000" dirty="0">
                    <a:latin typeface="Times New Roman" panose="02020603050405020304" pitchFamily="18" charset="0"/>
                    <a:cs typeface="Times New Roman" panose="02020603050405020304" pitchFamily="18" charset="0"/>
                  </a:rPr>
                  <a:t>.</a:t>
                </a:r>
              </a:p>
              <a:p>
                <a:pPr algn="just"/>
                <a:r>
                  <a:rPr lang="en-IN" sz="2000" dirty="0">
                    <a:latin typeface="Times New Roman" panose="02020603050405020304" pitchFamily="18" charset="0"/>
                    <a:cs typeface="Times New Roman" panose="02020603050405020304" pitchFamily="18" charset="0"/>
                  </a:rPr>
                  <a:t>Strain along </a:t>
                </a:r>
                <a:r>
                  <a:rPr lang="en-IN" sz="2000" i="1" dirty="0">
                    <a:latin typeface="Times New Roman" panose="02020603050405020304" pitchFamily="18" charset="0"/>
                    <a:cs typeface="Times New Roman" panose="02020603050405020304" pitchFamily="18" charset="0"/>
                  </a:rPr>
                  <a:t>x</a:t>
                </a:r>
                <a:r>
                  <a:rPr lang="en-IN" sz="2000" dirty="0">
                    <a:latin typeface="Times New Roman" panose="02020603050405020304" pitchFamily="18" charset="0"/>
                    <a:cs typeface="Times New Roman" panose="02020603050405020304" pitchFamily="18" charset="0"/>
                  </a:rPr>
                  <a:t> – direction is </a:t>
                </a:r>
                <a14:m>
                  <m:oMath xmlns:m="http://schemas.openxmlformats.org/officeDocument/2006/math">
                    <m:sSub>
                      <m:sSubPr>
                        <m:ctrlPr>
                          <a:rPr lang="en-IN" sz="2000" i="1">
                            <a:latin typeface="Cambria Math" panose="02040503050406030204" pitchFamily="18" charset="0"/>
                            <a:cs typeface="Times New Roman" panose="02020603050405020304" pitchFamily="18" charset="0"/>
                          </a:rPr>
                        </m:ctrlPr>
                      </m:sSubPr>
                      <m:e>
                        <m:r>
                          <a:rPr lang="en-IN" sz="2000" i="1">
                            <a:latin typeface="Cambria Math" panose="02040503050406030204" pitchFamily="18" charset="0"/>
                            <a:ea typeface="Cambria Math" panose="02040503050406030204" pitchFamily="18" charset="0"/>
                            <a:cs typeface="Times New Roman" panose="02020603050405020304" pitchFamily="18" charset="0"/>
                          </a:rPr>
                          <m:t>∈</m:t>
                        </m:r>
                      </m:e>
                      <m:sub>
                        <m:r>
                          <a:rPr lang="en-IN" sz="2000" i="1">
                            <a:latin typeface="Cambria Math" panose="02040503050406030204" pitchFamily="18" charset="0"/>
                            <a:ea typeface="Cambria Math" panose="02040503050406030204" pitchFamily="18" charset="0"/>
                            <a:cs typeface="Times New Roman" panose="02020603050405020304" pitchFamily="18" charset="0"/>
                          </a:rPr>
                          <m:t>𝑥</m:t>
                        </m:r>
                      </m:sub>
                    </m:sSub>
                    <m:r>
                      <a:rPr lang="en-IN" sz="20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l-GR" sz="2000" i="1">
                            <a:latin typeface="Cambria Math" panose="02040503050406030204" pitchFamily="18" charset="0"/>
                            <a:cs typeface="Times New Roman" panose="02020603050405020304" pitchFamily="18" charset="0"/>
                          </a:rPr>
                        </m:ctrlPr>
                      </m:fPr>
                      <m:num>
                        <m:sSub>
                          <m:sSubPr>
                            <m:ctrlPr>
                              <a:rPr lang="el-GR" sz="2000" i="1">
                                <a:latin typeface="Cambria Math" panose="02040503050406030204" pitchFamily="18" charset="0"/>
                                <a:cs typeface="Times New Roman" panose="02020603050405020304" pitchFamily="18" charset="0"/>
                              </a:rPr>
                            </m:ctrlPr>
                          </m:sSubPr>
                          <m:e>
                            <m:r>
                              <a:rPr lang="el-GR" sz="2000" i="1">
                                <a:latin typeface="Cambria Math" panose="02040503050406030204" pitchFamily="18" charset="0"/>
                                <a:ea typeface="Cambria Math" panose="02040503050406030204" pitchFamily="18" charset="0"/>
                                <a:cs typeface="Times New Roman" panose="02020603050405020304" pitchFamily="18" charset="0"/>
                              </a:rPr>
                              <m:t>𝜎</m:t>
                            </m:r>
                          </m:e>
                          <m:sub>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𝑥</m:t>
                            </m:r>
                          </m:sub>
                        </m:sSub>
                      </m:num>
                      <m:den>
                        <m:r>
                          <a:rPr lang="en-IN" sz="2000" i="1">
                            <a:latin typeface="Cambria Math" panose="02040503050406030204" pitchFamily="18" charset="0"/>
                            <a:cs typeface="Times New Roman" panose="02020603050405020304" pitchFamily="18" charset="0"/>
                          </a:rPr>
                          <m:t>𝐸</m:t>
                        </m:r>
                      </m:den>
                    </m:f>
                    <m:r>
                      <a:rPr lang="en-IN" sz="2000" i="1">
                        <a:latin typeface="Cambria Math" panose="02040503050406030204" pitchFamily="18" charset="0"/>
                        <a:cs typeface="Times New Roman" panose="02020603050405020304" pitchFamily="18" charset="0"/>
                      </a:rPr>
                      <m:t>−</m:t>
                    </m:r>
                    <m:r>
                      <m:rPr>
                        <m:sty m:val="p"/>
                      </m:rPr>
                      <a:rPr lang="el-GR" sz="2000" i="1">
                        <a:latin typeface="Cambria Math" panose="02040503050406030204" pitchFamily="18" charset="0"/>
                        <a:cs typeface="Times New Roman" panose="02020603050405020304" pitchFamily="18" charset="0"/>
                      </a:rPr>
                      <m:t>ν</m:t>
                    </m:r>
                    <m:f>
                      <m:fPr>
                        <m:ctrlPr>
                          <a:rPr lang="el-GR" sz="2000" i="1" smtClean="0">
                            <a:latin typeface="Cambria Math" panose="02040503050406030204" pitchFamily="18" charset="0"/>
                            <a:cs typeface="Times New Roman" panose="02020603050405020304" pitchFamily="18" charset="0"/>
                          </a:rPr>
                        </m:ctrlPr>
                      </m:fPr>
                      <m:num>
                        <m:sSub>
                          <m:sSubPr>
                            <m:ctrlPr>
                              <a:rPr lang="el-GR" sz="2000" i="1" smtClean="0">
                                <a:latin typeface="Cambria Math" panose="02040503050406030204" pitchFamily="18" charset="0"/>
                                <a:cs typeface="Times New Roman" panose="02020603050405020304" pitchFamily="18" charset="0"/>
                              </a:rPr>
                            </m:ctrlPr>
                          </m:sSubPr>
                          <m:e>
                            <m:r>
                              <a:rPr lang="el-GR" sz="2000"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IN" sz="2000" b="0" i="1" smtClean="0">
                                <a:latin typeface="Cambria Math" panose="02040503050406030204" pitchFamily="18" charset="0"/>
                                <a:cs typeface="Times New Roman" panose="02020603050405020304" pitchFamily="18" charset="0"/>
                              </a:rPr>
                              <m:t>𝑦</m:t>
                            </m:r>
                          </m:sub>
                        </m:sSub>
                      </m:num>
                      <m:den>
                        <m:r>
                          <a:rPr lang="en-IN" sz="2000" b="0" i="1" smtClean="0">
                            <a:latin typeface="Cambria Math" panose="02040503050406030204" pitchFamily="18" charset="0"/>
                            <a:cs typeface="Times New Roman" panose="02020603050405020304" pitchFamily="18" charset="0"/>
                          </a:rPr>
                          <m:t>𝐸</m:t>
                        </m:r>
                      </m:den>
                    </m:f>
                    <m:r>
                      <a:rPr lang="en-IN" sz="2000" b="0" i="1" smtClean="0">
                        <a:latin typeface="Cambria Math" panose="02040503050406030204" pitchFamily="18" charset="0"/>
                        <a:cs typeface="Times New Roman" panose="02020603050405020304" pitchFamily="18" charset="0"/>
                      </a:rPr>
                      <m:t>=</m:t>
                    </m:r>
                    <m:d>
                      <m:dPr>
                        <m:ctrlPr>
                          <a:rPr lang="en-IN" sz="2000" b="0" i="1" smtClean="0">
                            <a:latin typeface="Cambria Math" panose="02040503050406030204" pitchFamily="18" charset="0"/>
                            <a:cs typeface="Times New Roman" panose="02020603050405020304" pitchFamily="18" charset="0"/>
                          </a:rPr>
                        </m:ctrlPr>
                      </m:dPr>
                      <m:e>
                        <m:r>
                          <a:rPr lang="en-IN" sz="2000" b="0" i="1" smtClean="0">
                            <a:latin typeface="Cambria Math" panose="02040503050406030204" pitchFamily="18" charset="0"/>
                            <a:cs typeface="Times New Roman" panose="02020603050405020304" pitchFamily="18" charset="0"/>
                          </a:rPr>
                          <m:t>1+</m:t>
                        </m:r>
                        <m:r>
                          <m:rPr>
                            <m:sty m:val="p"/>
                          </m:rPr>
                          <a:rPr lang="el-GR" sz="2000" i="1">
                            <a:latin typeface="Cambria Math" panose="02040503050406030204" pitchFamily="18" charset="0"/>
                            <a:cs typeface="Times New Roman" panose="02020603050405020304" pitchFamily="18" charset="0"/>
                          </a:rPr>
                          <m:t>ν</m:t>
                        </m:r>
                      </m:e>
                    </m:d>
                    <m:f>
                      <m:fPr>
                        <m:ctrlPr>
                          <a:rPr lang="el-GR" sz="2000" i="1">
                            <a:latin typeface="Cambria Math" panose="02040503050406030204" pitchFamily="18" charset="0"/>
                            <a:cs typeface="Times New Roman" panose="02020603050405020304" pitchFamily="18" charset="0"/>
                          </a:rPr>
                        </m:ctrlPr>
                      </m:fPr>
                      <m:num>
                        <m:sSub>
                          <m:sSubPr>
                            <m:ctrlPr>
                              <a:rPr lang="el-GR" sz="2000" i="1">
                                <a:latin typeface="Cambria Math" panose="02040503050406030204" pitchFamily="18" charset="0"/>
                                <a:cs typeface="Times New Roman" panose="02020603050405020304" pitchFamily="18" charset="0"/>
                              </a:rPr>
                            </m:ctrlPr>
                          </m:sSubPr>
                          <m:e>
                            <m:r>
                              <a:rPr lang="el-GR" sz="2000" i="1">
                                <a:latin typeface="Cambria Math" panose="02040503050406030204" pitchFamily="18" charset="0"/>
                                <a:ea typeface="Cambria Math" panose="02040503050406030204" pitchFamily="18" charset="0"/>
                                <a:cs typeface="Times New Roman" panose="02020603050405020304" pitchFamily="18" charset="0"/>
                              </a:rPr>
                              <m:t>𝜎</m:t>
                            </m:r>
                          </m:e>
                          <m:sub>
                            <m:r>
                              <a:rPr lang="en-IN" sz="2000" b="0" i="1" smtClean="0">
                                <a:latin typeface="Cambria Math" panose="02040503050406030204" pitchFamily="18" charset="0"/>
                                <a:ea typeface="Cambria Math" panose="02040503050406030204" pitchFamily="18" charset="0"/>
                                <a:cs typeface="Times New Roman" panose="02020603050405020304" pitchFamily="18" charset="0"/>
                              </a:rPr>
                              <m:t>0</m:t>
                            </m:r>
                          </m:sub>
                        </m:sSub>
                      </m:num>
                      <m:den>
                        <m:r>
                          <a:rPr lang="en-IN" sz="2000" i="1">
                            <a:latin typeface="Cambria Math" panose="02040503050406030204" pitchFamily="18" charset="0"/>
                            <a:cs typeface="Times New Roman" panose="02020603050405020304" pitchFamily="18" charset="0"/>
                          </a:rPr>
                          <m:t>𝐸</m:t>
                        </m:r>
                      </m:den>
                    </m:f>
                  </m:oMath>
                </a14:m>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Strain along </a:t>
                </a:r>
                <a:r>
                  <a:rPr lang="en-IN" sz="2000" i="1" dirty="0">
                    <a:latin typeface="Times New Roman" panose="02020603050405020304" pitchFamily="18" charset="0"/>
                    <a:cs typeface="Times New Roman" panose="02020603050405020304" pitchFamily="18" charset="0"/>
                  </a:rPr>
                  <a:t>y</a:t>
                </a:r>
                <a:r>
                  <a:rPr lang="en-IN" sz="2000" dirty="0">
                    <a:latin typeface="Times New Roman" panose="02020603050405020304" pitchFamily="18" charset="0"/>
                    <a:cs typeface="Times New Roman" panose="02020603050405020304" pitchFamily="18" charset="0"/>
                  </a:rPr>
                  <a:t> – direction is </a:t>
                </a:r>
                <a14:m>
                  <m:oMath xmlns:m="http://schemas.openxmlformats.org/officeDocument/2006/math">
                    <m:sSub>
                      <m:sSubPr>
                        <m:ctrlPr>
                          <a:rPr lang="en-IN" sz="2000" i="1">
                            <a:latin typeface="Cambria Math" panose="02040503050406030204" pitchFamily="18" charset="0"/>
                            <a:cs typeface="Times New Roman" panose="02020603050405020304" pitchFamily="18" charset="0"/>
                          </a:rPr>
                        </m:ctrlPr>
                      </m:sSubPr>
                      <m:e>
                        <m:r>
                          <a:rPr lang="en-IN" sz="2000" i="1">
                            <a:latin typeface="Cambria Math" panose="02040503050406030204" pitchFamily="18" charset="0"/>
                            <a:ea typeface="Cambria Math" panose="02040503050406030204" pitchFamily="18" charset="0"/>
                            <a:cs typeface="Times New Roman" panose="02020603050405020304" pitchFamily="18" charset="0"/>
                          </a:rPr>
                          <m:t>∈</m:t>
                        </m:r>
                      </m:e>
                      <m:sub>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𝑦</m:t>
                        </m:r>
                      </m:sub>
                    </m:sSub>
                    <m:r>
                      <a:rPr lang="en-IN" sz="2000" i="1">
                        <a:latin typeface="Cambria Math" panose="02040503050406030204" pitchFamily="18" charset="0"/>
                        <a:ea typeface="Cambria Math" panose="02040503050406030204" pitchFamily="18" charset="0"/>
                        <a:cs typeface="Times New Roman" panose="02020603050405020304" pitchFamily="18" charset="0"/>
                      </a:rPr>
                      <m:t>=</m:t>
                    </m:r>
                    <m:f>
                      <m:fPr>
                        <m:ctrlPr>
                          <a:rPr lang="el-GR" sz="2000" i="1">
                            <a:latin typeface="Cambria Math" panose="02040503050406030204" pitchFamily="18" charset="0"/>
                            <a:cs typeface="Times New Roman" panose="02020603050405020304" pitchFamily="18" charset="0"/>
                          </a:rPr>
                        </m:ctrlPr>
                      </m:fPr>
                      <m:num>
                        <m:sSub>
                          <m:sSubPr>
                            <m:ctrlPr>
                              <a:rPr lang="el-GR" sz="2000" i="1">
                                <a:latin typeface="Cambria Math" panose="02040503050406030204" pitchFamily="18" charset="0"/>
                                <a:cs typeface="Times New Roman" panose="02020603050405020304" pitchFamily="18" charset="0"/>
                              </a:rPr>
                            </m:ctrlPr>
                          </m:sSubPr>
                          <m:e>
                            <m:r>
                              <a:rPr lang="el-GR" sz="2000" i="1">
                                <a:latin typeface="Cambria Math" panose="02040503050406030204" pitchFamily="18" charset="0"/>
                                <a:ea typeface="Cambria Math" panose="02040503050406030204" pitchFamily="18" charset="0"/>
                                <a:cs typeface="Times New Roman" panose="02020603050405020304" pitchFamily="18" charset="0"/>
                              </a:rPr>
                              <m:t>𝜎</m:t>
                            </m:r>
                          </m:e>
                          <m:sub>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𝑦</m:t>
                            </m:r>
                          </m:sub>
                        </m:sSub>
                      </m:num>
                      <m:den>
                        <m:r>
                          <a:rPr lang="en-IN" sz="2000" i="1">
                            <a:latin typeface="Cambria Math" panose="02040503050406030204" pitchFamily="18" charset="0"/>
                            <a:cs typeface="Times New Roman" panose="02020603050405020304" pitchFamily="18" charset="0"/>
                          </a:rPr>
                          <m:t>𝐸</m:t>
                        </m:r>
                      </m:den>
                    </m:f>
                    <m:r>
                      <a:rPr lang="en-IN" sz="2000" i="1">
                        <a:latin typeface="Cambria Math" panose="02040503050406030204" pitchFamily="18" charset="0"/>
                        <a:cs typeface="Times New Roman" panose="02020603050405020304" pitchFamily="18" charset="0"/>
                      </a:rPr>
                      <m:t>−</m:t>
                    </m:r>
                    <m:r>
                      <m:rPr>
                        <m:sty m:val="p"/>
                      </m:rPr>
                      <a:rPr lang="el-GR" sz="2000" i="1">
                        <a:latin typeface="Cambria Math" panose="02040503050406030204" pitchFamily="18" charset="0"/>
                        <a:cs typeface="Times New Roman" panose="02020603050405020304" pitchFamily="18" charset="0"/>
                      </a:rPr>
                      <m:t>ν</m:t>
                    </m:r>
                    <m:f>
                      <m:fPr>
                        <m:ctrlPr>
                          <a:rPr lang="el-GR" sz="2000" i="1">
                            <a:latin typeface="Cambria Math" panose="02040503050406030204" pitchFamily="18" charset="0"/>
                            <a:cs typeface="Times New Roman" panose="02020603050405020304" pitchFamily="18" charset="0"/>
                          </a:rPr>
                        </m:ctrlPr>
                      </m:fPr>
                      <m:num>
                        <m:sSub>
                          <m:sSubPr>
                            <m:ctrlPr>
                              <a:rPr lang="el-GR" sz="2000" i="1">
                                <a:latin typeface="Cambria Math" panose="02040503050406030204" pitchFamily="18" charset="0"/>
                                <a:cs typeface="Times New Roman" panose="02020603050405020304" pitchFamily="18" charset="0"/>
                              </a:rPr>
                            </m:ctrlPr>
                          </m:sSubPr>
                          <m:e>
                            <m:r>
                              <a:rPr lang="el-GR" sz="2000" i="1">
                                <a:latin typeface="Cambria Math" panose="02040503050406030204" pitchFamily="18" charset="0"/>
                                <a:ea typeface="Cambria Math" panose="02040503050406030204" pitchFamily="18" charset="0"/>
                                <a:cs typeface="Times New Roman" panose="02020603050405020304" pitchFamily="18" charset="0"/>
                              </a:rPr>
                              <m:t>𝜎</m:t>
                            </m:r>
                          </m:e>
                          <m:sub>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𝑥</m:t>
                            </m:r>
                          </m:sub>
                        </m:sSub>
                      </m:num>
                      <m:den>
                        <m:r>
                          <a:rPr lang="en-IN" sz="2000" i="1">
                            <a:latin typeface="Cambria Math" panose="02040503050406030204" pitchFamily="18" charset="0"/>
                            <a:cs typeface="Times New Roman" panose="02020603050405020304" pitchFamily="18" charset="0"/>
                          </a:rPr>
                          <m:t>𝐸</m:t>
                        </m:r>
                      </m:den>
                    </m:f>
                    <m:r>
                      <a:rPr lang="en-IN" sz="2000" i="1">
                        <a:latin typeface="Cambria Math" panose="02040503050406030204" pitchFamily="18" charset="0"/>
                        <a:cs typeface="Times New Roman" panose="02020603050405020304" pitchFamily="18" charset="0"/>
                      </a:rPr>
                      <m:t>=</m:t>
                    </m:r>
                    <m:r>
                      <a:rPr lang="en-IN" sz="2000" b="0" i="1" smtClean="0">
                        <a:latin typeface="Cambria Math" panose="02040503050406030204" pitchFamily="18" charset="0"/>
                        <a:cs typeface="Times New Roman" panose="02020603050405020304" pitchFamily="18" charset="0"/>
                      </a:rPr>
                      <m:t>−</m:t>
                    </m:r>
                    <m:d>
                      <m:dPr>
                        <m:ctrlPr>
                          <a:rPr lang="en-IN" sz="2000" i="1">
                            <a:latin typeface="Cambria Math" panose="02040503050406030204" pitchFamily="18" charset="0"/>
                            <a:cs typeface="Times New Roman" panose="02020603050405020304" pitchFamily="18" charset="0"/>
                          </a:rPr>
                        </m:ctrlPr>
                      </m:dPr>
                      <m:e>
                        <m:r>
                          <a:rPr lang="en-IN" sz="2000" i="1">
                            <a:latin typeface="Cambria Math" panose="02040503050406030204" pitchFamily="18" charset="0"/>
                            <a:cs typeface="Times New Roman" panose="02020603050405020304" pitchFamily="18" charset="0"/>
                          </a:rPr>
                          <m:t>1+</m:t>
                        </m:r>
                        <m:r>
                          <m:rPr>
                            <m:sty m:val="p"/>
                          </m:rPr>
                          <a:rPr lang="el-GR" sz="2000" i="1">
                            <a:latin typeface="Cambria Math" panose="02040503050406030204" pitchFamily="18" charset="0"/>
                            <a:cs typeface="Times New Roman" panose="02020603050405020304" pitchFamily="18" charset="0"/>
                          </a:rPr>
                          <m:t>ν</m:t>
                        </m:r>
                      </m:e>
                    </m:d>
                    <m:f>
                      <m:fPr>
                        <m:ctrlPr>
                          <a:rPr lang="el-GR" sz="2000" i="1">
                            <a:latin typeface="Cambria Math" panose="02040503050406030204" pitchFamily="18" charset="0"/>
                            <a:cs typeface="Times New Roman" panose="02020603050405020304" pitchFamily="18" charset="0"/>
                          </a:rPr>
                        </m:ctrlPr>
                      </m:fPr>
                      <m:num>
                        <m:sSub>
                          <m:sSubPr>
                            <m:ctrlPr>
                              <a:rPr lang="el-GR" sz="2000" i="1">
                                <a:latin typeface="Cambria Math" panose="02040503050406030204" pitchFamily="18" charset="0"/>
                                <a:cs typeface="Times New Roman" panose="02020603050405020304" pitchFamily="18" charset="0"/>
                              </a:rPr>
                            </m:ctrlPr>
                          </m:sSubPr>
                          <m:e>
                            <m:r>
                              <a:rPr lang="el-GR" sz="2000" i="1">
                                <a:latin typeface="Cambria Math" panose="02040503050406030204" pitchFamily="18" charset="0"/>
                                <a:ea typeface="Cambria Math" panose="02040503050406030204" pitchFamily="18" charset="0"/>
                                <a:cs typeface="Times New Roman" panose="02020603050405020304" pitchFamily="18" charset="0"/>
                              </a:rPr>
                              <m:t>𝜎</m:t>
                            </m:r>
                          </m:e>
                          <m:sub>
                            <m:r>
                              <a:rPr lang="en-IN" sz="2000" i="1">
                                <a:latin typeface="Cambria Math" panose="02040503050406030204" pitchFamily="18" charset="0"/>
                                <a:ea typeface="Cambria Math" panose="02040503050406030204" pitchFamily="18" charset="0"/>
                                <a:cs typeface="Times New Roman" panose="02020603050405020304" pitchFamily="18" charset="0"/>
                              </a:rPr>
                              <m:t>0</m:t>
                            </m:r>
                          </m:sub>
                        </m:sSub>
                      </m:num>
                      <m:den>
                        <m:r>
                          <a:rPr lang="en-IN" sz="2000" i="1">
                            <a:latin typeface="Cambria Math" panose="02040503050406030204" pitchFamily="18" charset="0"/>
                            <a:cs typeface="Times New Roman" panose="02020603050405020304" pitchFamily="18" charset="0"/>
                          </a:rPr>
                          <m:t>𝐸</m:t>
                        </m:r>
                      </m:den>
                    </m:f>
                  </m:oMath>
                </a14:m>
                <a:endParaRPr lang="en-IN" sz="2000" dirty="0">
                  <a:latin typeface="Times New Roman" panose="02020603050405020304" pitchFamily="18" charset="0"/>
                  <a:cs typeface="Times New Roman" panose="02020603050405020304" pitchFamily="18" charset="0"/>
                </a:endParaRPr>
              </a:p>
            </p:txBody>
          </p:sp>
        </mc:Choice>
        <mc:Fallback xmlns="">
          <p:sp>
            <p:nvSpPr>
              <p:cNvPr id="28" name="Rectangle 27"/>
              <p:cNvSpPr>
                <a:spLocks noRot="1" noChangeAspect="1" noMove="1" noResize="1" noEditPoints="1" noAdjustHandles="1" noChangeArrowheads="1" noChangeShapeType="1" noTextEdit="1"/>
              </p:cNvSpPr>
              <p:nvPr/>
            </p:nvSpPr>
            <p:spPr>
              <a:xfrm>
                <a:off x="14066" y="3967526"/>
                <a:ext cx="7244862" cy="1254189"/>
              </a:xfrm>
              <a:prstGeom prst="rect">
                <a:avLst/>
              </a:prstGeom>
              <a:blipFill rotWithShape="0">
                <a:blip r:embed="rId2"/>
                <a:stretch>
                  <a:fillRect l="-841" t="-2913" b="-2427"/>
                </a:stretch>
              </a:blipFill>
            </p:spPr>
            <p:txBody>
              <a:bodyPr/>
              <a:lstStyle/>
              <a:p>
                <a:r>
                  <a:rPr lang="en-IN">
                    <a:noFill/>
                  </a:rPr>
                  <a:t> </a:t>
                </a:r>
              </a:p>
            </p:txBody>
          </p:sp>
        </mc:Fallback>
      </mc:AlternateContent>
      <p:pic>
        <p:nvPicPr>
          <p:cNvPr id="29" name="Picture 28"/>
          <p:cNvPicPr>
            <a:picLocks noChangeAspect="1"/>
          </p:cNvPicPr>
          <p:nvPr/>
        </p:nvPicPr>
        <p:blipFill>
          <a:blip r:embed="rId3"/>
          <a:stretch>
            <a:fillRect/>
          </a:stretch>
        </p:blipFill>
        <p:spPr>
          <a:xfrm>
            <a:off x="1110113" y="2284936"/>
            <a:ext cx="2222116" cy="739152"/>
          </a:xfrm>
          <a:prstGeom prst="rect">
            <a:avLst/>
          </a:prstGeom>
        </p:spPr>
      </p:pic>
      <p:sp>
        <p:nvSpPr>
          <p:cNvPr id="30" name="Rectangle 29"/>
          <p:cNvSpPr/>
          <p:nvPr/>
        </p:nvSpPr>
        <p:spPr>
          <a:xfrm>
            <a:off x="8393870" y="2809437"/>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A</a:t>
            </a:r>
            <a:endParaRPr lang="en-IN" sz="2000" baseline="-25000" dirty="0">
              <a:latin typeface="Times New Roman" panose="02020603050405020304" pitchFamily="18" charset="0"/>
              <a:cs typeface="Times New Roman" panose="02020603050405020304" pitchFamily="18" charset="0"/>
            </a:endParaRPr>
          </a:p>
        </p:txBody>
      </p:sp>
      <p:sp>
        <p:nvSpPr>
          <p:cNvPr id="31" name="Rectangle 30"/>
          <p:cNvSpPr/>
          <p:nvPr/>
        </p:nvSpPr>
        <p:spPr>
          <a:xfrm>
            <a:off x="9972994" y="2768895"/>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B</a:t>
            </a:r>
            <a:endParaRPr lang="en-IN" sz="2000" baseline="-25000" dirty="0">
              <a:latin typeface="Times New Roman" panose="02020603050405020304" pitchFamily="18" charset="0"/>
              <a:cs typeface="Times New Roman" panose="02020603050405020304" pitchFamily="18" charset="0"/>
            </a:endParaRPr>
          </a:p>
        </p:txBody>
      </p:sp>
      <p:sp>
        <p:nvSpPr>
          <p:cNvPr id="32" name="Rectangle 31"/>
          <p:cNvSpPr/>
          <p:nvPr/>
        </p:nvSpPr>
        <p:spPr>
          <a:xfrm>
            <a:off x="10109133" y="1033821"/>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C</a:t>
            </a:r>
            <a:endParaRPr lang="en-IN" sz="2000" baseline="-25000" dirty="0">
              <a:latin typeface="Times New Roman" panose="02020603050405020304" pitchFamily="18" charset="0"/>
              <a:cs typeface="Times New Roman" panose="02020603050405020304" pitchFamily="18" charset="0"/>
            </a:endParaRPr>
          </a:p>
        </p:txBody>
      </p:sp>
      <p:sp>
        <p:nvSpPr>
          <p:cNvPr id="33" name="Rectangle 32"/>
          <p:cNvSpPr/>
          <p:nvPr/>
        </p:nvSpPr>
        <p:spPr>
          <a:xfrm>
            <a:off x="8309465" y="1002892"/>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D</a:t>
            </a:r>
            <a:endParaRPr lang="en-IN" sz="20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997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Bi – axial State and relation between Elastic Constants In Isotropic Materials</a:t>
            </a:r>
          </a:p>
        </p:txBody>
      </p:sp>
      <p:sp>
        <p:nvSpPr>
          <p:cNvPr id="4" name="Rectangle 3"/>
          <p:cNvSpPr>
            <a:spLocks noChangeAspect="1"/>
          </p:cNvSpPr>
          <p:nvPr/>
        </p:nvSpPr>
        <p:spPr>
          <a:xfrm>
            <a:off x="9232397" y="1240846"/>
            <a:ext cx="1571592" cy="1572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p:cNvCxnSpPr>
            <a:stCxn id="4" idx="3"/>
          </p:cNvCxnSpPr>
          <p:nvPr/>
        </p:nvCxnSpPr>
        <p:spPr>
          <a:xfrm>
            <a:off x="10803989" y="2027039"/>
            <a:ext cx="787791" cy="0"/>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8444606" y="2055175"/>
            <a:ext cx="787791" cy="0"/>
          </a:xfrm>
          <a:prstGeom prst="straightConnector1">
            <a:avLst/>
          </a:prstGeom>
          <a:ln>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10" name="Straight Arrow Connector 9"/>
          <p:cNvCxnSpPr/>
          <p:nvPr/>
        </p:nvCxnSpPr>
        <p:spPr>
          <a:xfrm flipH="1">
            <a:off x="9975990" y="637939"/>
            <a:ext cx="0" cy="602907"/>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flipH="1">
            <a:off x="10018193" y="2813232"/>
            <a:ext cx="0" cy="602907"/>
          </a:xfrm>
          <a:prstGeom prst="straightConnector1">
            <a:avLst/>
          </a:prstGeom>
          <a:ln>
            <a:headEnd type="arrow" w="med" len="med"/>
            <a:tailEnd type="none" w="med" len="med"/>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11591780" y="1826984"/>
            <a:ext cx="478302"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σ</a:t>
            </a:r>
            <a:r>
              <a:rPr lang="en-IN" sz="2000" baseline="-25000" dirty="0">
                <a:latin typeface="Times New Roman" panose="02020603050405020304" pitchFamily="18" charset="0"/>
                <a:cs typeface="Times New Roman" panose="02020603050405020304" pitchFamily="18" charset="0"/>
              </a:rPr>
              <a:t>0</a:t>
            </a:r>
          </a:p>
        </p:txBody>
      </p:sp>
      <p:sp>
        <p:nvSpPr>
          <p:cNvPr id="16" name="Rectangle 15"/>
          <p:cNvSpPr/>
          <p:nvPr/>
        </p:nvSpPr>
        <p:spPr>
          <a:xfrm>
            <a:off x="8064778" y="1826984"/>
            <a:ext cx="478302"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σ</a:t>
            </a:r>
            <a:r>
              <a:rPr lang="en-IN" sz="2000" baseline="-25000" dirty="0">
                <a:latin typeface="Times New Roman" panose="02020603050405020304" pitchFamily="18" charset="0"/>
                <a:cs typeface="Times New Roman" panose="02020603050405020304" pitchFamily="18" charset="0"/>
              </a:rPr>
              <a:t>0</a:t>
            </a:r>
          </a:p>
        </p:txBody>
      </p:sp>
      <p:sp>
        <p:nvSpPr>
          <p:cNvPr id="17" name="Rectangle 16"/>
          <p:cNvSpPr/>
          <p:nvPr/>
        </p:nvSpPr>
        <p:spPr>
          <a:xfrm>
            <a:off x="9975990" y="485233"/>
            <a:ext cx="478302"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σ</a:t>
            </a:r>
            <a:r>
              <a:rPr lang="en-IN" sz="2000" baseline="-25000" dirty="0">
                <a:latin typeface="Times New Roman" panose="02020603050405020304" pitchFamily="18" charset="0"/>
                <a:cs typeface="Times New Roman" panose="02020603050405020304" pitchFamily="18" charset="0"/>
              </a:rPr>
              <a:t>0</a:t>
            </a:r>
          </a:p>
        </p:txBody>
      </p:sp>
      <p:sp>
        <p:nvSpPr>
          <p:cNvPr id="18" name="Rectangle 17"/>
          <p:cNvSpPr/>
          <p:nvPr/>
        </p:nvSpPr>
        <p:spPr>
          <a:xfrm>
            <a:off x="10018193" y="3114685"/>
            <a:ext cx="478302"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σ</a:t>
            </a:r>
            <a:r>
              <a:rPr lang="en-IN" sz="2000" baseline="-25000" dirty="0">
                <a:latin typeface="Times New Roman" panose="02020603050405020304" pitchFamily="18" charset="0"/>
                <a:cs typeface="Times New Roman" panose="02020603050405020304" pitchFamily="18" charset="0"/>
              </a:rPr>
              <a:t>0</a:t>
            </a:r>
          </a:p>
        </p:txBody>
      </p:sp>
      <p:cxnSp>
        <p:nvCxnSpPr>
          <p:cNvPr id="20" name="Straight Arrow Connector 19"/>
          <p:cNvCxnSpPr/>
          <p:nvPr/>
        </p:nvCxnSpPr>
        <p:spPr>
          <a:xfrm>
            <a:off x="7920113" y="3687027"/>
            <a:ext cx="224883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7934179" y="1497260"/>
            <a:ext cx="0" cy="22031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Rectangle 22"/>
          <p:cNvSpPr/>
          <p:nvPr/>
        </p:nvSpPr>
        <p:spPr>
          <a:xfrm>
            <a:off x="10088531" y="3625862"/>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x</a:t>
            </a:r>
            <a:endParaRPr lang="en-IN" sz="2000" baseline="-25000" dirty="0">
              <a:latin typeface="Times New Roman" panose="02020603050405020304" pitchFamily="18" charset="0"/>
              <a:cs typeface="Times New Roman" panose="02020603050405020304" pitchFamily="18" charset="0"/>
            </a:endParaRPr>
          </a:p>
        </p:txBody>
      </p:sp>
      <p:sp>
        <p:nvSpPr>
          <p:cNvPr id="24" name="Rectangle 23"/>
          <p:cNvSpPr/>
          <p:nvPr/>
        </p:nvSpPr>
        <p:spPr>
          <a:xfrm>
            <a:off x="7700015" y="1190032"/>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y</a:t>
            </a:r>
            <a:endParaRPr lang="en-IN" sz="2000" baseline="-25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Rectangle 27"/>
              <p:cNvSpPr/>
              <p:nvPr/>
            </p:nvSpPr>
            <p:spPr>
              <a:xfrm>
                <a:off x="-10216" y="543525"/>
                <a:ext cx="7244862" cy="1254189"/>
              </a:xfrm>
              <a:prstGeom prst="rect">
                <a:avLst/>
              </a:prstGeom>
            </p:spPr>
            <p:txBody>
              <a:bodyPr wrap="square">
                <a:spAutoFit/>
              </a:bodyPr>
              <a:lstStyle/>
              <a:p>
                <a:pPr algn="just"/>
                <a:r>
                  <a:rPr lang="en-IN" sz="2000" dirty="0">
                    <a:latin typeface="Times New Roman" panose="02020603050405020304" pitchFamily="18" charset="0"/>
                    <a:cs typeface="Times New Roman" panose="02020603050405020304" pitchFamily="18" charset="0"/>
                  </a:rPr>
                  <a:t>Note that here, </a:t>
                </a:r>
                <a:r>
                  <a:rPr lang="el-GR" sz="2000" i="1" dirty="0">
                    <a:latin typeface="Times New Roman" panose="02020603050405020304" pitchFamily="18" charset="0"/>
                    <a:cs typeface="Times New Roman" panose="02020603050405020304" pitchFamily="18" charset="0"/>
                  </a:rPr>
                  <a:t>σ</a:t>
                </a:r>
                <a:r>
                  <a:rPr lang="en-IN" sz="2000" i="1" baseline="-25000" dirty="0">
                    <a:latin typeface="Times New Roman" panose="02020603050405020304" pitchFamily="18" charset="0"/>
                    <a:cs typeface="Times New Roman" panose="02020603050405020304" pitchFamily="18" charset="0"/>
                  </a:rPr>
                  <a:t>x</a:t>
                </a:r>
                <a:r>
                  <a:rPr lang="en-IN" sz="2000" dirty="0">
                    <a:latin typeface="Times New Roman" panose="02020603050405020304" pitchFamily="18" charset="0"/>
                    <a:cs typeface="Times New Roman" panose="02020603050405020304" pitchFamily="18" charset="0"/>
                  </a:rPr>
                  <a:t> = +</a:t>
                </a:r>
                <a:r>
                  <a:rPr lang="el-GR" sz="2000" i="1" dirty="0">
                    <a:latin typeface="Times New Roman" panose="02020603050405020304" pitchFamily="18" charset="0"/>
                    <a:cs typeface="Times New Roman" panose="02020603050405020304" pitchFamily="18" charset="0"/>
                  </a:rPr>
                  <a:t>σ</a:t>
                </a:r>
                <a:r>
                  <a:rPr lang="en-IN" sz="2000" baseline="-25000" dirty="0">
                    <a:latin typeface="Times New Roman" panose="02020603050405020304" pitchFamily="18" charset="0"/>
                    <a:cs typeface="Times New Roman" panose="02020603050405020304" pitchFamily="18" charset="0"/>
                  </a:rPr>
                  <a:t>0</a:t>
                </a:r>
                <a:r>
                  <a:rPr lang="en-IN" sz="2000" dirty="0">
                    <a:latin typeface="Times New Roman" panose="02020603050405020304" pitchFamily="18" charset="0"/>
                    <a:cs typeface="Times New Roman" panose="02020603050405020304" pitchFamily="18" charset="0"/>
                  </a:rPr>
                  <a:t>, </a:t>
                </a:r>
                <a:r>
                  <a:rPr lang="el-GR" sz="2000" i="1" dirty="0">
                    <a:latin typeface="Times New Roman" panose="02020603050405020304" pitchFamily="18" charset="0"/>
                    <a:cs typeface="Times New Roman" panose="02020603050405020304" pitchFamily="18" charset="0"/>
                  </a:rPr>
                  <a:t>σ</a:t>
                </a:r>
                <a:r>
                  <a:rPr lang="en-IN" sz="2000" i="1" baseline="-25000" dirty="0">
                    <a:latin typeface="Times New Roman" panose="02020603050405020304" pitchFamily="18" charset="0"/>
                    <a:cs typeface="Times New Roman" panose="02020603050405020304" pitchFamily="18" charset="0"/>
                  </a:rPr>
                  <a:t>y</a:t>
                </a:r>
                <a:r>
                  <a:rPr lang="en-IN" sz="2000" dirty="0">
                    <a:latin typeface="Times New Roman" panose="02020603050405020304" pitchFamily="18" charset="0"/>
                    <a:cs typeface="Times New Roman" panose="02020603050405020304" pitchFamily="18" charset="0"/>
                  </a:rPr>
                  <a:t> = </a:t>
                </a:r>
                <a14:m>
                  <m:oMath xmlns:m="http://schemas.openxmlformats.org/officeDocument/2006/math">
                    <m:r>
                      <a:rPr lang="en-IN" sz="2000" i="1">
                        <a:latin typeface="Cambria Math" panose="02040503050406030204" pitchFamily="18" charset="0"/>
                        <a:cs typeface="Times New Roman" panose="02020603050405020304" pitchFamily="18" charset="0"/>
                      </a:rPr>
                      <m:t>−</m:t>
                    </m:r>
                  </m:oMath>
                </a14:m>
                <a:r>
                  <a:rPr lang="el-GR" sz="2000" i="1" dirty="0">
                    <a:latin typeface="Times New Roman" panose="02020603050405020304" pitchFamily="18" charset="0"/>
                    <a:cs typeface="Times New Roman" panose="02020603050405020304" pitchFamily="18" charset="0"/>
                  </a:rPr>
                  <a:t>σ</a:t>
                </a:r>
                <a:r>
                  <a:rPr lang="en-IN" sz="2000" baseline="-25000" dirty="0">
                    <a:latin typeface="Times New Roman" panose="02020603050405020304" pitchFamily="18" charset="0"/>
                    <a:cs typeface="Times New Roman" panose="02020603050405020304" pitchFamily="18" charset="0"/>
                  </a:rPr>
                  <a:t>0</a:t>
                </a:r>
                <a:r>
                  <a:rPr lang="en-IN" sz="2000" dirty="0">
                    <a:latin typeface="Times New Roman" panose="02020603050405020304" pitchFamily="18" charset="0"/>
                    <a:cs typeface="Times New Roman" panose="02020603050405020304" pitchFamily="18" charset="0"/>
                  </a:rPr>
                  <a:t>.</a:t>
                </a:r>
              </a:p>
              <a:p>
                <a:pPr algn="just"/>
                <a:r>
                  <a:rPr lang="en-IN" sz="2000" dirty="0">
                    <a:latin typeface="Times New Roman" panose="02020603050405020304" pitchFamily="18" charset="0"/>
                    <a:cs typeface="Times New Roman" panose="02020603050405020304" pitchFamily="18" charset="0"/>
                  </a:rPr>
                  <a:t>Strain along </a:t>
                </a:r>
                <a:r>
                  <a:rPr lang="en-IN" sz="2000" i="1" dirty="0">
                    <a:latin typeface="Times New Roman" panose="02020603050405020304" pitchFamily="18" charset="0"/>
                    <a:cs typeface="Times New Roman" panose="02020603050405020304" pitchFamily="18" charset="0"/>
                  </a:rPr>
                  <a:t>x</a:t>
                </a:r>
                <a:r>
                  <a:rPr lang="en-IN" sz="2000" dirty="0">
                    <a:latin typeface="Times New Roman" panose="02020603050405020304" pitchFamily="18" charset="0"/>
                    <a:cs typeface="Times New Roman" panose="02020603050405020304" pitchFamily="18" charset="0"/>
                  </a:rPr>
                  <a:t> – direction is </a:t>
                </a:r>
                <a14:m>
                  <m:oMath xmlns:m="http://schemas.openxmlformats.org/officeDocument/2006/math">
                    <m:sSub>
                      <m:sSubPr>
                        <m:ctrlPr>
                          <a:rPr lang="en-IN" sz="2000" i="1">
                            <a:latin typeface="Cambria Math" panose="02040503050406030204" pitchFamily="18" charset="0"/>
                            <a:cs typeface="Times New Roman" panose="02020603050405020304" pitchFamily="18" charset="0"/>
                          </a:rPr>
                        </m:ctrlPr>
                      </m:sSubPr>
                      <m:e>
                        <m:r>
                          <a:rPr lang="en-IN" sz="2000" i="1">
                            <a:latin typeface="Cambria Math" panose="02040503050406030204" pitchFamily="18" charset="0"/>
                            <a:ea typeface="Cambria Math" panose="02040503050406030204" pitchFamily="18" charset="0"/>
                            <a:cs typeface="Times New Roman" panose="02020603050405020304" pitchFamily="18" charset="0"/>
                          </a:rPr>
                          <m:t>∈</m:t>
                        </m:r>
                      </m:e>
                      <m:sub>
                        <m:r>
                          <a:rPr lang="en-IN" sz="2000" i="1">
                            <a:latin typeface="Cambria Math" panose="02040503050406030204" pitchFamily="18" charset="0"/>
                            <a:ea typeface="Cambria Math" panose="02040503050406030204" pitchFamily="18" charset="0"/>
                            <a:cs typeface="Times New Roman" panose="02020603050405020304" pitchFamily="18" charset="0"/>
                          </a:rPr>
                          <m:t>𝑥</m:t>
                        </m:r>
                      </m:sub>
                    </m:sSub>
                    <m:r>
                      <a:rPr lang="en-IN" sz="20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l-GR" sz="2000" i="1">
                            <a:latin typeface="Cambria Math" panose="02040503050406030204" pitchFamily="18" charset="0"/>
                            <a:cs typeface="Times New Roman" panose="02020603050405020304" pitchFamily="18" charset="0"/>
                          </a:rPr>
                        </m:ctrlPr>
                      </m:fPr>
                      <m:num>
                        <m:sSub>
                          <m:sSubPr>
                            <m:ctrlPr>
                              <a:rPr lang="el-GR" sz="2000" i="1">
                                <a:latin typeface="Cambria Math" panose="02040503050406030204" pitchFamily="18" charset="0"/>
                                <a:cs typeface="Times New Roman" panose="02020603050405020304" pitchFamily="18" charset="0"/>
                              </a:rPr>
                            </m:ctrlPr>
                          </m:sSubPr>
                          <m:e>
                            <m:r>
                              <a:rPr lang="el-GR" sz="2000" i="1">
                                <a:latin typeface="Cambria Math" panose="02040503050406030204" pitchFamily="18" charset="0"/>
                                <a:ea typeface="Cambria Math" panose="02040503050406030204" pitchFamily="18" charset="0"/>
                                <a:cs typeface="Times New Roman" panose="02020603050405020304" pitchFamily="18" charset="0"/>
                              </a:rPr>
                              <m:t>𝜎</m:t>
                            </m:r>
                          </m:e>
                          <m:sub>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𝑥</m:t>
                            </m:r>
                          </m:sub>
                        </m:sSub>
                      </m:num>
                      <m:den>
                        <m:r>
                          <a:rPr lang="en-IN" sz="2000" i="1">
                            <a:latin typeface="Cambria Math" panose="02040503050406030204" pitchFamily="18" charset="0"/>
                            <a:cs typeface="Times New Roman" panose="02020603050405020304" pitchFamily="18" charset="0"/>
                          </a:rPr>
                          <m:t>𝐸</m:t>
                        </m:r>
                      </m:den>
                    </m:f>
                    <m:r>
                      <a:rPr lang="en-IN" sz="2000" i="1">
                        <a:latin typeface="Cambria Math" panose="02040503050406030204" pitchFamily="18" charset="0"/>
                        <a:cs typeface="Times New Roman" panose="02020603050405020304" pitchFamily="18" charset="0"/>
                      </a:rPr>
                      <m:t>−</m:t>
                    </m:r>
                    <m:r>
                      <m:rPr>
                        <m:sty m:val="p"/>
                      </m:rPr>
                      <a:rPr lang="el-GR" sz="2000" i="1">
                        <a:latin typeface="Cambria Math" panose="02040503050406030204" pitchFamily="18" charset="0"/>
                        <a:cs typeface="Times New Roman" panose="02020603050405020304" pitchFamily="18" charset="0"/>
                      </a:rPr>
                      <m:t>ν</m:t>
                    </m:r>
                    <m:f>
                      <m:fPr>
                        <m:ctrlPr>
                          <a:rPr lang="el-GR" sz="2000" i="1" smtClean="0">
                            <a:latin typeface="Cambria Math" panose="02040503050406030204" pitchFamily="18" charset="0"/>
                            <a:cs typeface="Times New Roman" panose="02020603050405020304" pitchFamily="18" charset="0"/>
                          </a:rPr>
                        </m:ctrlPr>
                      </m:fPr>
                      <m:num>
                        <m:sSub>
                          <m:sSubPr>
                            <m:ctrlPr>
                              <a:rPr lang="el-GR" sz="2000" i="1" smtClean="0">
                                <a:latin typeface="Cambria Math" panose="02040503050406030204" pitchFamily="18" charset="0"/>
                                <a:cs typeface="Times New Roman" panose="02020603050405020304" pitchFamily="18" charset="0"/>
                              </a:rPr>
                            </m:ctrlPr>
                          </m:sSubPr>
                          <m:e>
                            <m:r>
                              <a:rPr lang="el-GR" sz="2000"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IN" sz="2000" b="0" i="1" smtClean="0">
                                <a:latin typeface="Cambria Math" panose="02040503050406030204" pitchFamily="18" charset="0"/>
                                <a:cs typeface="Times New Roman" panose="02020603050405020304" pitchFamily="18" charset="0"/>
                              </a:rPr>
                              <m:t>𝑦</m:t>
                            </m:r>
                          </m:sub>
                        </m:sSub>
                      </m:num>
                      <m:den>
                        <m:r>
                          <a:rPr lang="en-IN" sz="2000" b="0" i="1" smtClean="0">
                            <a:latin typeface="Cambria Math" panose="02040503050406030204" pitchFamily="18" charset="0"/>
                            <a:cs typeface="Times New Roman" panose="02020603050405020304" pitchFamily="18" charset="0"/>
                          </a:rPr>
                          <m:t>𝐸</m:t>
                        </m:r>
                      </m:den>
                    </m:f>
                    <m:r>
                      <a:rPr lang="en-IN" sz="2000" b="0" i="1" smtClean="0">
                        <a:latin typeface="Cambria Math" panose="02040503050406030204" pitchFamily="18" charset="0"/>
                        <a:cs typeface="Times New Roman" panose="02020603050405020304" pitchFamily="18" charset="0"/>
                      </a:rPr>
                      <m:t>=</m:t>
                    </m:r>
                    <m:d>
                      <m:dPr>
                        <m:ctrlPr>
                          <a:rPr lang="en-IN" sz="2000" b="0" i="1" smtClean="0">
                            <a:latin typeface="Cambria Math" panose="02040503050406030204" pitchFamily="18" charset="0"/>
                            <a:cs typeface="Times New Roman" panose="02020603050405020304" pitchFamily="18" charset="0"/>
                          </a:rPr>
                        </m:ctrlPr>
                      </m:dPr>
                      <m:e>
                        <m:r>
                          <a:rPr lang="en-IN" sz="2000" b="0" i="1" smtClean="0">
                            <a:latin typeface="Cambria Math" panose="02040503050406030204" pitchFamily="18" charset="0"/>
                            <a:cs typeface="Times New Roman" panose="02020603050405020304" pitchFamily="18" charset="0"/>
                          </a:rPr>
                          <m:t>1+</m:t>
                        </m:r>
                        <m:r>
                          <m:rPr>
                            <m:sty m:val="p"/>
                          </m:rPr>
                          <a:rPr lang="el-GR" sz="2000" i="1">
                            <a:latin typeface="Cambria Math" panose="02040503050406030204" pitchFamily="18" charset="0"/>
                            <a:cs typeface="Times New Roman" panose="02020603050405020304" pitchFamily="18" charset="0"/>
                          </a:rPr>
                          <m:t>ν</m:t>
                        </m:r>
                      </m:e>
                    </m:d>
                    <m:f>
                      <m:fPr>
                        <m:ctrlPr>
                          <a:rPr lang="el-GR" sz="2000" i="1">
                            <a:latin typeface="Cambria Math" panose="02040503050406030204" pitchFamily="18" charset="0"/>
                            <a:cs typeface="Times New Roman" panose="02020603050405020304" pitchFamily="18" charset="0"/>
                          </a:rPr>
                        </m:ctrlPr>
                      </m:fPr>
                      <m:num>
                        <m:sSub>
                          <m:sSubPr>
                            <m:ctrlPr>
                              <a:rPr lang="el-GR" sz="2000" i="1">
                                <a:latin typeface="Cambria Math" panose="02040503050406030204" pitchFamily="18" charset="0"/>
                                <a:cs typeface="Times New Roman" panose="02020603050405020304" pitchFamily="18" charset="0"/>
                              </a:rPr>
                            </m:ctrlPr>
                          </m:sSubPr>
                          <m:e>
                            <m:r>
                              <a:rPr lang="el-GR" sz="2000" i="1">
                                <a:latin typeface="Cambria Math" panose="02040503050406030204" pitchFamily="18" charset="0"/>
                                <a:ea typeface="Cambria Math" panose="02040503050406030204" pitchFamily="18" charset="0"/>
                                <a:cs typeface="Times New Roman" panose="02020603050405020304" pitchFamily="18" charset="0"/>
                              </a:rPr>
                              <m:t>𝜎</m:t>
                            </m:r>
                          </m:e>
                          <m:sub>
                            <m:r>
                              <a:rPr lang="en-IN" sz="2000" b="0" i="1" smtClean="0">
                                <a:latin typeface="Cambria Math" panose="02040503050406030204" pitchFamily="18" charset="0"/>
                                <a:ea typeface="Cambria Math" panose="02040503050406030204" pitchFamily="18" charset="0"/>
                                <a:cs typeface="Times New Roman" panose="02020603050405020304" pitchFamily="18" charset="0"/>
                              </a:rPr>
                              <m:t>0</m:t>
                            </m:r>
                          </m:sub>
                        </m:sSub>
                      </m:num>
                      <m:den>
                        <m:r>
                          <a:rPr lang="en-IN" sz="2000" i="1">
                            <a:latin typeface="Cambria Math" panose="02040503050406030204" pitchFamily="18" charset="0"/>
                            <a:cs typeface="Times New Roman" panose="02020603050405020304" pitchFamily="18" charset="0"/>
                          </a:rPr>
                          <m:t>𝐸</m:t>
                        </m:r>
                      </m:den>
                    </m:f>
                  </m:oMath>
                </a14:m>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Strain along </a:t>
                </a:r>
                <a:r>
                  <a:rPr lang="en-IN" sz="2000" i="1" dirty="0">
                    <a:latin typeface="Times New Roman" panose="02020603050405020304" pitchFamily="18" charset="0"/>
                    <a:cs typeface="Times New Roman" panose="02020603050405020304" pitchFamily="18" charset="0"/>
                  </a:rPr>
                  <a:t>y</a:t>
                </a:r>
                <a:r>
                  <a:rPr lang="en-IN" sz="2000" dirty="0">
                    <a:latin typeface="Times New Roman" panose="02020603050405020304" pitchFamily="18" charset="0"/>
                    <a:cs typeface="Times New Roman" panose="02020603050405020304" pitchFamily="18" charset="0"/>
                  </a:rPr>
                  <a:t> – direction is </a:t>
                </a:r>
                <a14:m>
                  <m:oMath xmlns:m="http://schemas.openxmlformats.org/officeDocument/2006/math">
                    <m:sSub>
                      <m:sSubPr>
                        <m:ctrlPr>
                          <a:rPr lang="en-IN" sz="2000" i="1">
                            <a:latin typeface="Cambria Math" panose="02040503050406030204" pitchFamily="18" charset="0"/>
                            <a:cs typeface="Times New Roman" panose="02020603050405020304" pitchFamily="18" charset="0"/>
                          </a:rPr>
                        </m:ctrlPr>
                      </m:sSubPr>
                      <m:e>
                        <m:r>
                          <a:rPr lang="en-IN" sz="2000" i="1">
                            <a:latin typeface="Cambria Math" panose="02040503050406030204" pitchFamily="18" charset="0"/>
                            <a:ea typeface="Cambria Math" panose="02040503050406030204" pitchFamily="18" charset="0"/>
                            <a:cs typeface="Times New Roman" panose="02020603050405020304" pitchFamily="18" charset="0"/>
                          </a:rPr>
                          <m:t>∈</m:t>
                        </m:r>
                      </m:e>
                      <m:sub>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𝑦</m:t>
                        </m:r>
                      </m:sub>
                    </m:sSub>
                    <m:r>
                      <a:rPr lang="en-IN" sz="2000" i="1">
                        <a:latin typeface="Cambria Math" panose="02040503050406030204" pitchFamily="18" charset="0"/>
                        <a:ea typeface="Cambria Math" panose="02040503050406030204" pitchFamily="18" charset="0"/>
                        <a:cs typeface="Times New Roman" panose="02020603050405020304" pitchFamily="18" charset="0"/>
                      </a:rPr>
                      <m:t>=</m:t>
                    </m:r>
                    <m:f>
                      <m:fPr>
                        <m:ctrlPr>
                          <a:rPr lang="el-GR" sz="2000" i="1">
                            <a:latin typeface="Cambria Math" panose="02040503050406030204" pitchFamily="18" charset="0"/>
                            <a:cs typeface="Times New Roman" panose="02020603050405020304" pitchFamily="18" charset="0"/>
                          </a:rPr>
                        </m:ctrlPr>
                      </m:fPr>
                      <m:num>
                        <m:sSub>
                          <m:sSubPr>
                            <m:ctrlPr>
                              <a:rPr lang="el-GR" sz="2000" i="1">
                                <a:latin typeface="Cambria Math" panose="02040503050406030204" pitchFamily="18" charset="0"/>
                                <a:cs typeface="Times New Roman" panose="02020603050405020304" pitchFamily="18" charset="0"/>
                              </a:rPr>
                            </m:ctrlPr>
                          </m:sSubPr>
                          <m:e>
                            <m:r>
                              <a:rPr lang="el-GR" sz="2000" i="1">
                                <a:latin typeface="Cambria Math" panose="02040503050406030204" pitchFamily="18" charset="0"/>
                                <a:ea typeface="Cambria Math" panose="02040503050406030204" pitchFamily="18" charset="0"/>
                                <a:cs typeface="Times New Roman" panose="02020603050405020304" pitchFamily="18" charset="0"/>
                              </a:rPr>
                              <m:t>𝜎</m:t>
                            </m:r>
                          </m:e>
                          <m:sub>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𝑦</m:t>
                            </m:r>
                          </m:sub>
                        </m:sSub>
                      </m:num>
                      <m:den>
                        <m:r>
                          <a:rPr lang="en-IN" sz="2000" i="1">
                            <a:latin typeface="Cambria Math" panose="02040503050406030204" pitchFamily="18" charset="0"/>
                            <a:cs typeface="Times New Roman" panose="02020603050405020304" pitchFamily="18" charset="0"/>
                          </a:rPr>
                          <m:t>𝐸</m:t>
                        </m:r>
                      </m:den>
                    </m:f>
                    <m:r>
                      <a:rPr lang="en-IN" sz="2000" i="1">
                        <a:latin typeface="Cambria Math" panose="02040503050406030204" pitchFamily="18" charset="0"/>
                        <a:cs typeface="Times New Roman" panose="02020603050405020304" pitchFamily="18" charset="0"/>
                      </a:rPr>
                      <m:t>−</m:t>
                    </m:r>
                    <m:r>
                      <m:rPr>
                        <m:sty m:val="p"/>
                      </m:rPr>
                      <a:rPr lang="el-GR" sz="2000" i="1">
                        <a:latin typeface="Cambria Math" panose="02040503050406030204" pitchFamily="18" charset="0"/>
                        <a:cs typeface="Times New Roman" panose="02020603050405020304" pitchFamily="18" charset="0"/>
                      </a:rPr>
                      <m:t>ν</m:t>
                    </m:r>
                    <m:f>
                      <m:fPr>
                        <m:ctrlPr>
                          <a:rPr lang="el-GR" sz="2000" i="1">
                            <a:latin typeface="Cambria Math" panose="02040503050406030204" pitchFamily="18" charset="0"/>
                            <a:cs typeface="Times New Roman" panose="02020603050405020304" pitchFamily="18" charset="0"/>
                          </a:rPr>
                        </m:ctrlPr>
                      </m:fPr>
                      <m:num>
                        <m:sSub>
                          <m:sSubPr>
                            <m:ctrlPr>
                              <a:rPr lang="el-GR" sz="2000" i="1">
                                <a:latin typeface="Cambria Math" panose="02040503050406030204" pitchFamily="18" charset="0"/>
                                <a:cs typeface="Times New Roman" panose="02020603050405020304" pitchFamily="18" charset="0"/>
                              </a:rPr>
                            </m:ctrlPr>
                          </m:sSubPr>
                          <m:e>
                            <m:r>
                              <a:rPr lang="el-GR" sz="2000" i="1">
                                <a:latin typeface="Cambria Math" panose="02040503050406030204" pitchFamily="18" charset="0"/>
                                <a:ea typeface="Cambria Math" panose="02040503050406030204" pitchFamily="18" charset="0"/>
                                <a:cs typeface="Times New Roman" panose="02020603050405020304" pitchFamily="18" charset="0"/>
                              </a:rPr>
                              <m:t>𝜎</m:t>
                            </m:r>
                          </m:e>
                          <m:sub>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𝑥</m:t>
                            </m:r>
                          </m:sub>
                        </m:sSub>
                      </m:num>
                      <m:den>
                        <m:r>
                          <a:rPr lang="en-IN" sz="2000" i="1">
                            <a:latin typeface="Cambria Math" panose="02040503050406030204" pitchFamily="18" charset="0"/>
                            <a:cs typeface="Times New Roman" panose="02020603050405020304" pitchFamily="18" charset="0"/>
                          </a:rPr>
                          <m:t>𝐸</m:t>
                        </m:r>
                      </m:den>
                    </m:f>
                    <m:r>
                      <a:rPr lang="en-IN" sz="2000" i="1">
                        <a:latin typeface="Cambria Math" panose="02040503050406030204" pitchFamily="18" charset="0"/>
                        <a:cs typeface="Times New Roman" panose="02020603050405020304" pitchFamily="18" charset="0"/>
                      </a:rPr>
                      <m:t>=</m:t>
                    </m:r>
                    <m:r>
                      <a:rPr lang="en-IN" sz="2000" b="0" i="1" smtClean="0">
                        <a:latin typeface="Cambria Math" panose="02040503050406030204" pitchFamily="18" charset="0"/>
                        <a:cs typeface="Times New Roman" panose="02020603050405020304" pitchFamily="18" charset="0"/>
                      </a:rPr>
                      <m:t>−</m:t>
                    </m:r>
                    <m:d>
                      <m:dPr>
                        <m:ctrlPr>
                          <a:rPr lang="en-IN" sz="2000" i="1">
                            <a:latin typeface="Cambria Math" panose="02040503050406030204" pitchFamily="18" charset="0"/>
                            <a:cs typeface="Times New Roman" panose="02020603050405020304" pitchFamily="18" charset="0"/>
                          </a:rPr>
                        </m:ctrlPr>
                      </m:dPr>
                      <m:e>
                        <m:r>
                          <a:rPr lang="en-IN" sz="2000" i="1">
                            <a:latin typeface="Cambria Math" panose="02040503050406030204" pitchFamily="18" charset="0"/>
                            <a:cs typeface="Times New Roman" panose="02020603050405020304" pitchFamily="18" charset="0"/>
                          </a:rPr>
                          <m:t>1+</m:t>
                        </m:r>
                        <m:r>
                          <m:rPr>
                            <m:sty m:val="p"/>
                          </m:rPr>
                          <a:rPr lang="el-GR" sz="2000" i="1">
                            <a:latin typeface="Cambria Math" panose="02040503050406030204" pitchFamily="18" charset="0"/>
                            <a:cs typeface="Times New Roman" panose="02020603050405020304" pitchFamily="18" charset="0"/>
                          </a:rPr>
                          <m:t>ν</m:t>
                        </m:r>
                      </m:e>
                    </m:d>
                    <m:f>
                      <m:fPr>
                        <m:ctrlPr>
                          <a:rPr lang="el-GR" sz="2000" i="1">
                            <a:latin typeface="Cambria Math" panose="02040503050406030204" pitchFamily="18" charset="0"/>
                            <a:cs typeface="Times New Roman" panose="02020603050405020304" pitchFamily="18" charset="0"/>
                          </a:rPr>
                        </m:ctrlPr>
                      </m:fPr>
                      <m:num>
                        <m:sSub>
                          <m:sSubPr>
                            <m:ctrlPr>
                              <a:rPr lang="el-GR" sz="2000" i="1">
                                <a:latin typeface="Cambria Math" panose="02040503050406030204" pitchFamily="18" charset="0"/>
                                <a:cs typeface="Times New Roman" panose="02020603050405020304" pitchFamily="18" charset="0"/>
                              </a:rPr>
                            </m:ctrlPr>
                          </m:sSubPr>
                          <m:e>
                            <m:r>
                              <a:rPr lang="el-GR" sz="2000" i="1">
                                <a:latin typeface="Cambria Math" panose="02040503050406030204" pitchFamily="18" charset="0"/>
                                <a:ea typeface="Cambria Math" panose="02040503050406030204" pitchFamily="18" charset="0"/>
                                <a:cs typeface="Times New Roman" panose="02020603050405020304" pitchFamily="18" charset="0"/>
                              </a:rPr>
                              <m:t>𝜎</m:t>
                            </m:r>
                          </m:e>
                          <m:sub>
                            <m:r>
                              <a:rPr lang="en-IN" sz="2000" i="1">
                                <a:latin typeface="Cambria Math" panose="02040503050406030204" pitchFamily="18" charset="0"/>
                                <a:ea typeface="Cambria Math" panose="02040503050406030204" pitchFamily="18" charset="0"/>
                                <a:cs typeface="Times New Roman" panose="02020603050405020304" pitchFamily="18" charset="0"/>
                              </a:rPr>
                              <m:t>0</m:t>
                            </m:r>
                          </m:sub>
                        </m:sSub>
                      </m:num>
                      <m:den>
                        <m:r>
                          <a:rPr lang="en-IN" sz="2000" i="1">
                            <a:latin typeface="Cambria Math" panose="02040503050406030204" pitchFamily="18" charset="0"/>
                            <a:cs typeface="Times New Roman" panose="02020603050405020304" pitchFamily="18" charset="0"/>
                          </a:rPr>
                          <m:t>𝐸</m:t>
                        </m:r>
                      </m:den>
                    </m:f>
                  </m:oMath>
                </a14:m>
                <a:endParaRPr lang="en-IN" sz="2000" dirty="0">
                  <a:latin typeface="Times New Roman" panose="02020603050405020304" pitchFamily="18" charset="0"/>
                  <a:cs typeface="Times New Roman" panose="02020603050405020304" pitchFamily="18" charset="0"/>
                </a:endParaRPr>
              </a:p>
            </p:txBody>
          </p:sp>
        </mc:Choice>
        <mc:Fallback xmlns="">
          <p:sp>
            <p:nvSpPr>
              <p:cNvPr id="28" name="Rectangle 27"/>
              <p:cNvSpPr>
                <a:spLocks noRot="1" noChangeAspect="1" noMove="1" noResize="1" noEditPoints="1" noAdjustHandles="1" noChangeArrowheads="1" noChangeShapeType="1" noTextEdit="1"/>
              </p:cNvSpPr>
              <p:nvPr/>
            </p:nvSpPr>
            <p:spPr>
              <a:xfrm>
                <a:off x="-10216" y="543525"/>
                <a:ext cx="7244862" cy="1254189"/>
              </a:xfrm>
              <a:prstGeom prst="rect">
                <a:avLst/>
              </a:prstGeom>
              <a:blipFill rotWithShape="0">
                <a:blip r:embed="rId3"/>
                <a:stretch>
                  <a:fillRect l="-841" t="-2427" b="-2427"/>
                </a:stretch>
              </a:blipFill>
            </p:spPr>
            <p:txBody>
              <a:bodyPr/>
              <a:lstStyle/>
              <a:p>
                <a:r>
                  <a:rPr lang="en-IN">
                    <a:noFill/>
                  </a:rPr>
                  <a:t> </a:t>
                </a:r>
              </a:p>
            </p:txBody>
          </p:sp>
        </mc:Fallback>
      </mc:AlternateContent>
      <p:sp>
        <p:nvSpPr>
          <p:cNvPr id="30" name="Rectangle 29"/>
          <p:cNvSpPr/>
          <p:nvPr/>
        </p:nvSpPr>
        <p:spPr>
          <a:xfrm>
            <a:off x="9069121" y="2753746"/>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A</a:t>
            </a:r>
            <a:endParaRPr lang="en-IN" sz="2000" baseline="-25000" dirty="0">
              <a:latin typeface="Times New Roman" panose="02020603050405020304" pitchFamily="18" charset="0"/>
              <a:cs typeface="Times New Roman" panose="02020603050405020304" pitchFamily="18" charset="0"/>
            </a:endParaRPr>
          </a:p>
        </p:txBody>
      </p:sp>
      <p:sp>
        <p:nvSpPr>
          <p:cNvPr id="31" name="Rectangle 30"/>
          <p:cNvSpPr/>
          <p:nvPr/>
        </p:nvSpPr>
        <p:spPr>
          <a:xfrm>
            <a:off x="10648245" y="2713204"/>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B</a:t>
            </a:r>
            <a:endParaRPr lang="en-IN" sz="2000" baseline="-25000" dirty="0">
              <a:latin typeface="Times New Roman" panose="02020603050405020304" pitchFamily="18" charset="0"/>
              <a:cs typeface="Times New Roman" panose="02020603050405020304" pitchFamily="18" charset="0"/>
            </a:endParaRPr>
          </a:p>
        </p:txBody>
      </p:sp>
      <p:sp>
        <p:nvSpPr>
          <p:cNvPr id="32" name="Rectangle 31"/>
          <p:cNvSpPr/>
          <p:nvPr/>
        </p:nvSpPr>
        <p:spPr>
          <a:xfrm>
            <a:off x="10784384" y="978130"/>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C</a:t>
            </a:r>
            <a:endParaRPr lang="en-IN" sz="2000" baseline="-25000" dirty="0">
              <a:latin typeface="Times New Roman" panose="02020603050405020304" pitchFamily="18" charset="0"/>
              <a:cs typeface="Times New Roman" panose="02020603050405020304" pitchFamily="18" charset="0"/>
            </a:endParaRPr>
          </a:p>
        </p:txBody>
      </p:sp>
      <p:sp>
        <p:nvSpPr>
          <p:cNvPr id="33" name="Rectangle 32"/>
          <p:cNvSpPr/>
          <p:nvPr/>
        </p:nvSpPr>
        <p:spPr>
          <a:xfrm>
            <a:off x="8984716" y="947201"/>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D</a:t>
            </a:r>
            <a:endParaRPr lang="en-IN" sz="2000" baseline="-25000" dirty="0">
              <a:latin typeface="Times New Roman" panose="02020603050405020304" pitchFamily="18" charset="0"/>
              <a:cs typeface="Times New Roman" panose="02020603050405020304" pitchFamily="18" charset="0"/>
            </a:endParaRPr>
          </a:p>
        </p:txBody>
      </p:sp>
      <p:sp>
        <p:nvSpPr>
          <p:cNvPr id="26" name="Rectangle 25"/>
          <p:cNvSpPr>
            <a:spLocks noChangeAspect="1"/>
          </p:cNvSpPr>
          <p:nvPr/>
        </p:nvSpPr>
        <p:spPr>
          <a:xfrm rot="18784400">
            <a:off x="9480571" y="1499185"/>
            <a:ext cx="1071843" cy="10723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p:cNvSpPr>
            <a:spLocks noChangeAspect="1"/>
          </p:cNvSpPr>
          <p:nvPr/>
        </p:nvSpPr>
        <p:spPr>
          <a:xfrm>
            <a:off x="9091717" y="4767220"/>
            <a:ext cx="1071843" cy="10723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Arrow Connector 33"/>
          <p:cNvCxnSpPr/>
          <p:nvPr/>
        </p:nvCxnSpPr>
        <p:spPr>
          <a:xfrm>
            <a:off x="8176321" y="6457890"/>
            <a:ext cx="224883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8190387" y="4275466"/>
            <a:ext cx="0" cy="22031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Rectangle 35"/>
          <p:cNvSpPr/>
          <p:nvPr/>
        </p:nvSpPr>
        <p:spPr>
          <a:xfrm>
            <a:off x="10306081" y="6457890"/>
            <a:ext cx="754670" cy="400110"/>
          </a:xfrm>
          <a:prstGeom prst="rect">
            <a:avLst/>
          </a:prstGeom>
        </p:spPr>
        <p:txBody>
          <a:bodyPr wrap="square">
            <a:spAutoFit/>
          </a:bodyPr>
          <a:lstStyle/>
          <a:p>
            <a:r>
              <a:rPr lang="en-IN" sz="2000" b="1" i="1" dirty="0">
                <a:solidFill>
                  <a:srgbClr val="FF0000"/>
                </a:solidFill>
                <a:latin typeface="Times New Roman" panose="02020603050405020304" pitchFamily="18" charset="0"/>
                <a:cs typeface="Times New Roman" panose="02020603050405020304" pitchFamily="18" charset="0"/>
              </a:rPr>
              <a:t>x’</a:t>
            </a:r>
            <a:endParaRPr lang="en-IN" sz="2000" b="1" baseline="-25000" dirty="0">
              <a:solidFill>
                <a:srgbClr val="FF0000"/>
              </a:solidFill>
              <a:latin typeface="Times New Roman" panose="02020603050405020304" pitchFamily="18" charset="0"/>
              <a:cs typeface="Times New Roman" panose="02020603050405020304" pitchFamily="18" charset="0"/>
            </a:endParaRPr>
          </a:p>
        </p:txBody>
      </p:sp>
      <p:sp>
        <p:nvSpPr>
          <p:cNvPr id="37" name="Rectangle 36"/>
          <p:cNvSpPr/>
          <p:nvPr/>
        </p:nvSpPr>
        <p:spPr>
          <a:xfrm>
            <a:off x="7769355" y="3967526"/>
            <a:ext cx="552629" cy="400110"/>
          </a:xfrm>
          <a:prstGeom prst="rect">
            <a:avLst/>
          </a:prstGeom>
        </p:spPr>
        <p:txBody>
          <a:bodyPr wrap="square">
            <a:spAutoFit/>
          </a:bodyPr>
          <a:lstStyle/>
          <a:p>
            <a:r>
              <a:rPr lang="en-IN" sz="2000" b="1" i="1" dirty="0">
                <a:solidFill>
                  <a:srgbClr val="FF0000"/>
                </a:solidFill>
                <a:latin typeface="Times New Roman" panose="02020603050405020304" pitchFamily="18" charset="0"/>
                <a:cs typeface="Times New Roman" panose="02020603050405020304" pitchFamily="18" charset="0"/>
              </a:rPr>
              <a:t>y’</a:t>
            </a:r>
            <a:endParaRPr lang="en-IN" sz="2000" b="1" baseline="-25000" dirty="0">
              <a:solidFill>
                <a:srgbClr val="FF0000"/>
              </a:solidFill>
              <a:latin typeface="Times New Roman" panose="02020603050405020304" pitchFamily="18" charset="0"/>
              <a:cs typeface="Times New Roman" panose="02020603050405020304" pitchFamily="18" charset="0"/>
            </a:endParaRPr>
          </a:p>
        </p:txBody>
      </p:sp>
      <p:cxnSp>
        <p:nvCxnSpPr>
          <p:cNvPr id="38" name="Straight Arrow Connector 37"/>
          <p:cNvCxnSpPr/>
          <p:nvPr/>
        </p:nvCxnSpPr>
        <p:spPr>
          <a:xfrm>
            <a:off x="10145150" y="5303412"/>
            <a:ext cx="787791" cy="0"/>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9" name="Straight Arrow Connector 38"/>
          <p:cNvCxnSpPr/>
          <p:nvPr/>
        </p:nvCxnSpPr>
        <p:spPr>
          <a:xfrm>
            <a:off x="8330366" y="5303412"/>
            <a:ext cx="787791" cy="0"/>
          </a:xfrm>
          <a:prstGeom prst="straightConnector1">
            <a:avLst/>
          </a:prstGeom>
          <a:ln>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Arrow Connector 39"/>
          <p:cNvCxnSpPr/>
          <p:nvPr/>
        </p:nvCxnSpPr>
        <p:spPr>
          <a:xfrm flipH="1">
            <a:off x="9654427" y="5839604"/>
            <a:ext cx="0" cy="602907"/>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a:xfrm flipH="1">
            <a:off x="9610229" y="4164313"/>
            <a:ext cx="0" cy="602907"/>
          </a:xfrm>
          <a:prstGeom prst="straightConnector1">
            <a:avLst/>
          </a:prstGeom>
          <a:ln>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5" name="Straight Arrow Connector 4"/>
          <p:cNvCxnSpPr/>
          <p:nvPr/>
        </p:nvCxnSpPr>
        <p:spPr>
          <a:xfrm flipV="1">
            <a:off x="9218328" y="4628271"/>
            <a:ext cx="862821"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9192187" y="5978770"/>
            <a:ext cx="862821" cy="0"/>
          </a:xfrm>
          <a:prstGeom prst="straightConnector1">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a:off x="10294008" y="5025043"/>
            <a:ext cx="0" cy="602907"/>
          </a:xfrm>
          <a:prstGeom prst="straightConnector1">
            <a:avLst/>
          </a:prstGeom>
          <a:ln>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Arrow Connector 43"/>
          <p:cNvCxnSpPr/>
          <p:nvPr/>
        </p:nvCxnSpPr>
        <p:spPr>
          <a:xfrm flipH="1">
            <a:off x="8936975" y="5025043"/>
            <a:ext cx="0" cy="602907"/>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45" name="Rectangle 44"/>
          <p:cNvSpPr/>
          <p:nvPr/>
        </p:nvSpPr>
        <p:spPr>
          <a:xfrm>
            <a:off x="10862071" y="5103357"/>
            <a:ext cx="478302"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σ</a:t>
            </a:r>
            <a:r>
              <a:rPr lang="en-IN" sz="2000" i="1" baseline="-25000" dirty="0">
                <a:latin typeface="Times New Roman" panose="02020603050405020304" pitchFamily="18" charset="0"/>
                <a:cs typeface="Times New Roman" panose="02020603050405020304" pitchFamily="18" charset="0"/>
              </a:rPr>
              <a:t>x</a:t>
            </a:r>
            <a:r>
              <a:rPr lang="en-IN" sz="2000" baseline="-25000" dirty="0">
                <a:latin typeface="Times New Roman" panose="02020603050405020304" pitchFamily="18" charset="0"/>
                <a:cs typeface="Times New Roman" panose="02020603050405020304" pitchFamily="18" charset="0"/>
              </a:rPr>
              <a:t>'</a:t>
            </a:r>
          </a:p>
        </p:txBody>
      </p:sp>
      <p:sp>
        <p:nvSpPr>
          <p:cNvPr id="46" name="Rectangle 45"/>
          <p:cNvSpPr/>
          <p:nvPr/>
        </p:nvSpPr>
        <p:spPr>
          <a:xfrm>
            <a:off x="9610229" y="3975590"/>
            <a:ext cx="478302"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σ</a:t>
            </a:r>
            <a:r>
              <a:rPr lang="en-IN" sz="2000" i="1" baseline="-25000" dirty="0">
                <a:latin typeface="Times New Roman" panose="02020603050405020304" pitchFamily="18" charset="0"/>
                <a:cs typeface="Times New Roman" panose="02020603050405020304" pitchFamily="18" charset="0"/>
              </a:rPr>
              <a:t>y</a:t>
            </a:r>
            <a:r>
              <a:rPr lang="en-IN" sz="2000" baseline="-25000" dirty="0">
                <a:latin typeface="Times New Roman" panose="02020603050405020304" pitchFamily="18" charset="0"/>
                <a:cs typeface="Times New Roman" panose="02020603050405020304" pitchFamily="18" charset="0"/>
              </a:rPr>
              <a:t>'</a:t>
            </a:r>
          </a:p>
        </p:txBody>
      </p:sp>
      <p:sp>
        <p:nvSpPr>
          <p:cNvPr id="47" name="Rectangle 46"/>
          <p:cNvSpPr/>
          <p:nvPr/>
        </p:nvSpPr>
        <p:spPr>
          <a:xfrm>
            <a:off x="9624298" y="6081905"/>
            <a:ext cx="478302"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σ</a:t>
            </a:r>
            <a:r>
              <a:rPr lang="en-IN" sz="2000" i="1" baseline="-25000" dirty="0">
                <a:latin typeface="Times New Roman" panose="02020603050405020304" pitchFamily="18" charset="0"/>
                <a:cs typeface="Times New Roman" panose="02020603050405020304" pitchFamily="18" charset="0"/>
              </a:rPr>
              <a:t>y</a:t>
            </a:r>
            <a:r>
              <a:rPr lang="en-IN" sz="2000" baseline="-25000" dirty="0">
                <a:latin typeface="Times New Roman" panose="02020603050405020304" pitchFamily="18" charset="0"/>
                <a:cs typeface="Times New Roman" panose="02020603050405020304" pitchFamily="18" charset="0"/>
              </a:rPr>
              <a:t>'</a:t>
            </a:r>
          </a:p>
        </p:txBody>
      </p:sp>
      <p:sp>
        <p:nvSpPr>
          <p:cNvPr id="48" name="Rectangle 47"/>
          <p:cNvSpPr/>
          <p:nvPr/>
        </p:nvSpPr>
        <p:spPr>
          <a:xfrm>
            <a:off x="8257867" y="4871249"/>
            <a:ext cx="478302"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σ</a:t>
            </a:r>
            <a:r>
              <a:rPr lang="en-IN" sz="2000" i="1" baseline="-25000" dirty="0">
                <a:latin typeface="Times New Roman" panose="02020603050405020304" pitchFamily="18" charset="0"/>
                <a:cs typeface="Times New Roman" panose="02020603050405020304" pitchFamily="18" charset="0"/>
              </a:rPr>
              <a:t>x</a:t>
            </a:r>
            <a:r>
              <a:rPr lang="en-IN" sz="2000" baseline="-25000" dirty="0">
                <a:latin typeface="Times New Roman" panose="02020603050405020304" pitchFamily="18" charset="0"/>
                <a:cs typeface="Times New Roman" panose="02020603050405020304" pitchFamily="18" charset="0"/>
              </a:rPr>
              <a:t>'</a:t>
            </a:r>
          </a:p>
        </p:txBody>
      </p:sp>
      <p:sp>
        <p:nvSpPr>
          <p:cNvPr id="49" name="Rectangle 48"/>
          <p:cNvSpPr/>
          <p:nvPr/>
        </p:nvSpPr>
        <p:spPr>
          <a:xfrm>
            <a:off x="10282836" y="4812598"/>
            <a:ext cx="777915"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τ</a:t>
            </a:r>
            <a:r>
              <a:rPr lang="en-IN" sz="2000" i="1" baseline="-25000" dirty="0" err="1">
                <a:latin typeface="Times New Roman" panose="02020603050405020304" pitchFamily="18" charset="0"/>
                <a:cs typeface="Times New Roman" panose="02020603050405020304" pitchFamily="18" charset="0"/>
              </a:rPr>
              <a:t>x</a:t>
            </a:r>
            <a:r>
              <a:rPr lang="en-IN" sz="2000" baseline="-25000" dirty="0" err="1">
                <a:latin typeface="Times New Roman" panose="02020603050405020304" pitchFamily="18" charset="0"/>
                <a:cs typeface="Times New Roman" panose="02020603050405020304" pitchFamily="18" charset="0"/>
              </a:rPr>
              <a:t>'</a:t>
            </a:r>
            <a:r>
              <a:rPr lang="en-IN" sz="2000" i="1" baseline="-25000" dirty="0" err="1">
                <a:latin typeface="Times New Roman" panose="02020603050405020304" pitchFamily="18" charset="0"/>
                <a:cs typeface="Times New Roman" panose="02020603050405020304" pitchFamily="18" charset="0"/>
              </a:rPr>
              <a:t>y</a:t>
            </a:r>
            <a:r>
              <a:rPr lang="en-IN" sz="2000" baseline="-25000" dirty="0">
                <a:latin typeface="Times New Roman" panose="02020603050405020304" pitchFamily="18" charset="0"/>
                <a:cs typeface="Times New Roman" panose="02020603050405020304" pitchFamily="18" charset="0"/>
              </a:rPr>
              <a:t>'</a:t>
            </a:r>
          </a:p>
        </p:txBody>
      </p:sp>
      <p:sp>
        <p:nvSpPr>
          <p:cNvPr id="50" name="Rectangle 49"/>
          <p:cNvSpPr/>
          <p:nvPr/>
        </p:nvSpPr>
        <p:spPr>
          <a:xfrm>
            <a:off x="9779041" y="4221275"/>
            <a:ext cx="777915"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τ</a:t>
            </a:r>
            <a:r>
              <a:rPr lang="en-IN" sz="2000" i="1" baseline="-25000" dirty="0" err="1">
                <a:latin typeface="Times New Roman" panose="02020603050405020304" pitchFamily="18" charset="0"/>
                <a:cs typeface="Times New Roman" panose="02020603050405020304" pitchFamily="18" charset="0"/>
              </a:rPr>
              <a:t>y</a:t>
            </a:r>
            <a:r>
              <a:rPr lang="en-IN" sz="2000" baseline="-25000" dirty="0" err="1">
                <a:latin typeface="Times New Roman" panose="02020603050405020304" pitchFamily="18" charset="0"/>
                <a:cs typeface="Times New Roman" panose="02020603050405020304" pitchFamily="18" charset="0"/>
              </a:rPr>
              <a:t>‘</a:t>
            </a:r>
            <a:r>
              <a:rPr lang="en-IN" sz="2000" i="1" baseline="-25000" dirty="0" err="1">
                <a:latin typeface="Times New Roman" panose="02020603050405020304" pitchFamily="18" charset="0"/>
                <a:cs typeface="Times New Roman" panose="02020603050405020304" pitchFamily="18" charset="0"/>
              </a:rPr>
              <a:t>x</a:t>
            </a:r>
            <a:r>
              <a:rPr lang="en-IN" sz="2000" baseline="-25000" dirty="0">
                <a:latin typeface="Times New Roman" panose="02020603050405020304" pitchFamily="18" charset="0"/>
                <a:cs typeface="Times New Roman" panose="02020603050405020304" pitchFamily="18" charset="0"/>
              </a:rPr>
              <a:t>'</a:t>
            </a:r>
          </a:p>
        </p:txBody>
      </p:sp>
      <p:sp>
        <p:nvSpPr>
          <p:cNvPr id="51" name="Rectangle 50"/>
          <p:cNvSpPr/>
          <p:nvPr/>
        </p:nvSpPr>
        <p:spPr>
          <a:xfrm>
            <a:off x="8464913" y="5290623"/>
            <a:ext cx="777915"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τ</a:t>
            </a:r>
            <a:r>
              <a:rPr lang="en-IN" sz="2000" i="1" baseline="-25000" dirty="0" err="1">
                <a:latin typeface="Times New Roman" panose="02020603050405020304" pitchFamily="18" charset="0"/>
                <a:cs typeface="Times New Roman" panose="02020603050405020304" pitchFamily="18" charset="0"/>
              </a:rPr>
              <a:t>x</a:t>
            </a:r>
            <a:r>
              <a:rPr lang="en-IN" sz="2000" baseline="-25000" dirty="0" err="1">
                <a:latin typeface="Times New Roman" panose="02020603050405020304" pitchFamily="18" charset="0"/>
                <a:cs typeface="Times New Roman" panose="02020603050405020304" pitchFamily="18" charset="0"/>
              </a:rPr>
              <a:t>'</a:t>
            </a:r>
            <a:r>
              <a:rPr lang="en-IN" sz="2000" i="1" baseline="-25000" dirty="0" err="1">
                <a:latin typeface="Times New Roman" panose="02020603050405020304" pitchFamily="18" charset="0"/>
                <a:cs typeface="Times New Roman" panose="02020603050405020304" pitchFamily="18" charset="0"/>
              </a:rPr>
              <a:t>y</a:t>
            </a:r>
            <a:r>
              <a:rPr lang="en-IN" sz="2000" baseline="-25000" dirty="0">
                <a:latin typeface="Times New Roman" panose="02020603050405020304" pitchFamily="18" charset="0"/>
                <a:cs typeface="Times New Roman" panose="02020603050405020304" pitchFamily="18" charset="0"/>
              </a:rPr>
              <a:t>'</a:t>
            </a:r>
          </a:p>
        </p:txBody>
      </p:sp>
      <p:sp>
        <p:nvSpPr>
          <p:cNvPr id="52" name="Rectangle 51"/>
          <p:cNvSpPr/>
          <p:nvPr/>
        </p:nvSpPr>
        <p:spPr>
          <a:xfrm>
            <a:off x="9091717" y="5866567"/>
            <a:ext cx="777915" cy="400110"/>
          </a:xfrm>
          <a:prstGeom prst="rect">
            <a:avLst/>
          </a:prstGeom>
        </p:spPr>
        <p:txBody>
          <a:bodyPr wrap="square">
            <a:spAutoFit/>
          </a:bodyPr>
          <a:lstStyle/>
          <a:p>
            <a:r>
              <a:rPr lang="el-GR" sz="2000" i="1" dirty="0">
                <a:latin typeface="Times New Roman" panose="02020603050405020304" pitchFamily="18" charset="0"/>
                <a:cs typeface="Times New Roman" panose="02020603050405020304" pitchFamily="18" charset="0"/>
              </a:rPr>
              <a:t>τ</a:t>
            </a:r>
            <a:r>
              <a:rPr lang="en-IN" sz="2000" i="1" baseline="-25000" dirty="0" err="1">
                <a:latin typeface="Times New Roman" panose="02020603050405020304" pitchFamily="18" charset="0"/>
                <a:cs typeface="Times New Roman" panose="02020603050405020304" pitchFamily="18" charset="0"/>
              </a:rPr>
              <a:t>y</a:t>
            </a:r>
            <a:r>
              <a:rPr lang="en-IN" sz="2000" baseline="-25000" dirty="0" err="1">
                <a:latin typeface="Times New Roman" panose="02020603050405020304" pitchFamily="18" charset="0"/>
                <a:cs typeface="Times New Roman" panose="02020603050405020304" pitchFamily="18" charset="0"/>
              </a:rPr>
              <a:t>‘</a:t>
            </a:r>
            <a:r>
              <a:rPr lang="en-IN" sz="2000" i="1" baseline="-25000" dirty="0" err="1">
                <a:latin typeface="Times New Roman" panose="02020603050405020304" pitchFamily="18" charset="0"/>
                <a:cs typeface="Times New Roman" panose="02020603050405020304" pitchFamily="18" charset="0"/>
              </a:rPr>
              <a:t>x</a:t>
            </a:r>
            <a:r>
              <a:rPr lang="en-IN" sz="2000" baseline="-250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53" name="Rectangle 52"/>
              <p:cNvSpPr/>
              <p:nvPr/>
            </p:nvSpPr>
            <p:spPr>
              <a:xfrm>
                <a:off x="0" y="2389829"/>
                <a:ext cx="7244862" cy="400110"/>
              </a:xfrm>
              <a:prstGeom prst="rect">
                <a:avLst/>
              </a:prstGeom>
            </p:spPr>
            <p:txBody>
              <a:bodyPr wrap="square">
                <a:spAutoFit/>
              </a:bodyPr>
              <a:lstStyle/>
              <a:p>
                <a:pPr algn="just"/>
                <a:r>
                  <a:rPr lang="el-GR" sz="2000" i="1" dirty="0">
                    <a:latin typeface="Times New Roman" panose="02020603050405020304" pitchFamily="18" charset="0"/>
                    <a:cs typeface="Times New Roman" panose="02020603050405020304" pitchFamily="18" charset="0"/>
                  </a:rPr>
                  <a:t>σ</a:t>
                </a:r>
                <a:r>
                  <a:rPr lang="en-IN" sz="2000" i="1" baseline="-25000" dirty="0">
                    <a:latin typeface="Times New Roman" panose="02020603050405020304" pitchFamily="18" charset="0"/>
                    <a:cs typeface="Times New Roman" panose="02020603050405020304" pitchFamily="18" charset="0"/>
                  </a:rPr>
                  <a:t>x’</a:t>
                </a:r>
                <a:r>
                  <a:rPr lang="en-IN" sz="2000" dirty="0">
                    <a:latin typeface="Times New Roman" panose="02020603050405020304" pitchFamily="18" charset="0"/>
                    <a:cs typeface="Times New Roman" panose="02020603050405020304" pitchFamily="18" charset="0"/>
                  </a:rPr>
                  <a:t> = ?, </a:t>
                </a:r>
                <a:r>
                  <a:rPr lang="el-GR" sz="2000" i="1" dirty="0">
                    <a:latin typeface="Times New Roman" panose="02020603050405020304" pitchFamily="18" charset="0"/>
                    <a:cs typeface="Times New Roman" panose="02020603050405020304" pitchFamily="18" charset="0"/>
                  </a:rPr>
                  <a:t>σ</a:t>
                </a:r>
                <a:r>
                  <a:rPr lang="en-IN" sz="2000" i="1" baseline="-25000" dirty="0">
                    <a:latin typeface="Times New Roman" panose="02020603050405020304" pitchFamily="18" charset="0"/>
                    <a:cs typeface="Times New Roman" panose="02020603050405020304" pitchFamily="18" charset="0"/>
                  </a:rPr>
                  <a:t>y’</a:t>
                </a:r>
                <a:r>
                  <a:rPr lang="en-IN" sz="2000" dirty="0">
                    <a:latin typeface="Times New Roman" panose="02020603050405020304" pitchFamily="18" charset="0"/>
                    <a:cs typeface="Times New Roman" panose="02020603050405020304" pitchFamily="18" charset="0"/>
                  </a:rPr>
                  <a:t> = </a:t>
                </a:r>
                <a14:m>
                  <m:oMath xmlns:m="http://schemas.openxmlformats.org/officeDocument/2006/math">
                    <m:r>
                      <a:rPr lang="en-IN" sz="2000" b="0" i="1" smtClean="0">
                        <a:latin typeface="Cambria Math" panose="02040503050406030204" pitchFamily="18" charset="0"/>
                        <a:cs typeface="Times New Roman" panose="02020603050405020304" pitchFamily="18" charset="0"/>
                      </a:rPr>
                      <m:t>?</m:t>
                    </m:r>
                  </m:oMath>
                </a14:m>
                <a:r>
                  <a:rPr lang="en-IN" sz="2000" dirty="0">
                    <a:latin typeface="Times New Roman" panose="02020603050405020304" pitchFamily="18" charset="0"/>
                    <a:cs typeface="Times New Roman" panose="02020603050405020304" pitchFamily="18" charset="0"/>
                  </a:rPr>
                  <a:t>, </a:t>
                </a:r>
                <a:r>
                  <a:rPr lang="el-GR" sz="2000" i="1" dirty="0">
                    <a:latin typeface="Times New Roman" panose="02020603050405020304" pitchFamily="18" charset="0"/>
                    <a:cs typeface="Times New Roman" panose="02020603050405020304" pitchFamily="18" charset="0"/>
                  </a:rPr>
                  <a:t>τ</a:t>
                </a:r>
                <a:r>
                  <a:rPr lang="en-IN" sz="2000" i="1" baseline="-25000" dirty="0" err="1">
                    <a:latin typeface="Times New Roman" panose="02020603050405020304" pitchFamily="18" charset="0"/>
                    <a:cs typeface="Times New Roman" panose="02020603050405020304" pitchFamily="18" charset="0"/>
                  </a:rPr>
                  <a:t>x’y</a:t>
                </a:r>
                <a:r>
                  <a:rPr lang="en-IN" sz="2000" i="1" baseline="-25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 ?, </a:t>
                </a:r>
                <a:r>
                  <a:rPr lang="el-GR" sz="2000" i="1" dirty="0">
                    <a:latin typeface="Times New Roman" panose="02020603050405020304" pitchFamily="18" charset="0"/>
                    <a:cs typeface="Times New Roman" panose="02020603050405020304" pitchFamily="18" charset="0"/>
                  </a:rPr>
                  <a:t>τ</a:t>
                </a:r>
                <a:r>
                  <a:rPr lang="en-IN" sz="2000" i="1" baseline="-25000" dirty="0" err="1">
                    <a:latin typeface="Times New Roman" panose="02020603050405020304" pitchFamily="18" charset="0"/>
                    <a:cs typeface="Times New Roman" panose="02020603050405020304" pitchFamily="18" charset="0"/>
                  </a:rPr>
                  <a:t>y’x</a:t>
                </a:r>
                <a:r>
                  <a:rPr lang="en-IN" sz="2000" i="1" baseline="-25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 ?</a:t>
                </a:r>
                <a:endParaRPr lang="en-IN" sz="2000" baseline="-25000" dirty="0">
                  <a:latin typeface="Times New Roman" panose="02020603050405020304" pitchFamily="18" charset="0"/>
                  <a:cs typeface="Times New Roman" panose="02020603050405020304" pitchFamily="18" charset="0"/>
                </a:endParaRPr>
              </a:p>
            </p:txBody>
          </p:sp>
        </mc:Choice>
        <mc:Fallback xmlns="">
          <p:sp>
            <p:nvSpPr>
              <p:cNvPr id="53" name="Rectangle 52"/>
              <p:cNvSpPr>
                <a:spLocks noRot="1" noChangeAspect="1" noMove="1" noResize="1" noEditPoints="1" noAdjustHandles="1" noChangeArrowheads="1" noChangeShapeType="1" noTextEdit="1"/>
              </p:cNvSpPr>
              <p:nvPr/>
            </p:nvSpPr>
            <p:spPr>
              <a:xfrm>
                <a:off x="0" y="2389829"/>
                <a:ext cx="7244862" cy="400110"/>
              </a:xfrm>
              <a:prstGeom prst="rect">
                <a:avLst/>
              </a:prstGeom>
              <a:blipFill rotWithShape="0">
                <a:blip r:embed="rId4"/>
                <a:stretch>
                  <a:fillRect l="-842" t="-7576" b="-25758"/>
                </a:stretch>
              </a:blipFill>
            </p:spPr>
            <p:txBody>
              <a:bodyPr/>
              <a:lstStyle/>
              <a:p>
                <a:r>
                  <a:rPr lang="en-IN">
                    <a:noFill/>
                  </a:rPr>
                  <a:t> </a:t>
                </a:r>
              </a:p>
            </p:txBody>
          </p:sp>
        </mc:Fallback>
      </mc:AlternateContent>
      <p:sp>
        <p:nvSpPr>
          <p:cNvPr id="6" name="Arc 5"/>
          <p:cNvSpPr/>
          <p:nvPr/>
        </p:nvSpPr>
        <p:spPr>
          <a:xfrm rot="10800000">
            <a:off x="6603458" y="2465450"/>
            <a:ext cx="1940990" cy="2403965"/>
          </a:xfrm>
          <a:prstGeom prst="arc">
            <a:avLst>
              <a:gd name="adj1" fmla="val 16287630"/>
              <a:gd name="adj2" fmla="val 5660078"/>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6" name="Rectangle 55"/>
          <p:cNvSpPr/>
          <p:nvPr/>
        </p:nvSpPr>
        <p:spPr>
          <a:xfrm>
            <a:off x="8900883" y="1628102"/>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P</a:t>
            </a:r>
            <a:endParaRPr lang="en-IN" sz="2000" baseline="-25000" dirty="0">
              <a:latin typeface="Times New Roman" panose="02020603050405020304" pitchFamily="18" charset="0"/>
              <a:cs typeface="Times New Roman" panose="02020603050405020304" pitchFamily="18" charset="0"/>
            </a:endParaRPr>
          </a:p>
        </p:txBody>
      </p:sp>
      <p:sp>
        <p:nvSpPr>
          <p:cNvPr id="57" name="Rectangle 56"/>
          <p:cNvSpPr/>
          <p:nvPr/>
        </p:nvSpPr>
        <p:spPr>
          <a:xfrm>
            <a:off x="9975988" y="895915"/>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S</a:t>
            </a:r>
            <a:endParaRPr lang="en-IN" sz="2000" baseline="-25000" dirty="0">
              <a:latin typeface="Times New Roman" panose="02020603050405020304" pitchFamily="18" charset="0"/>
              <a:cs typeface="Times New Roman" panose="02020603050405020304" pitchFamily="18" charset="0"/>
            </a:endParaRPr>
          </a:p>
        </p:txBody>
      </p:sp>
      <p:sp>
        <p:nvSpPr>
          <p:cNvPr id="58" name="Rectangle 57"/>
          <p:cNvSpPr/>
          <p:nvPr/>
        </p:nvSpPr>
        <p:spPr>
          <a:xfrm>
            <a:off x="10032260" y="2808408"/>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Q</a:t>
            </a:r>
            <a:endParaRPr lang="en-IN" sz="2000" baseline="-25000" dirty="0">
              <a:latin typeface="Times New Roman" panose="02020603050405020304" pitchFamily="18" charset="0"/>
              <a:cs typeface="Times New Roman" panose="02020603050405020304" pitchFamily="18" charset="0"/>
            </a:endParaRPr>
          </a:p>
        </p:txBody>
      </p:sp>
      <p:sp>
        <p:nvSpPr>
          <p:cNvPr id="59" name="Rectangle 58"/>
          <p:cNvSpPr/>
          <p:nvPr/>
        </p:nvSpPr>
        <p:spPr>
          <a:xfrm>
            <a:off x="10803989" y="1697807"/>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R</a:t>
            </a:r>
            <a:endParaRPr lang="en-IN" sz="2000" baseline="-25000" dirty="0">
              <a:latin typeface="Times New Roman" panose="02020603050405020304" pitchFamily="18" charset="0"/>
              <a:cs typeface="Times New Roman" panose="02020603050405020304" pitchFamily="18" charset="0"/>
            </a:endParaRPr>
          </a:p>
        </p:txBody>
      </p:sp>
      <p:sp>
        <p:nvSpPr>
          <p:cNvPr id="60" name="Rectangle 59"/>
          <p:cNvSpPr/>
          <p:nvPr/>
        </p:nvSpPr>
        <p:spPr>
          <a:xfrm>
            <a:off x="8796951" y="5760111"/>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P</a:t>
            </a:r>
            <a:endParaRPr lang="en-IN" sz="2000" baseline="-25000" dirty="0">
              <a:latin typeface="Times New Roman" panose="02020603050405020304" pitchFamily="18" charset="0"/>
              <a:cs typeface="Times New Roman" panose="02020603050405020304" pitchFamily="18" charset="0"/>
            </a:endParaRPr>
          </a:p>
        </p:txBody>
      </p:sp>
      <p:sp>
        <p:nvSpPr>
          <p:cNvPr id="63" name="Rectangle 62"/>
          <p:cNvSpPr/>
          <p:nvPr/>
        </p:nvSpPr>
        <p:spPr>
          <a:xfrm>
            <a:off x="10083646" y="5692672"/>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Q</a:t>
            </a:r>
            <a:endParaRPr lang="en-IN" sz="2000" baseline="-25000" dirty="0">
              <a:latin typeface="Times New Roman" panose="02020603050405020304" pitchFamily="18" charset="0"/>
              <a:cs typeface="Times New Roman" panose="02020603050405020304" pitchFamily="18" charset="0"/>
            </a:endParaRPr>
          </a:p>
        </p:txBody>
      </p:sp>
      <p:sp>
        <p:nvSpPr>
          <p:cNvPr id="64" name="Rectangle 63"/>
          <p:cNvSpPr/>
          <p:nvPr/>
        </p:nvSpPr>
        <p:spPr>
          <a:xfrm>
            <a:off x="10095071" y="4582544"/>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R</a:t>
            </a:r>
            <a:endParaRPr lang="en-IN" sz="2000" baseline="-25000" dirty="0">
              <a:latin typeface="Times New Roman" panose="02020603050405020304" pitchFamily="18" charset="0"/>
              <a:cs typeface="Times New Roman" panose="02020603050405020304" pitchFamily="18" charset="0"/>
            </a:endParaRPr>
          </a:p>
        </p:txBody>
      </p:sp>
      <p:sp>
        <p:nvSpPr>
          <p:cNvPr id="65" name="Rectangle 64"/>
          <p:cNvSpPr/>
          <p:nvPr/>
        </p:nvSpPr>
        <p:spPr>
          <a:xfrm>
            <a:off x="8832969" y="4500451"/>
            <a:ext cx="365761" cy="400110"/>
          </a:xfrm>
          <a:prstGeom prst="rect">
            <a:avLst/>
          </a:prstGeom>
        </p:spPr>
        <p:txBody>
          <a:bodyPr wrap="square">
            <a:spAutoFit/>
          </a:bodyPr>
          <a:lstStyle/>
          <a:p>
            <a:r>
              <a:rPr lang="en-IN" sz="2000" i="1" dirty="0">
                <a:latin typeface="Times New Roman" panose="02020603050405020304" pitchFamily="18" charset="0"/>
                <a:cs typeface="Times New Roman" panose="02020603050405020304" pitchFamily="18" charset="0"/>
              </a:rPr>
              <a:t>S</a:t>
            </a:r>
            <a:endParaRPr lang="en-IN" sz="2000" baseline="-25000" dirty="0">
              <a:latin typeface="Times New Roman" panose="02020603050405020304" pitchFamily="18" charset="0"/>
              <a:cs typeface="Times New Roman" panose="02020603050405020304" pitchFamily="18" charset="0"/>
            </a:endParaRPr>
          </a:p>
        </p:txBody>
      </p:sp>
      <p:pic>
        <p:nvPicPr>
          <p:cNvPr id="21" name="Picture 20"/>
          <p:cNvPicPr>
            <a:picLocks noChangeAspect="1"/>
          </p:cNvPicPr>
          <p:nvPr/>
        </p:nvPicPr>
        <p:blipFill>
          <a:blip r:embed="rId5"/>
          <a:stretch>
            <a:fillRect/>
          </a:stretch>
        </p:blipFill>
        <p:spPr>
          <a:xfrm>
            <a:off x="1762539" y="3487231"/>
            <a:ext cx="3296836" cy="959561"/>
          </a:xfrm>
          <a:prstGeom prst="rect">
            <a:avLst/>
          </a:prstGeom>
        </p:spPr>
      </p:pic>
    </p:spTree>
    <p:extLst>
      <p:ext uri="{BB962C8B-B14F-4D97-AF65-F5344CB8AC3E}">
        <p14:creationId xmlns:p14="http://schemas.microsoft.com/office/powerpoint/2010/main" val="344866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Plastic Deformation – Uniaxial Tension Test</a:t>
            </a:r>
          </a:p>
        </p:txBody>
      </p:sp>
      <p:pic>
        <p:nvPicPr>
          <p:cNvPr id="2" name="Picture 1"/>
          <p:cNvPicPr>
            <a:picLocks noChangeAspect="1"/>
          </p:cNvPicPr>
          <p:nvPr/>
        </p:nvPicPr>
        <p:blipFill>
          <a:blip r:embed="rId3"/>
          <a:stretch>
            <a:fillRect/>
          </a:stretch>
        </p:blipFill>
        <p:spPr>
          <a:xfrm>
            <a:off x="576775" y="523220"/>
            <a:ext cx="3530991" cy="6238482"/>
          </a:xfrm>
          <a:prstGeom prst="rect">
            <a:avLst/>
          </a:prstGeom>
        </p:spPr>
      </p:pic>
      <p:pic>
        <p:nvPicPr>
          <p:cNvPr id="3" name="Picture 2"/>
          <p:cNvPicPr>
            <a:picLocks noChangeAspect="1"/>
          </p:cNvPicPr>
          <p:nvPr/>
        </p:nvPicPr>
        <p:blipFill>
          <a:blip r:embed="rId4"/>
          <a:stretch>
            <a:fillRect/>
          </a:stretch>
        </p:blipFill>
        <p:spPr>
          <a:xfrm>
            <a:off x="7833197" y="523220"/>
            <a:ext cx="4349424" cy="6128385"/>
          </a:xfrm>
          <a:prstGeom prst="rect">
            <a:avLst/>
          </a:prstGeom>
        </p:spPr>
      </p:pic>
      <p:sp>
        <p:nvSpPr>
          <p:cNvPr id="10" name="Rectangle 9"/>
          <p:cNvSpPr/>
          <p:nvPr/>
        </p:nvSpPr>
        <p:spPr>
          <a:xfrm>
            <a:off x="3488786" y="1781341"/>
            <a:ext cx="4445392" cy="2246769"/>
          </a:xfrm>
          <a:prstGeom prst="rect">
            <a:avLst/>
          </a:prstGeom>
        </p:spPr>
        <p:txBody>
          <a:bodyPr wrap="square">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Yielding</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Yield strength</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Large scale atomic displacements by breaking and reforming of atomic bonds</a:t>
            </a:r>
          </a:p>
        </p:txBody>
      </p:sp>
      <p:sp>
        <p:nvSpPr>
          <p:cNvPr id="12" name="Rectangle 11"/>
          <p:cNvSpPr/>
          <p:nvPr/>
        </p:nvSpPr>
        <p:spPr>
          <a:xfrm>
            <a:off x="2002139" y="4985914"/>
            <a:ext cx="3245110" cy="707886"/>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Typical stress–strain curves for non–ferrous alloys</a:t>
            </a:r>
          </a:p>
        </p:txBody>
      </p:sp>
      <p:sp>
        <p:nvSpPr>
          <p:cNvPr id="13" name="Rectangle 12"/>
          <p:cNvSpPr/>
          <p:nvPr/>
        </p:nvSpPr>
        <p:spPr>
          <a:xfrm>
            <a:off x="8839037" y="4985914"/>
            <a:ext cx="3245110" cy="707886"/>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Typical stress–strain curves for ferrous alloys</a:t>
            </a:r>
          </a:p>
        </p:txBody>
      </p:sp>
    </p:spTree>
    <p:extLst>
      <p:ext uri="{BB962C8B-B14F-4D97-AF65-F5344CB8AC3E}">
        <p14:creationId xmlns:p14="http://schemas.microsoft.com/office/powerpoint/2010/main" val="3067610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Plastic Deformation – Uniaxial Tension Test</a:t>
            </a:r>
          </a:p>
        </p:txBody>
      </p:sp>
      <p:sp>
        <p:nvSpPr>
          <p:cNvPr id="10" name="Rectangle 9"/>
          <p:cNvSpPr/>
          <p:nvPr/>
        </p:nvSpPr>
        <p:spPr>
          <a:xfrm>
            <a:off x="0" y="570173"/>
            <a:ext cx="4445392" cy="707886"/>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Tensile Strength</a:t>
            </a:r>
            <a:r>
              <a:rPr lang="en-IN" sz="2000" dirty="0">
                <a:latin typeface="Times New Roman" panose="02020603050405020304" pitchFamily="18" charset="0"/>
                <a:cs typeface="Times New Roman" panose="02020603050405020304" pitchFamily="18" charset="0"/>
              </a:rPr>
              <a:t>: The point M in the adjacent stress–strain curve.</a:t>
            </a:r>
          </a:p>
        </p:txBody>
      </p:sp>
      <p:pic>
        <p:nvPicPr>
          <p:cNvPr id="5" name="Picture 4"/>
          <p:cNvPicPr>
            <a:picLocks noChangeAspect="1"/>
          </p:cNvPicPr>
          <p:nvPr/>
        </p:nvPicPr>
        <p:blipFill>
          <a:blip r:embed="rId3"/>
          <a:stretch>
            <a:fillRect/>
          </a:stretch>
        </p:blipFill>
        <p:spPr>
          <a:xfrm>
            <a:off x="4445392" y="570173"/>
            <a:ext cx="7636372" cy="6178669"/>
          </a:xfrm>
          <a:prstGeom prst="rect">
            <a:avLst/>
          </a:prstGeom>
        </p:spPr>
      </p:pic>
    </p:spTree>
    <p:extLst>
      <p:ext uri="{BB962C8B-B14F-4D97-AF65-F5344CB8AC3E}">
        <p14:creationId xmlns:p14="http://schemas.microsoft.com/office/powerpoint/2010/main" val="25412321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Plastic Deformation – Uniaxial Tension Test</a:t>
            </a:r>
          </a:p>
        </p:txBody>
      </p:sp>
      <p:sp>
        <p:nvSpPr>
          <p:cNvPr id="10" name="Rectangle 9"/>
          <p:cNvSpPr/>
          <p:nvPr/>
        </p:nvSpPr>
        <p:spPr>
          <a:xfrm>
            <a:off x="0" y="523220"/>
            <a:ext cx="4445392" cy="400110"/>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Ductility</a:t>
            </a:r>
          </a:p>
        </p:txBody>
      </p:sp>
      <p:pic>
        <p:nvPicPr>
          <p:cNvPr id="2" name="Picture 1"/>
          <p:cNvPicPr>
            <a:picLocks noChangeAspect="1"/>
          </p:cNvPicPr>
          <p:nvPr/>
        </p:nvPicPr>
        <p:blipFill rotWithShape="1">
          <a:blip r:embed="rId3"/>
          <a:srcRect l="1704"/>
          <a:stretch/>
        </p:blipFill>
        <p:spPr>
          <a:xfrm>
            <a:off x="7665465" y="0"/>
            <a:ext cx="4526535" cy="3903260"/>
          </a:xfrm>
          <a:prstGeom prst="rect">
            <a:avLst/>
          </a:prstGeom>
        </p:spPr>
      </p:pic>
      <p:pic>
        <p:nvPicPr>
          <p:cNvPr id="3" name="Picture 2"/>
          <p:cNvPicPr>
            <a:picLocks noChangeAspect="1"/>
          </p:cNvPicPr>
          <p:nvPr/>
        </p:nvPicPr>
        <p:blipFill>
          <a:blip r:embed="rId4"/>
          <a:stretch>
            <a:fillRect/>
          </a:stretch>
        </p:blipFill>
        <p:spPr>
          <a:xfrm>
            <a:off x="611158" y="1682469"/>
            <a:ext cx="2705248" cy="908039"/>
          </a:xfrm>
          <a:prstGeom prst="rect">
            <a:avLst/>
          </a:prstGeom>
        </p:spPr>
      </p:pic>
      <p:pic>
        <p:nvPicPr>
          <p:cNvPr id="6" name="Picture 5"/>
          <p:cNvPicPr>
            <a:picLocks noChangeAspect="1"/>
          </p:cNvPicPr>
          <p:nvPr/>
        </p:nvPicPr>
        <p:blipFill>
          <a:blip r:embed="rId5"/>
          <a:stretch>
            <a:fillRect/>
          </a:stretch>
        </p:blipFill>
        <p:spPr>
          <a:xfrm>
            <a:off x="4281616" y="1709764"/>
            <a:ext cx="2914747" cy="727159"/>
          </a:xfrm>
          <a:prstGeom prst="rect">
            <a:avLst/>
          </a:prstGeom>
        </p:spPr>
      </p:pic>
      <p:sp>
        <p:nvSpPr>
          <p:cNvPr id="8" name="Rectangle 7"/>
          <p:cNvSpPr/>
          <p:nvPr/>
        </p:nvSpPr>
        <p:spPr>
          <a:xfrm>
            <a:off x="0" y="1208110"/>
            <a:ext cx="6400800" cy="400110"/>
          </a:xfrm>
          <a:prstGeom prst="rect">
            <a:avLst/>
          </a:prstGeom>
        </p:spPr>
        <p:txBody>
          <a:bodyPr wrap="square">
            <a:spAutoFit/>
          </a:bodyPr>
          <a:lstStyle/>
          <a:p>
            <a:pPr algn="ctr"/>
            <a:r>
              <a:rPr lang="en-IN" sz="2000" dirty="0">
                <a:latin typeface="Times New Roman" panose="02020603050405020304" pitchFamily="18" charset="0"/>
                <a:cs typeface="Times New Roman" panose="02020603050405020304" pitchFamily="18" charset="0"/>
              </a:rPr>
              <a:t>Quantified as % elongation of length, or, % reduction in area</a:t>
            </a:r>
          </a:p>
        </p:txBody>
      </p:sp>
      <p:pic>
        <p:nvPicPr>
          <p:cNvPr id="7" name="Picture 6"/>
          <p:cNvPicPr>
            <a:picLocks noChangeAspect="1"/>
          </p:cNvPicPr>
          <p:nvPr/>
        </p:nvPicPr>
        <p:blipFill>
          <a:blip r:embed="rId6"/>
          <a:stretch>
            <a:fillRect/>
          </a:stretch>
        </p:blipFill>
        <p:spPr>
          <a:xfrm>
            <a:off x="295672" y="3623466"/>
            <a:ext cx="9382667" cy="2982049"/>
          </a:xfrm>
          <a:prstGeom prst="rect">
            <a:avLst/>
          </a:prstGeom>
        </p:spPr>
      </p:pic>
    </p:spTree>
    <p:extLst>
      <p:ext uri="{BB962C8B-B14F-4D97-AF65-F5344CB8AC3E}">
        <p14:creationId xmlns:p14="http://schemas.microsoft.com/office/powerpoint/2010/main" val="14934711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Plastic Deformation – Uniaxial Tension Test</a:t>
            </a:r>
          </a:p>
        </p:txBody>
      </p:sp>
      <p:sp>
        <p:nvSpPr>
          <p:cNvPr id="10" name="Rectangle 9"/>
          <p:cNvSpPr/>
          <p:nvPr/>
        </p:nvSpPr>
        <p:spPr>
          <a:xfrm>
            <a:off x="0" y="579103"/>
            <a:ext cx="4445392" cy="400110"/>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Ductility</a:t>
            </a:r>
          </a:p>
        </p:txBody>
      </p:sp>
      <p:pic>
        <p:nvPicPr>
          <p:cNvPr id="2" name="Picture 1"/>
          <p:cNvPicPr>
            <a:picLocks noChangeAspect="1"/>
          </p:cNvPicPr>
          <p:nvPr/>
        </p:nvPicPr>
        <p:blipFill rotWithShape="1">
          <a:blip r:embed="rId3"/>
          <a:srcRect l="1704"/>
          <a:stretch/>
        </p:blipFill>
        <p:spPr>
          <a:xfrm>
            <a:off x="7665465" y="0"/>
            <a:ext cx="4526535" cy="3903260"/>
          </a:xfrm>
          <a:prstGeom prst="rect">
            <a:avLst/>
          </a:prstGeom>
        </p:spPr>
      </p:pic>
      <p:pic>
        <p:nvPicPr>
          <p:cNvPr id="3" name="Picture 2"/>
          <p:cNvPicPr>
            <a:picLocks noChangeAspect="1"/>
          </p:cNvPicPr>
          <p:nvPr/>
        </p:nvPicPr>
        <p:blipFill>
          <a:blip r:embed="rId4"/>
          <a:stretch>
            <a:fillRect/>
          </a:stretch>
        </p:blipFill>
        <p:spPr>
          <a:xfrm>
            <a:off x="611158" y="1682469"/>
            <a:ext cx="2705248" cy="908039"/>
          </a:xfrm>
          <a:prstGeom prst="rect">
            <a:avLst/>
          </a:prstGeom>
        </p:spPr>
      </p:pic>
      <p:pic>
        <p:nvPicPr>
          <p:cNvPr id="6" name="Picture 5"/>
          <p:cNvPicPr>
            <a:picLocks noChangeAspect="1"/>
          </p:cNvPicPr>
          <p:nvPr/>
        </p:nvPicPr>
        <p:blipFill>
          <a:blip r:embed="rId5"/>
          <a:stretch>
            <a:fillRect/>
          </a:stretch>
        </p:blipFill>
        <p:spPr>
          <a:xfrm>
            <a:off x="4281616" y="1709764"/>
            <a:ext cx="2914747" cy="727159"/>
          </a:xfrm>
          <a:prstGeom prst="rect">
            <a:avLst/>
          </a:prstGeom>
        </p:spPr>
      </p:pic>
      <p:sp>
        <p:nvSpPr>
          <p:cNvPr id="8" name="Rectangle 7"/>
          <p:cNvSpPr/>
          <p:nvPr/>
        </p:nvSpPr>
        <p:spPr>
          <a:xfrm>
            <a:off x="0" y="1208110"/>
            <a:ext cx="6400800" cy="400110"/>
          </a:xfrm>
          <a:prstGeom prst="rect">
            <a:avLst/>
          </a:prstGeom>
        </p:spPr>
        <p:txBody>
          <a:bodyPr wrap="square">
            <a:spAutoFit/>
          </a:bodyPr>
          <a:lstStyle/>
          <a:p>
            <a:pPr algn="ctr"/>
            <a:r>
              <a:rPr lang="en-IN" sz="2000" dirty="0">
                <a:latin typeface="Times New Roman" panose="02020603050405020304" pitchFamily="18" charset="0"/>
                <a:cs typeface="Times New Roman" panose="02020603050405020304" pitchFamily="18" charset="0"/>
              </a:rPr>
              <a:t>Quantified as % elongation of length, or, % reduction in area</a:t>
            </a:r>
          </a:p>
        </p:txBody>
      </p:sp>
      <p:pic>
        <p:nvPicPr>
          <p:cNvPr id="5" name="Picture 4"/>
          <p:cNvPicPr>
            <a:picLocks noChangeAspect="1"/>
          </p:cNvPicPr>
          <p:nvPr/>
        </p:nvPicPr>
        <p:blipFill rotWithShape="1">
          <a:blip r:embed="rId6"/>
          <a:srcRect t="5489" r="6291"/>
          <a:stretch/>
        </p:blipFill>
        <p:spPr>
          <a:xfrm>
            <a:off x="301761" y="2538467"/>
            <a:ext cx="6911641" cy="4319533"/>
          </a:xfrm>
          <a:prstGeom prst="rect">
            <a:avLst/>
          </a:prstGeom>
        </p:spPr>
      </p:pic>
    </p:spTree>
    <p:extLst>
      <p:ext uri="{BB962C8B-B14F-4D97-AF65-F5344CB8AC3E}">
        <p14:creationId xmlns:p14="http://schemas.microsoft.com/office/powerpoint/2010/main" val="271207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Plastic Deformation – Uniaxial Tension Test</a:t>
            </a:r>
          </a:p>
        </p:txBody>
      </p:sp>
      <p:sp>
        <p:nvSpPr>
          <p:cNvPr id="10" name="Rectangle 9"/>
          <p:cNvSpPr/>
          <p:nvPr/>
        </p:nvSpPr>
        <p:spPr>
          <a:xfrm>
            <a:off x="0" y="570173"/>
            <a:ext cx="4445392" cy="400110"/>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Resilience</a:t>
            </a:r>
          </a:p>
        </p:txBody>
      </p:sp>
      <mc:AlternateContent xmlns:mc="http://schemas.openxmlformats.org/markup-compatibility/2006" xmlns:a14="http://schemas.microsoft.com/office/drawing/2010/main">
        <mc:Choice Requires="a14">
          <p:sp>
            <p:nvSpPr>
              <p:cNvPr id="8" name="Rectangle 7"/>
              <p:cNvSpPr/>
              <p:nvPr/>
            </p:nvSpPr>
            <p:spPr>
              <a:xfrm>
                <a:off x="0" y="990540"/>
                <a:ext cx="8625385" cy="2250681"/>
              </a:xfrm>
              <a:prstGeom prst="rect">
                <a:avLst/>
              </a:prstGeom>
            </p:spPr>
            <p:txBody>
              <a:bodyPr wrap="square">
                <a:spAutoFit/>
              </a:bodyPr>
              <a:lstStyle/>
              <a:p>
                <a:pPr algn="just"/>
                <a:r>
                  <a:rPr lang="en-IN" sz="2000" dirty="0">
                    <a:latin typeface="Times New Roman" panose="02020603050405020304" pitchFamily="18" charset="0"/>
                    <a:cs typeface="Times New Roman" panose="02020603050405020304" pitchFamily="18" charset="0"/>
                  </a:rPr>
                  <a:t>The capacity of a material to absorb energy when it is deformed elastically and then, upon unloading, to have this energy recovered. This property is quantified as </a:t>
                </a:r>
                <a:r>
                  <a:rPr lang="en-IN" sz="2000" i="1" dirty="0">
                    <a:latin typeface="Times New Roman" panose="02020603050405020304" pitchFamily="18" charset="0"/>
                    <a:cs typeface="Times New Roman" panose="02020603050405020304" pitchFamily="18" charset="0"/>
                  </a:rPr>
                  <a:t>modulus of resilience</a:t>
                </a:r>
                <a:r>
                  <a:rPr lang="en-IN" sz="2000" dirty="0">
                    <a:latin typeface="Times New Roman" panose="02020603050405020304" pitchFamily="18" charset="0"/>
                    <a:cs typeface="Times New Roman" panose="02020603050405020304" pitchFamily="18" charset="0"/>
                  </a:rPr>
                  <a:t>. Its units are N–m/m</a:t>
                </a:r>
                <a:r>
                  <a:rPr lang="en-IN" sz="2000" baseline="30000" dirty="0">
                    <a:latin typeface="Times New Roman" panose="02020603050405020304" pitchFamily="18" charset="0"/>
                    <a:cs typeface="Times New Roman" panose="02020603050405020304" pitchFamily="18" charset="0"/>
                  </a:rPr>
                  <a:t>3</a:t>
                </a:r>
                <a:r>
                  <a:rPr lang="en-IN" sz="2000" dirty="0">
                    <a:latin typeface="Times New Roman" panose="02020603050405020304" pitchFamily="18" charset="0"/>
                    <a:cs typeface="Times New Roman" panose="02020603050405020304" pitchFamily="18" charset="0"/>
                  </a:rPr>
                  <a:t> i.e., energy per unit volume.</a:t>
                </a:r>
              </a:p>
              <a:p>
                <a:pPr algn="just"/>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𝑈</m:t>
                          </m:r>
                        </m:e>
                        <m:sub>
                          <m:r>
                            <a:rPr lang="en-IN" sz="2000" b="0" i="1" smtClean="0">
                              <a:latin typeface="Cambria Math" panose="02040503050406030204" pitchFamily="18" charset="0"/>
                              <a:cs typeface="Times New Roman" panose="02020603050405020304" pitchFamily="18" charset="0"/>
                            </a:rPr>
                            <m:t>𝑟</m:t>
                          </m:r>
                        </m:sub>
                      </m:sSub>
                      <m:r>
                        <a:rPr lang="en-IN" sz="2000" b="0" i="1" smtClean="0">
                          <a:latin typeface="Cambria Math" panose="02040503050406030204" pitchFamily="18" charset="0"/>
                          <a:cs typeface="Times New Roman" panose="02020603050405020304" pitchFamily="18" charset="0"/>
                        </a:rPr>
                        <m:t>=</m:t>
                      </m:r>
                      <m:nary>
                        <m:naryPr>
                          <m:limLoc m:val="undOvr"/>
                          <m:ctrlPr>
                            <a:rPr lang="en-IN" sz="2000" b="0" i="1" smtClean="0">
                              <a:latin typeface="Cambria Math" panose="02040503050406030204" pitchFamily="18" charset="0"/>
                              <a:cs typeface="Times New Roman" panose="02020603050405020304" pitchFamily="18" charset="0"/>
                            </a:rPr>
                          </m:ctrlPr>
                        </m:naryPr>
                        <m:sub>
                          <m:r>
                            <m:rPr>
                              <m:brk m:alnAt="24"/>
                            </m:rPr>
                            <a:rPr lang="en-IN" sz="2000" b="0" i="1" smtClean="0">
                              <a:latin typeface="Cambria Math" panose="02040503050406030204" pitchFamily="18" charset="0"/>
                              <a:cs typeface="Times New Roman" panose="02020603050405020304" pitchFamily="18" charset="0"/>
                            </a:rPr>
                            <m:t>0</m:t>
                          </m:r>
                        </m:sub>
                        <m:sup>
                          <m:sSub>
                            <m:sSubPr>
                              <m:ctrlPr>
                                <a:rPr lang="en-IN" sz="2000" b="0" i="1" smtClean="0">
                                  <a:latin typeface="Cambria Math" panose="02040503050406030204" pitchFamily="18" charset="0"/>
                                  <a:cs typeface="Times New Roman" panose="02020603050405020304" pitchFamily="18" charset="0"/>
                                </a:rPr>
                              </m:ctrlPr>
                            </m:sSubPr>
                            <m:e>
                              <m:r>
                                <a:rPr lang="en-IN" sz="2000" i="1">
                                  <a:latin typeface="Cambria Math" panose="02040503050406030204" pitchFamily="18" charset="0"/>
                                  <a:ea typeface="Cambria Math" panose="02040503050406030204" pitchFamily="18" charset="0"/>
                                  <a:cs typeface="Times New Roman" panose="02020603050405020304" pitchFamily="18" charset="0"/>
                                </a:rPr>
                                <m:t>𝜖</m:t>
                              </m:r>
                            </m:e>
                            <m:sub>
                              <m:r>
                                <a:rPr lang="en-IN" sz="2000" b="0" i="1" smtClean="0">
                                  <a:latin typeface="Cambria Math" panose="02040503050406030204" pitchFamily="18" charset="0"/>
                                  <a:cs typeface="Times New Roman" panose="02020603050405020304" pitchFamily="18" charset="0"/>
                                </a:rPr>
                                <m:t>𝑦</m:t>
                              </m:r>
                            </m:sub>
                          </m:sSub>
                        </m:sup>
                        <m:e>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𝜎</m:t>
                          </m:r>
                          <m:r>
                            <m:rPr>
                              <m:sty m:val="p"/>
                            </m:rPr>
                            <a:rPr lang="en-IN" sz="2000" b="0" i="0" smtClean="0">
                              <a:latin typeface="Cambria Math" panose="02040503050406030204" pitchFamily="18" charset="0"/>
                              <a:ea typeface="Cambria Math" panose="02040503050406030204" pitchFamily="18" charset="0"/>
                              <a:cs typeface="Times New Roman" panose="02020603050405020304" pitchFamily="18" charset="0"/>
                            </a:rPr>
                            <m:t>d</m:t>
                          </m:r>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𝜖</m:t>
                          </m:r>
                        </m:e>
                      </m:nary>
                    </m:oMath>
                  </m:oMathPara>
                </a14:m>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Where, </a:t>
                </a:r>
                <a:r>
                  <a:rPr lang="el-GR" sz="2000" i="1" dirty="0">
                    <a:latin typeface="Times New Roman" panose="02020603050405020304" pitchFamily="18" charset="0"/>
                    <a:cs typeface="Times New Roman" panose="02020603050405020304" pitchFamily="18" charset="0"/>
                  </a:rPr>
                  <a:t>ϵ</a:t>
                </a:r>
                <a:r>
                  <a:rPr lang="en-IN" sz="2000" i="1" baseline="-25000" dirty="0">
                    <a:latin typeface="Times New Roman" panose="02020603050405020304" pitchFamily="18" charset="0"/>
                    <a:cs typeface="Times New Roman" panose="02020603050405020304" pitchFamily="18" charset="0"/>
                  </a:rPr>
                  <a:t>y</a:t>
                </a:r>
                <a:r>
                  <a:rPr lang="en-IN" sz="2000" dirty="0">
                    <a:latin typeface="Times New Roman" panose="02020603050405020304" pitchFamily="18" charset="0"/>
                    <a:cs typeface="Times New Roman" panose="02020603050405020304" pitchFamily="18" charset="0"/>
                  </a:rPr>
                  <a:t> is the strain at yield point.</a:t>
                </a:r>
              </a:p>
            </p:txBody>
          </p:sp>
        </mc:Choice>
        <mc:Fallback xmlns="">
          <p:sp>
            <p:nvSpPr>
              <p:cNvPr id="8" name="Rectangle 7"/>
              <p:cNvSpPr>
                <a:spLocks noRot="1" noChangeAspect="1" noMove="1" noResize="1" noEditPoints="1" noAdjustHandles="1" noChangeArrowheads="1" noChangeShapeType="1" noTextEdit="1"/>
              </p:cNvSpPr>
              <p:nvPr/>
            </p:nvSpPr>
            <p:spPr>
              <a:xfrm>
                <a:off x="0" y="990540"/>
                <a:ext cx="8625385" cy="2250681"/>
              </a:xfrm>
              <a:prstGeom prst="rect">
                <a:avLst/>
              </a:prstGeom>
              <a:blipFill rotWithShape="0">
                <a:blip r:embed="rId3"/>
                <a:stretch>
                  <a:fillRect l="-707" t="-1351" r="-707" b="-3784"/>
                </a:stretch>
              </a:blipFill>
            </p:spPr>
            <p:txBody>
              <a:bodyPr/>
              <a:lstStyle/>
              <a:p>
                <a:r>
                  <a:rPr lang="en-IN">
                    <a:noFill/>
                  </a:rPr>
                  <a:t> </a:t>
                </a:r>
              </a:p>
            </p:txBody>
          </p:sp>
        </mc:Fallback>
      </mc:AlternateContent>
      <p:pic>
        <p:nvPicPr>
          <p:cNvPr id="7" name="Picture 6"/>
          <p:cNvPicPr>
            <a:picLocks noChangeAspect="1"/>
          </p:cNvPicPr>
          <p:nvPr/>
        </p:nvPicPr>
        <p:blipFill>
          <a:blip r:embed="rId4"/>
          <a:stretch>
            <a:fillRect/>
          </a:stretch>
        </p:blipFill>
        <p:spPr>
          <a:xfrm>
            <a:off x="8526865" y="523220"/>
            <a:ext cx="3479772" cy="5358965"/>
          </a:xfrm>
          <a:prstGeom prst="rect">
            <a:avLst/>
          </a:prstGeom>
        </p:spPr>
      </p:pic>
      <p:pic>
        <p:nvPicPr>
          <p:cNvPr id="9" name="Picture 8"/>
          <p:cNvPicPr>
            <a:picLocks noChangeAspect="1"/>
          </p:cNvPicPr>
          <p:nvPr/>
        </p:nvPicPr>
        <p:blipFill>
          <a:blip r:embed="rId5"/>
          <a:stretch>
            <a:fillRect/>
          </a:stretch>
        </p:blipFill>
        <p:spPr>
          <a:xfrm>
            <a:off x="3418317" y="3345631"/>
            <a:ext cx="1810283" cy="725820"/>
          </a:xfrm>
          <a:prstGeom prst="rect">
            <a:avLst/>
          </a:prstGeom>
        </p:spPr>
      </p:pic>
    </p:spTree>
    <p:extLst>
      <p:ext uri="{BB962C8B-B14F-4D97-AF65-F5344CB8AC3E}">
        <p14:creationId xmlns:p14="http://schemas.microsoft.com/office/powerpoint/2010/main" val="2652837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Plastic Deformation – Uniaxial Tension Test</a:t>
            </a:r>
          </a:p>
        </p:txBody>
      </p:sp>
      <p:sp>
        <p:nvSpPr>
          <p:cNvPr id="10" name="Rectangle 9"/>
          <p:cNvSpPr/>
          <p:nvPr/>
        </p:nvSpPr>
        <p:spPr>
          <a:xfrm>
            <a:off x="0" y="570173"/>
            <a:ext cx="4445392" cy="400110"/>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Toughness</a:t>
            </a:r>
          </a:p>
        </p:txBody>
      </p:sp>
      <mc:AlternateContent xmlns:mc="http://schemas.openxmlformats.org/markup-compatibility/2006" xmlns:a14="http://schemas.microsoft.com/office/drawing/2010/main">
        <mc:Choice Requires="a14">
          <p:sp>
            <p:nvSpPr>
              <p:cNvPr id="8" name="Rectangle 7"/>
              <p:cNvSpPr/>
              <p:nvPr/>
            </p:nvSpPr>
            <p:spPr>
              <a:xfrm>
                <a:off x="0" y="990540"/>
                <a:ext cx="12192000" cy="1944571"/>
              </a:xfrm>
              <a:prstGeom prst="rect">
                <a:avLst/>
              </a:prstGeom>
            </p:spPr>
            <p:txBody>
              <a:bodyPr wrap="square">
                <a:spAutoFit/>
              </a:bodyPr>
              <a:lstStyle/>
              <a:p>
                <a:pPr algn="just"/>
                <a:r>
                  <a:rPr lang="en-IN" sz="2000" dirty="0">
                    <a:latin typeface="Times New Roman" panose="02020603050405020304" pitchFamily="18" charset="0"/>
                    <a:cs typeface="Times New Roman" panose="02020603050405020304" pitchFamily="18" charset="0"/>
                  </a:rPr>
                  <a:t>The capacity of a material to absorb energy up to fracture. This property is quantified as </a:t>
                </a:r>
                <a:r>
                  <a:rPr lang="en-IN" sz="2000" i="1" dirty="0">
                    <a:latin typeface="Times New Roman" panose="02020603050405020304" pitchFamily="18" charset="0"/>
                    <a:cs typeface="Times New Roman" panose="02020603050405020304" pitchFamily="18" charset="0"/>
                  </a:rPr>
                  <a:t>toughness</a:t>
                </a:r>
                <a:r>
                  <a:rPr lang="en-IN" sz="2000" dirty="0">
                    <a:latin typeface="Times New Roman" panose="02020603050405020304" pitchFamily="18" charset="0"/>
                    <a:cs typeface="Times New Roman" panose="02020603050405020304" pitchFamily="18" charset="0"/>
                  </a:rPr>
                  <a:t>. Its units are also N–m/m</a:t>
                </a:r>
                <a:r>
                  <a:rPr lang="en-IN" sz="2000" baseline="30000" dirty="0">
                    <a:latin typeface="Times New Roman" panose="02020603050405020304" pitchFamily="18" charset="0"/>
                    <a:cs typeface="Times New Roman" panose="02020603050405020304" pitchFamily="18" charset="0"/>
                  </a:rPr>
                  <a:t>3</a:t>
                </a:r>
                <a:r>
                  <a:rPr lang="en-IN" sz="2000" dirty="0">
                    <a:latin typeface="Times New Roman" panose="02020603050405020304" pitchFamily="18" charset="0"/>
                    <a:cs typeface="Times New Roman" panose="02020603050405020304" pitchFamily="18" charset="0"/>
                  </a:rPr>
                  <a:t> i.e., energy per unit volume.</a:t>
                </a:r>
              </a:p>
              <a:p>
                <a:pPr algn="just"/>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𝑈</m:t>
                          </m:r>
                        </m:e>
                        <m:sub>
                          <m:r>
                            <a:rPr lang="en-IN" sz="2000" b="0" i="1" smtClean="0">
                              <a:latin typeface="Cambria Math" panose="02040503050406030204" pitchFamily="18" charset="0"/>
                              <a:cs typeface="Times New Roman" panose="02020603050405020304" pitchFamily="18" charset="0"/>
                            </a:rPr>
                            <m:t>𝑟</m:t>
                          </m:r>
                        </m:sub>
                      </m:sSub>
                      <m:r>
                        <a:rPr lang="en-IN" sz="2000" b="0" i="1" smtClean="0">
                          <a:latin typeface="Cambria Math" panose="02040503050406030204" pitchFamily="18" charset="0"/>
                          <a:cs typeface="Times New Roman" panose="02020603050405020304" pitchFamily="18" charset="0"/>
                        </a:rPr>
                        <m:t>=</m:t>
                      </m:r>
                      <m:nary>
                        <m:naryPr>
                          <m:limLoc m:val="undOvr"/>
                          <m:ctrlPr>
                            <a:rPr lang="en-IN" sz="2000" b="0" i="1" smtClean="0">
                              <a:latin typeface="Cambria Math" panose="02040503050406030204" pitchFamily="18" charset="0"/>
                              <a:cs typeface="Times New Roman" panose="02020603050405020304" pitchFamily="18" charset="0"/>
                            </a:rPr>
                          </m:ctrlPr>
                        </m:naryPr>
                        <m:sub>
                          <m:r>
                            <m:rPr>
                              <m:brk m:alnAt="24"/>
                            </m:rPr>
                            <a:rPr lang="en-IN" sz="2000" b="0" i="1" smtClean="0">
                              <a:latin typeface="Cambria Math" panose="02040503050406030204" pitchFamily="18" charset="0"/>
                              <a:cs typeface="Times New Roman" panose="02020603050405020304" pitchFamily="18" charset="0"/>
                            </a:rPr>
                            <m:t>0</m:t>
                          </m:r>
                        </m:sub>
                        <m:sup>
                          <m:sSub>
                            <m:sSubPr>
                              <m:ctrlPr>
                                <a:rPr lang="en-IN" sz="2000" b="0" i="1" smtClean="0">
                                  <a:latin typeface="Cambria Math" panose="02040503050406030204" pitchFamily="18" charset="0"/>
                                  <a:cs typeface="Times New Roman" panose="02020603050405020304" pitchFamily="18" charset="0"/>
                                </a:rPr>
                              </m:ctrlPr>
                            </m:sSubPr>
                            <m:e>
                              <m:r>
                                <a:rPr lang="en-IN" sz="2000" i="1">
                                  <a:latin typeface="Cambria Math" panose="02040503050406030204" pitchFamily="18" charset="0"/>
                                  <a:ea typeface="Cambria Math" panose="02040503050406030204" pitchFamily="18" charset="0"/>
                                  <a:cs typeface="Times New Roman" panose="02020603050405020304" pitchFamily="18" charset="0"/>
                                </a:rPr>
                                <m:t>𝜖</m:t>
                              </m:r>
                            </m:e>
                            <m:sub>
                              <m:r>
                                <a:rPr lang="en-IN" sz="2000" b="0" i="1" smtClean="0">
                                  <a:latin typeface="Cambria Math" panose="02040503050406030204" pitchFamily="18" charset="0"/>
                                  <a:cs typeface="Times New Roman" panose="02020603050405020304" pitchFamily="18" charset="0"/>
                                </a:rPr>
                                <m:t>𝑓</m:t>
                              </m:r>
                            </m:sub>
                          </m:sSub>
                        </m:sup>
                        <m:e>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𝜎</m:t>
                          </m:r>
                          <m:r>
                            <m:rPr>
                              <m:sty m:val="p"/>
                            </m:rPr>
                            <a:rPr lang="en-IN" sz="2000" b="0" i="0" smtClean="0">
                              <a:latin typeface="Cambria Math" panose="02040503050406030204" pitchFamily="18" charset="0"/>
                              <a:ea typeface="Cambria Math" panose="02040503050406030204" pitchFamily="18" charset="0"/>
                              <a:cs typeface="Times New Roman" panose="02020603050405020304" pitchFamily="18" charset="0"/>
                            </a:rPr>
                            <m:t>d</m:t>
                          </m:r>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𝜖</m:t>
                          </m:r>
                        </m:e>
                      </m:nary>
                    </m:oMath>
                  </m:oMathPara>
                </a14:m>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Where, </a:t>
                </a:r>
                <a:r>
                  <a:rPr lang="el-GR" sz="2000" i="1" dirty="0">
                    <a:latin typeface="Times New Roman" panose="02020603050405020304" pitchFamily="18" charset="0"/>
                    <a:cs typeface="Times New Roman" panose="02020603050405020304" pitchFamily="18" charset="0"/>
                  </a:rPr>
                  <a:t>ϵ</a:t>
                </a:r>
                <a:r>
                  <a:rPr lang="en-IN" sz="2000" i="1" baseline="-25000" dirty="0">
                    <a:latin typeface="Times New Roman" panose="02020603050405020304" pitchFamily="18" charset="0"/>
                    <a:cs typeface="Times New Roman" panose="02020603050405020304" pitchFamily="18" charset="0"/>
                  </a:rPr>
                  <a:t>f</a:t>
                </a:r>
                <a:r>
                  <a:rPr lang="en-IN" sz="2000" dirty="0">
                    <a:latin typeface="Times New Roman" panose="02020603050405020304" pitchFamily="18" charset="0"/>
                    <a:cs typeface="Times New Roman" panose="02020603050405020304" pitchFamily="18" charset="0"/>
                  </a:rPr>
                  <a:t> is the strain at fracture.</a:t>
                </a:r>
              </a:p>
            </p:txBody>
          </p:sp>
        </mc:Choice>
        <mc:Fallback xmlns="">
          <p:sp>
            <p:nvSpPr>
              <p:cNvPr id="8" name="Rectangle 7"/>
              <p:cNvSpPr>
                <a:spLocks noRot="1" noChangeAspect="1" noMove="1" noResize="1" noEditPoints="1" noAdjustHandles="1" noChangeArrowheads="1" noChangeShapeType="1" noTextEdit="1"/>
              </p:cNvSpPr>
              <p:nvPr/>
            </p:nvSpPr>
            <p:spPr>
              <a:xfrm>
                <a:off x="0" y="990540"/>
                <a:ext cx="12192000" cy="1944571"/>
              </a:xfrm>
              <a:prstGeom prst="rect">
                <a:avLst/>
              </a:prstGeom>
              <a:blipFill rotWithShape="0">
                <a:blip r:embed="rId3"/>
                <a:stretch>
                  <a:fillRect l="-500" t="-1567" r="-500" b="-4702"/>
                </a:stretch>
              </a:blipFill>
            </p:spPr>
            <p:txBody>
              <a:bodyPr/>
              <a:lstStyle/>
              <a:p>
                <a:r>
                  <a:rPr lang="en-IN">
                    <a:noFill/>
                  </a:rPr>
                  <a:t> </a:t>
                </a:r>
              </a:p>
            </p:txBody>
          </p:sp>
        </mc:Fallback>
      </mc:AlternateContent>
    </p:spTree>
    <p:extLst>
      <p:ext uri="{BB962C8B-B14F-4D97-AF65-F5344CB8AC3E}">
        <p14:creationId xmlns:p14="http://schemas.microsoft.com/office/powerpoint/2010/main" val="2621904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Plastic Deformation – Uniaxial Tension Test</a:t>
            </a:r>
          </a:p>
        </p:txBody>
      </p:sp>
      <p:sp>
        <p:nvSpPr>
          <p:cNvPr id="10" name="Rectangle 9"/>
          <p:cNvSpPr/>
          <p:nvPr/>
        </p:nvSpPr>
        <p:spPr>
          <a:xfrm>
            <a:off x="0" y="570173"/>
            <a:ext cx="4445392" cy="400110"/>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True Stress – True Strain</a:t>
            </a:r>
          </a:p>
        </p:txBody>
      </p:sp>
      <p:pic>
        <p:nvPicPr>
          <p:cNvPr id="2" name="Picture 1"/>
          <p:cNvPicPr>
            <a:picLocks noChangeAspect="1"/>
          </p:cNvPicPr>
          <p:nvPr/>
        </p:nvPicPr>
        <p:blipFill>
          <a:blip r:embed="rId3"/>
          <a:stretch>
            <a:fillRect/>
          </a:stretch>
        </p:blipFill>
        <p:spPr>
          <a:xfrm>
            <a:off x="144609" y="1120877"/>
            <a:ext cx="1416765" cy="1094008"/>
          </a:xfrm>
          <a:prstGeom prst="rect">
            <a:avLst/>
          </a:prstGeom>
        </p:spPr>
      </p:pic>
      <p:pic>
        <p:nvPicPr>
          <p:cNvPr id="3" name="Picture 2"/>
          <p:cNvPicPr>
            <a:picLocks noChangeAspect="1"/>
          </p:cNvPicPr>
          <p:nvPr/>
        </p:nvPicPr>
        <p:blipFill>
          <a:blip r:embed="rId4"/>
          <a:stretch>
            <a:fillRect/>
          </a:stretch>
        </p:blipFill>
        <p:spPr>
          <a:xfrm>
            <a:off x="1887992" y="1120876"/>
            <a:ext cx="1459848" cy="918409"/>
          </a:xfrm>
          <a:prstGeom prst="rect">
            <a:avLst/>
          </a:prstGeom>
        </p:spPr>
      </p:pic>
      <p:pic>
        <p:nvPicPr>
          <p:cNvPr id="5" name="Picture 4"/>
          <p:cNvPicPr>
            <a:picLocks noChangeAspect="1"/>
          </p:cNvPicPr>
          <p:nvPr/>
        </p:nvPicPr>
        <p:blipFill>
          <a:blip r:embed="rId5"/>
          <a:stretch>
            <a:fillRect/>
          </a:stretch>
        </p:blipFill>
        <p:spPr>
          <a:xfrm>
            <a:off x="843072" y="3520426"/>
            <a:ext cx="1521188" cy="445500"/>
          </a:xfrm>
          <a:prstGeom prst="rect">
            <a:avLst/>
          </a:prstGeom>
        </p:spPr>
      </p:pic>
      <p:pic>
        <p:nvPicPr>
          <p:cNvPr id="6" name="Picture 5"/>
          <p:cNvPicPr>
            <a:picLocks noChangeAspect="1"/>
          </p:cNvPicPr>
          <p:nvPr/>
        </p:nvPicPr>
        <p:blipFill>
          <a:blip r:embed="rId6"/>
          <a:stretch>
            <a:fillRect/>
          </a:stretch>
        </p:blipFill>
        <p:spPr>
          <a:xfrm>
            <a:off x="487656" y="4192920"/>
            <a:ext cx="2232021" cy="1531297"/>
          </a:xfrm>
          <a:prstGeom prst="rect">
            <a:avLst/>
          </a:prstGeom>
        </p:spPr>
      </p:pic>
      <p:sp>
        <p:nvSpPr>
          <p:cNvPr id="9" name="Rectangle 8"/>
          <p:cNvSpPr/>
          <p:nvPr/>
        </p:nvSpPr>
        <p:spPr>
          <a:xfrm>
            <a:off x="182355" y="2661947"/>
            <a:ext cx="5358636" cy="707886"/>
          </a:xfrm>
          <a:prstGeom prst="rect">
            <a:avLst/>
          </a:prstGeom>
        </p:spPr>
        <p:txBody>
          <a:bodyPr wrap="square">
            <a:spAutoFit/>
          </a:bodyPr>
          <a:lstStyle/>
          <a:p>
            <a:pPr algn="just"/>
            <a:r>
              <a:rPr lang="en-IN" sz="2000" dirty="0">
                <a:latin typeface="Times New Roman" panose="02020603050405020304" pitchFamily="18" charset="0"/>
                <a:cs typeface="Times New Roman" panose="02020603050405020304" pitchFamily="18" charset="0"/>
              </a:rPr>
              <a:t>Assuming no change in volume during the entire deformation process</a:t>
            </a:r>
          </a:p>
        </p:txBody>
      </p:sp>
      <p:pic>
        <p:nvPicPr>
          <p:cNvPr id="7" name="Picture 6"/>
          <p:cNvPicPr>
            <a:picLocks noChangeAspect="1"/>
          </p:cNvPicPr>
          <p:nvPr/>
        </p:nvPicPr>
        <p:blipFill>
          <a:blip r:embed="rId7"/>
          <a:stretch>
            <a:fillRect/>
          </a:stretch>
        </p:blipFill>
        <p:spPr>
          <a:xfrm>
            <a:off x="5791267" y="1310185"/>
            <a:ext cx="6400733" cy="4165637"/>
          </a:xfrm>
          <a:prstGeom prst="rect">
            <a:avLst/>
          </a:prstGeom>
        </p:spPr>
      </p:pic>
      <p:pic>
        <p:nvPicPr>
          <p:cNvPr id="11" name="Picture 10"/>
          <p:cNvPicPr>
            <a:picLocks noChangeAspect="1"/>
          </p:cNvPicPr>
          <p:nvPr/>
        </p:nvPicPr>
        <p:blipFill>
          <a:blip r:embed="rId8"/>
          <a:stretch>
            <a:fillRect/>
          </a:stretch>
        </p:blipFill>
        <p:spPr>
          <a:xfrm>
            <a:off x="7860885" y="6066459"/>
            <a:ext cx="1695401" cy="650710"/>
          </a:xfrm>
          <a:prstGeom prst="rect">
            <a:avLst/>
          </a:prstGeom>
        </p:spPr>
      </p:pic>
      <p:sp>
        <p:nvSpPr>
          <p:cNvPr id="12" name="Rectangle 11"/>
          <p:cNvSpPr/>
          <p:nvPr/>
        </p:nvSpPr>
        <p:spPr>
          <a:xfrm>
            <a:off x="318833" y="6011868"/>
            <a:ext cx="7323688" cy="707886"/>
          </a:xfrm>
          <a:prstGeom prst="rect">
            <a:avLst/>
          </a:prstGeom>
        </p:spPr>
        <p:txBody>
          <a:bodyPr wrap="square">
            <a:spAutoFit/>
          </a:bodyPr>
          <a:lstStyle/>
          <a:p>
            <a:pPr algn="just"/>
            <a:r>
              <a:rPr lang="en-IN" sz="2000" dirty="0">
                <a:latin typeface="Times New Roman" panose="02020603050405020304" pitchFamily="18" charset="0"/>
                <a:cs typeface="Times New Roman" panose="02020603050405020304" pitchFamily="18" charset="0"/>
              </a:rPr>
              <a:t>The true stress–true strain relationship from the onset of plastic deformation to necking can be described using</a:t>
            </a:r>
          </a:p>
        </p:txBody>
      </p:sp>
    </p:spTree>
    <p:extLst>
      <p:ext uri="{BB962C8B-B14F-4D97-AF65-F5344CB8AC3E}">
        <p14:creationId xmlns:p14="http://schemas.microsoft.com/office/powerpoint/2010/main" val="222501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Plastic Deformation – Uniaxial Tension Test</a:t>
            </a:r>
          </a:p>
        </p:txBody>
      </p:sp>
      <p:sp>
        <p:nvSpPr>
          <p:cNvPr id="10" name="Rectangle 9"/>
          <p:cNvSpPr/>
          <p:nvPr/>
        </p:nvSpPr>
        <p:spPr>
          <a:xfrm>
            <a:off x="0" y="570173"/>
            <a:ext cx="4445392" cy="400110"/>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True Stress – True Strain</a:t>
            </a:r>
          </a:p>
        </p:txBody>
      </p:sp>
      <p:pic>
        <p:nvPicPr>
          <p:cNvPr id="11" name="Picture 10"/>
          <p:cNvPicPr>
            <a:picLocks noChangeAspect="1"/>
          </p:cNvPicPr>
          <p:nvPr/>
        </p:nvPicPr>
        <p:blipFill>
          <a:blip r:embed="rId3"/>
          <a:stretch>
            <a:fillRect/>
          </a:stretch>
        </p:blipFill>
        <p:spPr>
          <a:xfrm>
            <a:off x="7765350" y="1194208"/>
            <a:ext cx="1695401" cy="650710"/>
          </a:xfrm>
          <a:prstGeom prst="rect">
            <a:avLst/>
          </a:prstGeom>
        </p:spPr>
      </p:pic>
      <p:sp>
        <p:nvSpPr>
          <p:cNvPr id="12" name="Rectangle 11"/>
          <p:cNvSpPr/>
          <p:nvPr/>
        </p:nvSpPr>
        <p:spPr>
          <a:xfrm>
            <a:off x="223298" y="1137032"/>
            <a:ext cx="7323688" cy="707886"/>
          </a:xfrm>
          <a:prstGeom prst="rect">
            <a:avLst/>
          </a:prstGeom>
        </p:spPr>
        <p:txBody>
          <a:bodyPr wrap="square">
            <a:spAutoFit/>
          </a:bodyPr>
          <a:lstStyle/>
          <a:p>
            <a:pPr algn="just"/>
            <a:r>
              <a:rPr lang="en-IN" sz="2000" dirty="0">
                <a:latin typeface="Times New Roman" panose="02020603050405020304" pitchFamily="18" charset="0"/>
                <a:cs typeface="Times New Roman" panose="02020603050405020304" pitchFamily="18" charset="0"/>
              </a:rPr>
              <a:t>The true stress–true strain relationship from the onset of plastic deformation to necking can be described using</a:t>
            </a:r>
          </a:p>
        </p:txBody>
      </p:sp>
      <p:pic>
        <p:nvPicPr>
          <p:cNvPr id="8" name="Picture 7"/>
          <p:cNvPicPr>
            <a:picLocks noChangeAspect="1"/>
          </p:cNvPicPr>
          <p:nvPr/>
        </p:nvPicPr>
        <p:blipFill>
          <a:blip r:embed="rId4"/>
          <a:stretch>
            <a:fillRect/>
          </a:stretch>
        </p:blipFill>
        <p:spPr>
          <a:xfrm>
            <a:off x="1861751" y="1844918"/>
            <a:ext cx="6683522" cy="4801542"/>
          </a:xfrm>
          <a:prstGeom prst="rect">
            <a:avLst/>
          </a:prstGeom>
        </p:spPr>
      </p:pic>
    </p:spTree>
    <p:extLst>
      <p:ext uri="{BB962C8B-B14F-4D97-AF65-F5344CB8AC3E}">
        <p14:creationId xmlns:p14="http://schemas.microsoft.com/office/powerpoint/2010/main" val="28960631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Plastic Deformation – Uniaxial Tension Test</a:t>
            </a:r>
          </a:p>
        </p:txBody>
      </p:sp>
      <p:sp>
        <p:nvSpPr>
          <p:cNvPr id="10" name="Rectangle 9"/>
          <p:cNvSpPr/>
          <p:nvPr/>
        </p:nvSpPr>
        <p:spPr>
          <a:xfrm>
            <a:off x="0" y="570173"/>
            <a:ext cx="10399594" cy="400110"/>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Elastic Strain Recovery After Certain Amount of Plastic Deformation</a:t>
            </a:r>
          </a:p>
        </p:txBody>
      </p:sp>
      <p:sp>
        <p:nvSpPr>
          <p:cNvPr id="12" name="Rectangle 11"/>
          <p:cNvSpPr/>
          <p:nvPr/>
        </p:nvSpPr>
        <p:spPr>
          <a:xfrm>
            <a:off x="223297" y="1137032"/>
            <a:ext cx="6975271" cy="2246769"/>
          </a:xfrm>
          <a:prstGeom prst="rect">
            <a:avLst/>
          </a:prstGeom>
        </p:spPr>
        <p:txBody>
          <a:bodyPr wrap="square">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unloading path is parallel to the initial elastic loading.</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slope of this unloading path is same as the Elastic modulus.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Thus, one can compute the elastic recovery strain. Then, whatever is left out is the permanent strain or residual strain.</a:t>
            </a:r>
          </a:p>
        </p:txBody>
      </p:sp>
      <p:pic>
        <p:nvPicPr>
          <p:cNvPr id="2" name="Picture 1"/>
          <p:cNvPicPr>
            <a:picLocks noChangeAspect="1"/>
          </p:cNvPicPr>
          <p:nvPr/>
        </p:nvPicPr>
        <p:blipFill>
          <a:blip r:embed="rId3"/>
          <a:stretch>
            <a:fillRect/>
          </a:stretch>
        </p:blipFill>
        <p:spPr>
          <a:xfrm>
            <a:off x="7198568" y="1137032"/>
            <a:ext cx="4993432" cy="5140317"/>
          </a:xfrm>
          <a:prstGeom prst="rect">
            <a:avLst/>
          </a:prstGeom>
        </p:spPr>
      </p:pic>
    </p:spTree>
    <p:extLst>
      <p:ext uri="{BB962C8B-B14F-4D97-AF65-F5344CB8AC3E}">
        <p14:creationId xmlns:p14="http://schemas.microsoft.com/office/powerpoint/2010/main" val="1561752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Hardness</a:t>
            </a:r>
          </a:p>
        </p:txBody>
      </p:sp>
      <p:sp>
        <p:nvSpPr>
          <p:cNvPr id="10" name="Rectangle 9"/>
          <p:cNvSpPr/>
          <p:nvPr/>
        </p:nvSpPr>
        <p:spPr>
          <a:xfrm>
            <a:off x="0" y="570173"/>
            <a:ext cx="12192000" cy="707886"/>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Hardness is another important material property which plays significant role in applications involving hard contacts.</a:t>
            </a:r>
          </a:p>
        </p:txBody>
      </p:sp>
      <p:sp>
        <p:nvSpPr>
          <p:cNvPr id="12" name="Rectangle 11"/>
          <p:cNvSpPr/>
          <p:nvPr/>
        </p:nvSpPr>
        <p:spPr>
          <a:xfrm>
            <a:off x="0" y="1278059"/>
            <a:ext cx="12192000" cy="5324535"/>
          </a:xfrm>
          <a:prstGeom prst="rect">
            <a:avLst/>
          </a:prstGeom>
        </p:spPr>
        <p:txBody>
          <a:bodyPr wrap="square">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Earliest hardness tests – </a:t>
            </a:r>
            <a:r>
              <a:rPr lang="en-IN" sz="2000" dirty="0" err="1">
                <a:latin typeface="Times New Roman" panose="02020603050405020304" pitchFamily="18" charset="0"/>
                <a:cs typeface="Times New Roman" panose="02020603050405020304" pitchFamily="18" charset="0"/>
              </a:rPr>
              <a:t>Mohs</a:t>
            </a:r>
            <a:r>
              <a:rPr lang="en-IN" sz="2000" dirty="0">
                <a:latin typeface="Times New Roman" panose="02020603050405020304" pitchFamily="18" charset="0"/>
                <a:cs typeface="Times New Roman" panose="02020603050405020304" pitchFamily="18" charset="0"/>
              </a:rPr>
              <a:t> scale ranging from 1 for talc to 10 for diamond.</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Later on, quantitative tests were developed where a small indenter is forced into the surface of the material to be tested. The depth of penetration of the indenter and the load applied is related to a hardness number. </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For a given load, if the depth of penetration is higher, lower would be the hardness number of the material and softer would be its surface.</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Types of hardness test:</a:t>
            </a:r>
          </a:p>
          <a:p>
            <a:pPr marL="800100" lvl="1" indent="-342900" algn="just">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Rockwell test</a:t>
            </a:r>
          </a:p>
          <a:p>
            <a:pPr marL="800100" lvl="1" indent="-342900" algn="just">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q"/>
            </a:pPr>
            <a:r>
              <a:rPr lang="en-IN" sz="2000" dirty="0" err="1">
                <a:latin typeface="Times New Roman" panose="02020603050405020304" pitchFamily="18" charset="0"/>
                <a:cs typeface="Times New Roman" panose="02020603050405020304" pitchFamily="18" charset="0"/>
              </a:rPr>
              <a:t>Brinell</a:t>
            </a:r>
            <a:r>
              <a:rPr lang="en-IN" sz="2000" dirty="0">
                <a:latin typeface="Times New Roman" panose="02020603050405020304" pitchFamily="18" charset="0"/>
                <a:cs typeface="Times New Roman" panose="02020603050405020304" pitchFamily="18" charset="0"/>
              </a:rPr>
              <a:t> test</a:t>
            </a:r>
          </a:p>
          <a:p>
            <a:pPr marL="800100" lvl="1" indent="-342900" algn="just">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Vickers </a:t>
            </a:r>
            <a:r>
              <a:rPr lang="en-IN" sz="2000" dirty="0" err="1">
                <a:latin typeface="Times New Roman" panose="02020603050405020304" pitchFamily="18" charset="0"/>
                <a:cs typeface="Times New Roman" panose="02020603050405020304" pitchFamily="18" charset="0"/>
              </a:rPr>
              <a:t>Microhardness</a:t>
            </a:r>
            <a:r>
              <a:rPr lang="en-IN" sz="2000" dirty="0">
                <a:latin typeface="Times New Roman" panose="02020603050405020304" pitchFamily="18" charset="0"/>
                <a:cs typeface="Times New Roman" panose="02020603050405020304" pitchFamily="18" charset="0"/>
              </a:rPr>
              <a:t> test</a:t>
            </a:r>
          </a:p>
          <a:p>
            <a:pPr marL="800100" lvl="1" indent="-342900" algn="just">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q"/>
            </a:pPr>
            <a:r>
              <a:rPr lang="en-IN" sz="2000" dirty="0" err="1">
                <a:latin typeface="Times New Roman" panose="02020603050405020304" pitchFamily="18" charset="0"/>
                <a:cs typeface="Times New Roman" panose="02020603050405020304" pitchFamily="18" charset="0"/>
              </a:rPr>
              <a:t>Knoop</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Microhardness</a:t>
            </a:r>
            <a:r>
              <a:rPr lang="en-IN" sz="2000" dirty="0">
                <a:latin typeface="Times New Roman" panose="02020603050405020304" pitchFamily="18" charset="0"/>
                <a:cs typeface="Times New Roman" panose="02020603050405020304" pitchFamily="18" charset="0"/>
              </a:rPr>
              <a:t> test</a:t>
            </a:r>
          </a:p>
        </p:txBody>
      </p:sp>
    </p:spTree>
    <p:extLst>
      <p:ext uri="{BB962C8B-B14F-4D97-AF65-F5344CB8AC3E}">
        <p14:creationId xmlns:p14="http://schemas.microsoft.com/office/powerpoint/2010/main" val="292233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Hardness</a:t>
            </a:r>
          </a:p>
        </p:txBody>
      </p:sp>
      <p:pic>
        <p:nvPicPr>
          <p:cNvPr id="2" name="Picture 1"/>
          <p:cNvPicPr>
            <a:picLocks noChangeAspect="1"/>
          </p:cNvPicPr>
          <p:nvPr/>
        </p:nvPicPr>
        <p:blipFill>
          <a:blip r:embed="rId3"/>
          <a:stretch>
            <a:fillRect/>
          </a:stretch>
        </p:blipFill>
        <p:spPr>
          <a:xfrm>
            <a:off x="27965" y="523220"/>
            <a:ext cx="12188439" cy="5836637"/>
          </a:xfrm>
          <a:prstGeom prst="rect">
            <a:avLst/>
          </a:prstGeom>
        </p:spPr>
      </p:pic>
    </p:spTree>
    <p:extLst>
      <p:ext uri="{BB962C8B-B14F-4D97-AF65-F5344CB8AC3E}">
        <p14:creationId xmlns:p14="http://schemas.microsoft.com/office/powerpoint/2010/main" val="6570787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To account for variations in determination of properties</a:t>
            </a:r>
          </a:p>
        </p:txBody>
      </p:sp>
      <p:sp>
        <p:nvSpPr>
          <p:cNvPr id="5" name="Rectangle 4"/>
          <p:cNvSpPr/>
          <p:nvPr/>
        </p:nvSpPr>
        <p:spPr>
          <a:xfrm>
            <a:off x="0" y="523220"/>
            <a:ext cx="6280153" cy="3477875"/>
          </a:xfrm>
          <a:prstGeom prst="rect">
            <a:avLst/>
          </a:prstGeom>
        </p:spPr>
        <p:txBody>
          <a:bodyPr wrap="square">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No two material sources are same. No two operators making the specimens have same skills.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No two test setups give same kind of measurements. No two operators can record same measurements. Thus, variations are inherent in determination of material properties and they are uncontrollable.</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Normally, the method of reporting material properties involve mentioning mean and the deviation (error) as shown in the adjacent picture.</a:t>
            </a:r>
          </a:p>
        </p:txBody>
      </p:sp>
      <p:pic>
        <p:nvPicPr>
          <p:cNvPr id="1026" name="Picture 2" descr="Image result for material properties error bar"/>
          <p:cNvPicPr>
            <a:picLocks noChangeAspect="1" noChangeArrowheads="1"/>
          </p:cNvPicPr>
          <p:nvPr/>
        </p:nvPicPr>
        <p:blipFill rotWithShape="1">
          <a:blip r:embed="rId3">
            <a:extLst>
              <a:ext uri="{28A0092B-C50C-407E-A947-70E740481C1C}">
                <a14:useLocalDpi xmlns:a14="http://schemas.microsoft.com/office/drawing/2010/main" val="0"/>
              </a:ext>
            </a:extLst>
          </a:blip>
          <a:srcRect r="56163" b="9594"/>
          <a:stretch/>
        </p:blipFill>
        <p:spPr bwMode="auto">
          <a:xfrm>
            <a:off x="6280153" y="523221"/>
            <a:ext cx="5634344" cy="4758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52114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To account for uncertainty in calculation of applied loads</a:t>
            </a:r>
          </a:p>
        </p:txBody>
      </p:sp>
      <p:sp>
        <p:nvSpPr>
          <p:cNvPr id="5" name="Rectangle 4"/>
          <p:cNvSpPr/>
          <p:nvPr/>
        </p:nvSpPr>
        <p:spPr>
          <a:xfrm>
            <a:off x="0" y="523220"/>
            <a:ext cx="12191999" cy="2246769"/>
          </a:xfrm>
          <a:prstGeom prst="rect">
            <a:avLst/>
          </a:prstGeom>
        </p:spPr>
        <p:txBody>
          <a:bodyPr wrap="square">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Determination of applied loads and the computation of induced stresses also have uncertainties.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Therefore, a certain amount of </a:t>
            </a:r>
            <a:r>
              <a:rPr lang="en-IN" sz="2000" b="1" dirty="0">
                <a:latin typeface="Times New Roman" panose="02020603050405020304" pitchFamily="18" charset="0"/>
                <a:cs typeface="Times New Roman" panose="02020603050405020304" pitchFamily="18" charset="0"/>
              </a:rPr>
              <a:t>allowance</a:t>
            </a:r>
            <a:r>
              <a:rPr lang="en-IN" sz="2000" dirty="0">
                <a:latin typeface="Times New Roman" panose="02020603050405020304" pitchFamily="18" charset="0"/>
                <a:cs typeface="Times New Roman" panose="02020603050405020304" pitchFamily="18" charset="0"/>
              </a:rPr>
              <a:t> needs to be considered during design.</a:t>
            </a:r>
          </a:p>
          <a:p>
            <a:pPr marL="342900" indent="-342900" algn="just">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For example, a connecting rod is required to be designed such that it does not undergo any plastic deformation at all. For this, the stress levels within the connecting rod must be below the yield strength of the material </a:t>
            </a:r>
            <a:r>
              <a:rPr lang="el-GR" sz="2000" i="1" dirty="0">
                <a:latin typeface="Times New Roman" panose="02020603050405020304" pitchFamily="18" charset="0"/>
                <a:cs typeface="Times New Roman" panose="02020603050405020304" pitchFamily="18" charset="0"/>
              </a:rPr>
              <a:t>σ</a:t>
            </a:r>
            <a:r>
              <a:rPr lang="en-IN" sz="2000" i="1" baseline="-25000" dirty="0">
                <a:latin typeface="Times New Roman" panose="02020603050405020304" pitchFamily="18" charset="0"/>
                <a:cs typeface="Times New Roman" panose="02020603050405020304" pitchFamily="18" charset="0"/>
              </a:rPr>
              <a:t>y</a:t>
            </a:r>
            <a:r>
              <a:rPr lang="en-IN" sz="2000" dirty="0">
                <a:latin typeface="Times New Roman" panose="02020603050405020304" pitchFamily="18" charset="0"/>
                <a:cs typeface="Times New Roman" panose="02020603050405020304" pitchFamily="18" charset="0"/>
              </a:rPr>
              <a:t>. Instead of using this value, a reduced stress threshold is used  while designing the connecting rod.</a:t>
            </a:r>
          </a:p>
        </p:txBody>
      </p:sp>
      <p:pic>
        <p:nvPicPr>
          <p:cNvPr id="2" name="Picture 1"/>
          <p:cNvPicPr>
            <a:picLocks noChangeAspect="1"/>
          </p:cNvPicPr>
          <p:nvPr/>
        </p:nvPicPr>
        <p:blipFill>
          <a:blip r:embed="rId3"/>
          <a:stretch>
            <a:fillRect/>
          </a:stretch>
        </p:blipFill>
        <p:spPr>
          <a:xfrm>
            <a:off x="5076967" y="2851218"/>
            <a:ext cx="1417932" cy="803954"/>
          </a:xfrm>
          <a:prstGeom prst="rect">
            <a:avLst/>
          </a:prstGeom>
        </p:spPr>
      </p:pic>
      <p:sp>
        <p:nvSpPr>
          <p:cNvPr id="6" name="Rectangle 5"/>
          <p:cNvSpPr/>
          <p:nvPr/>
        </p:nvSpPr>
        <p:spPr>
          <a:xfrm>
            <a:off x="1" y="3655172"/>
            <a:ext cx="12191999" cy="400110"/>
          </a:xfrm>
          <a:prstGeom prst="rect">
            <a:avLst/>
          </a:prstGeom>
        </p:spPr>
        <p:txBody>
          <a:bodyPr wrap="square">
            <a:spAutoFit/>
          </a:bodyPr>
          <a:lstStyle/>
          <a:p>
            <a:pPr algn="just"/>
            <a:r>
              <a:rPr lang="en-IN" sz="2000" i="1" dirty="0">
                <a:latin typeface="Times New Roman" panose="02020603050405020304" pitchFamily="18" charset="0"/>
                <a:cs typeface="Times New Roman" panose="02020603050405020304" pitchFamily="18" charset="0"/>
              </a:rPr>
              <a:t>N</a:t>
            </a:r>
            <a:r>
              <a:rPr lang="en-IN" sz="2000" dirty="0">
                <a:latin typeface="Times New Roman" panose="02020603050405020304" pitchFamily="18" charset="0"/>
                <a:cs typeface="Times New Roman" panose="02020603050405020304" pitchFamily="18" charset="0"/>
              </a:rPr>
              <a:t> is called the </a:t>
            </a:r>
            <a:r>
              <a:rPr lang="en-IN" sz="2000" i="1" dirty="0">
                <a:latin typeface="Times New Roman" panose="02020603050405020304" pitchFamily="18" charset="0"/>
                <a:cs typeface="Times New Roman" panose="02020603050405020304" pitchFamily="18" charset="0"/>
              </a:rPr>
              <a:t>factor of safety</a:t>
            </a:r>
            <a:r>
              <a:rPr lang="en-IN" sz="2000" dirty="0">
                <a:latin typeface="Times New Roman" panose="02020603050405020304" pitchFamily="18" charset="0"/>
                <a:cs typeface="Times New Roman" panose="02020603050405020304" pitchFamily="18" charset="0"/>
              </a:rPr>
              <a:t>, usually taken in the range of 1.2 to 4.0.</a:t>
            </a:r>
          </a:p>
        </p:txBody>
      </p:sp>
    </p:spTree>
    <p:extLst>
      <p:ext uri="{BB962C8B-B14F-4D97-AF65-F5344CB8AC3E}">
        <p14:creationId xmlns:p14="http://schemas.microsoft.com/office/powerpoint/2010/main" val="15669889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Practice Problems</a:t>
            </a:r>
          </a:p>
        </p:txBody>
      </p:sp>
      <p:sp>
        <p:nvSpPr>
          <p:cNvPr id="2" name="Rectangle 1"/>
          <p:cNvSpPr/>
          <p:nvPr/>
        </p:nvSpPr>
        <p:spPr>
          <a:xfrm>
            <a:off x="0" y="523220"/>
            <a:ext cx="12192000" cy="5940088"/>
          </a:xfrm>
          <a:prstGeom prst="rect">
            <a:avLst/>
          </a:prstGeom>
        </p:spPr>
        <p:txBody>
          <a:bodyPr wrap="square">
            <a:spAutoFit/>
          </a:bodyPr>
          <a:lstStyle/>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A piece of copper originally 300 mm long is pulled in tension with a stress of 275 MPa. If the deformation is entirely elastic, what will be the resultant elongation? The elastic modulus of Copper is 110 GPa. </a:t>
            </a:r>
          </a:p>
          <a:p>
            <a:pPr marL="457200" indent="-457200" algn="just">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A tensile stress is to be applied along the long axis of a cylindrical brass rod that has a diameter of 10 mm. Determine the magnitude of the load required to produce a 2.5 X 10</a:t>
            </a:r>
            <a:r>
              <a:rPr lang="en-US" sz="2000" baseline="30000"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mm change in diameter if the deformation is entirely elastic. The elastic modulus of Brass is 97 GPa and Poisson’s ratio is 0.34.</a:t>
            </a:r>
          </a:p>
          <a:p>
            <a:pPr marL="457200" indent="-457200" algn="just">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A cylindrical specimen of steel having an original diameter of 12.8 mm is tensile tested to fracture and found to have an engineering fracture strength of 460 MPa. If its cross-sectional diameter at fracture is 10.7 mm, determine (a) the ductility in terms of percent reduction in area (b) the true stress at fracture.</a:t>
            </a:r>
          </a:p>
          <a:p>
            <a:pPr marL="457200" indent="-457200" algn="just">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Compute the strain-hardening exponent </a:t>
            </a:r>
            <a:r>
              <a:rPr lang="en-US" sz="2000" i="1" dirty="0">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 for an alloy in which a true stress of 415 MPa produces a true strain of 0.10, assuming a value of 1035 MPa for </a:t>
            </a:r>
            <a:r>
              <a:rPr lang="en-US" sz="2000" i="1" dirty="0">
                <a:latin typeface="Times New Roman" panose="02020603050405020304" pitchFamily="18" charset="0"/>
                <a:cs typeface="Times New Roman" panose="02020603050405020304" pitchFamily="18" charset="0"/>
              </a:rPr>
              <a:t>K</a:t>
            </a:r>
            <a:r>
              <a:rPr lang="en-US" sz="2000" dirty="0">
                <a:latin typeface="Times New Roman" panose="02020603050405020304" pitchFamily="18" charset="0"/>
                <a:cs typeface="Times New Roman" panose="02020603050405020304" pitchFamily="18" charset="0"/>
              </a:rPr>
              <a:t>.</a:t>
            </a:r>
          </a:p>
          <a:p>
            <a:pPr marL="457200" indent="-457200" algn="just">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A tensile-testing apparatus is to be constructed that must withstand a maximum load of 220,000 N. The design calls for two cylindrical support posts, each of which is to support half of the maximum load. Furthermore, plain-carbon (1045) steel ground and polished shafting rounds are to be used; the minimum yield and tensile strengths of this alloy are 310 MPa and 565 MPa, respectively. Specify a suitable diameter for these support posts. Use a factor of safety </a:t>
            </a:r>
            <a:r>
              <a:rPr lang="en-US" sz="2000" i="1" dirty="0">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 = 5.</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7071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8479</TotalTime>
  <Words>1781</Words>
  <Application>Microsoft Office PowerPoint</Application>
  <PresentationFormat>Widescreen</PresentationFormat>
  <Paragraphs>217</Paragraphs>
  <Slides>30</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Cambria Math</vt:lpstr>
      <vt:lpstr>Times New Roman</vt:lpstr>
      <vt:lpstr>Wingdings</vt:lpstr>
      <vt:lpstr>Office Theme</vt:lpstr>
      <vt:lpstr>Mechanical Properties of Materials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Engineering</dc:title>
  <dc:creator>Siva Prasad A V S</dc:creator>
  <cp:lastModifiedBy>jagadish151223@outlook.com</cp:lastModifiedBy>
  <cp:revision>583</cp:revision>
  <dcterms:created xsi:type="dcterms:W3CDTF">2018-09-04T10:03:30Z</dcterms:created>
  <dcterms:modified xsi:type="dcterms:W3CDTF">2024-08-20T05:41:20Z</dcterms:modified>
</cp:coreProperties>
</file>