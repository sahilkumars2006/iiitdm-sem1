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0" r:id="rId32"/>
    <p:sldId id="286" r:id="rId33"/>
    <p:sldId id="287" r:id="rId34"/>
    <p:sldId id="291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4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85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1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69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629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BC38F-76A6-475D-9A87-1AA0B17BE2A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151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Electrical and Electronic Properties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OHM’s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2944" y="523220"/>
            <a:ext cx="1787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IR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12943" y="1446550"/>
                <a:ext cx="2811439" cy="674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∝ </m:t>
                      </m:r>
                      <m:f>
                        <m:f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den>
                      </m:f>
                      <m:r>
                        <a:rPr lang="en-I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en-IN" sz="2000" b="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f>
                        <m:fPr>
                          <m:ctrlPr>
                            <a:rPr lang="en-I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IN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943" y="1446550"/>
                <a:ext cx="2811439" cy="6749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50" y="2268494"/>
            <a:ext cx="6771986" cy="408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7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Electrical Conductivity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8101" y="512190"/>
                <a:ext cx="2811439" cy="728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101" y="512190"/>
                <a:ext cx="2811439" cy="7289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63772" y="1241107"/>
            <a:ext cx="8188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equivalent statement of Ohm’s law: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57317" y="1958994"/>
                <a:ext cx="802488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ctr"/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current density;</a:t>
                </a:r>
              </a:p>
              <a:p>
                <a:pPr algn="ctr"/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electric field intensity (Voltage difference per unit length)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317" y="1958994"/>
                <a:ext cx="8024883" cy="1323439"/>
              </a:xfrm>
              <a:prstGeom prst="rect">
                <a:avLst/>
              </a:prstGeom>
              <a:blipFill rotWithShape="0">
                <a:blip r:embed="rId4"/>
                <a:stretch>
                  <a:fillRect t="-2304" b="-73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793544" y="4267403"/>
            <a:ext cx="80248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metals based on conductivities: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Conductors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Insulators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Semiconductors </a:t>
            </a:r>
          </a:p>
        </p:txBody>
      </p:sp>
    </p:spTree>
    <p:extLst>
      <p:ext uri="{BB962C8B-B14F-4D97-AF65-F5344CB8AC3E}">
        <p14:creationId xmlns:p14="http://schemas.microsoft.com/office/powerpoint/2010/main" val="424923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Electronic and Ionic Conduction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</a:t>
            </a:fld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309" y="1041834"/>
            <a:ext cx="8161361" cy="50095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01671" y="582472"/>
            <a:ext cx="4235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levels for a group of 12 atoms.</a:t>
            </a:r>
          </a:p>
        </p:txBody>
      </p:sp>
    </p:spTree>
    <p:extLst>
      <p:ext uri="{BB962C8B-B14F-4D97-AF65-F5344CB8AC3E}">
        <p14:creationId xmlns:p14="http://schemas.microsoft.com/office/powerpoint/2010/main" val="460853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Electronic and Ionic Conduction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5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621" y="819049"/>
            <a:ext cx="9062811" cy="5537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1671" y="582472"/>
            <a:ext cx="4235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levels for a group of atoms.</a:t>
            </a:r>
          </a:p>
        </p:txBody>
      </p:sp>
    </p:spTree>
    <p:extLst>
      <p:ext uri="{BB962C8B-B14F-4D97-AF65-F5344CB8AC3E}">
        <p14:creationId xmlns:p14="http://schemas.microsoft.com/office/powerpoint/2010/main" val="153901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Electronic and Ionic Conduction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6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25080" y="4565321"/>
            <a:ext cx="207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Copper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745" r="1069"/>
          <a:stretch/>
        </p:blipFill>
        <p:spPr>
          <a:xfrm>
            <a:off x="37835" y="523220"/>
            <a:ext cx="11985843" cy="40421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5588" y="4565321"/>
            <a:ext cx="2421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Magnesium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505" y="4565321"/>
            <a:ext cx="2421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Insulators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9284" y="4565321"/>
            <a:ext cx="3038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Semiconductors </a:t>
            </a:r>
          </a:p>
        </p:txBody>
      </p:sp>
    </p:spTree>
    <p:extLst>
      <p:ext uri="{BB962C8B-B14F-4D97-AF65-F5344CB8AC3E}">
        <p14:creationId xmlns:p14="http://schemas.microsoft.com/office/powerpoint/2010/main" val="156289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7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Electronic and Ionic Conduction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42" y="3357349"/>
            <a:ext cx="7085067" cy="34834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432" y="0"/>
            <a:ext cx="7047568" cy="3205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49163" y="1071494"/>
            <a:ext cx="207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metals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3370" y="5099097"/>
            <a:ext cx="3945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insulator or semiconductor </a:t>
            </a:r>
          </a:p>
        </p:txBody>
      </p:sp>
    </p:spTree>
    <p:extLst>
      <p:ext uri="{BB962C8B-B14F-4D97-AF65-F5344CB8AC3E}">
        <p14:creationId xmlns:p14="http://schemas.microsoft.com/office/powerpoint/2010/main" val="57592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8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Electron mobility in a crystal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-1" y="523220"/>
                <a:ext cx="6861075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electron loses its kinetic energy as it moves across due to an external excitation source.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Drift velocity is used to describe the extent of scattering: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I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the electron mobility.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Conductivity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free or conducting electrons per unit volume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=1.6</m:t>
                    </m:r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−19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23220"/>
                <a:ext cx="6861075" cy="3170099"/>
              </a:xfrm>
              <a:prstGeom prst="rect">
                <a:avLst/>
              </a:prstGeom>
              <a:blipFill rotWithShape="0">
                <a:blip r:embed="rId2"/>
                <a:stretch>
                  <a:fillRect l="-799" t="-1154" r="-799" b="-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74" y="523220"/>
            <a:ext cx="5039773" cy="40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3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Electrical Resistivity of Metals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6444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Matthiessen’s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rule: overall resistivity of a metal is sum of the contributions from each of the factors – thermal, impurities and plastic deformation.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169" y="0"/>
            <a:ext cx="5595832" cy="47316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119" y="4053818"/>
            <a:ext cx="2578103" cy="58191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120" y="1538883"/>
            <a:ext cx="2818218" cy="5232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119" y="2282051"/>
            <a:ext cx="1874605" cy="5883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946" y="3181659"/>
            <a:ext cx="2462752" cy="5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9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Electrical Resistivity of Metals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628"/>
            <a:ext cx="6386286" cy="3942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86" y="614821"/>
            <a:ext cx="5753595" cy="574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8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-8708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Semiconductivity</a:t>
            </a:r>
            <a:r>
              <a:rPr lang="en-IN" sz="2800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6134"/>
            <a:ext cx="10929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Semiconductors: Band gap &lt; 2ev.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172" y="1423105"/>
            <a:ext cx="8512204" cy="35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2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123"/>
            <a:ext cx="4202867" cy="3300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783" y="1930311"/>
            <a:ext cx="3602274" cy="3239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661" y="1930310"/>
            <a:ext cx="3582339" cy="3239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-8708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Intrinsic Conductivity</a:t>
            </a:r>
          </a:p>
        </p:txBody>
      </p:sp>
    </p:spTree>
    <p:extLst>
      <p:ext uri="{BB962C8B-B14F-4D97-AF65-F5344CB8AC3E}">
        <p14:creationId xmlns:p14="http://schemas.microsoft.com/office/powerpoint/2010/main" val="299051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13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0" y="-8708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Intrinsic Conductivity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205" y="812800"/>
            <a:ext cx="4003445" cy="8712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813" y="2844800"/>
            <a:ext cx="6300518" cy="13236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205" y="2060726"/>
            <a:ext cx="2179387" cy="566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9900" y="2060726"/>
            <a:ext cx="396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charge carrier concentration</a:t>
            </a:r>
          </a:p>
        </p:txBody>
      </p:sp>
    </p:spTree>
    <p:extLst>
      <p:ext uri="{BB962C8B-B14F-4D97-AF65-F5344CB8AC3E}">
        <p14:creationId xmlns:p14="http://schemas.microsoft.com/office/powerpoint/2010/main" val="284073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0" y="-8708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Extrinsic Semiconductors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3811"/>
            <a:ext cx="396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 extrinsic semiconductor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598"/>
            <a:ext cx="4264467" cy="33379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287" y="1211598"/>
            <a:ext cx="3768948" cy="33379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768" y="1211598"/>
            <a:ext cx="3748232" cy="333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0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49" y="1211598"/>
            <a:ext cx="10607151" cy="4934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-8708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Extrinsic Semiconductors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3811"/>
            <a:ext cx="396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 extrinsic semiconductor </a:t>
            </a:r>
          </a:p>
        </p:txBody>
      </p:sp>
    </p:spTree>
    <p:extLst>
      <p:ext uri="{BB962C8B-B14F-4D97-AF65-F5344CB8AC3E}">
        <p14:creationId xmlns:p14="http://schemas.microsoft.com/office/powerpoint/2010/main" val="416755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-8708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Extrinsic Semiconductors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9244"/>
            <a:ext cx="358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–type extrinsic semiconductor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-71160"/>
            <a:ext cx="8331200" cy="3164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05" y="3396343"/>
            <a:ext cx="6687956" cy="332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6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17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126"/>
            <a:ext cx="5078556" cy="5781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-358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Temperature dependent </a:t>
            </a:r>
            <a:r>
              <a:rPr lang="en-IN" sz="2800" dirty="0" err="1"/>
              <a:t>Semiconductivity</a:t>
            </a:r>
            <a:r>
              <a:rPr lang="en-IN" sz="2800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857" y="540016"/>
            <a:ext cx="287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semiconductor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748" y="1174592"/>
            <a:ext cx="5590109" cy="51817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3886" y="609412"/>
            <a:ext cx="287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semiconductor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095999" y="1220308"/>
            <a:ext cx="4731658" cy="261049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7834" y="646657"/>
            <a:ext cx="1872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–type Extrinsic semiconductor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095999" y="2470757"/>
            <a:ext cx="4731657" cy="23358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63164" y="2126483"/>
            <a:ext cx="287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semiconductor </a:t>
            </a:r>
          </a:p>
        </p:txBody>
      </p:sp>
    </p:spTree>
    <p:extLst>
      <p:ext uri="{BB962C8B-B14F-4D97-AF65-F5344CB8AC3E}">
        <p14:creationId xmlns:p14="http://schemas.microsoft.com/office/powerpoint/2010/main" val="179523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Factors affecting the Carrier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857" y="540016"/>
            <a:ext cx="3773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dopant concentration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40" y="1467714"/>
            <a:ext cx="6243160" cy="436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09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60" y="685832"/>
            <a:ext cx="10469302" cy="60356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Factors affecting the Carrier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9143" y="404471"/>
            <a:ext cx="3773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Temperature</a:t>
            </a:r>
          </a:p>
        </p:txBody>
      </p:sp>
    </p:spTree>
    <p:extLst>
      <p:ext uri="{BB962C8B-B14F-4D97-AF65-F5344CB8AC3E}">
        <p14:creationId xmlns:p14="http://schemas.microsoft.com/office/powerpoint/2010/main" val="1848323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Hall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94756"/>
            <a:ext cx="59798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magnetic field applied in the direction perpendicular to the direction of motion of a charged particle exerts force in the direction perpendicular to both the magnetic field and the direction of motion.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341"/>
          <a:stretch/>
        </p:blipFill>
        <p:spPr>
          <a:xfrm>
            <a:off x="6278803" y="0"/>
            <a:ext cx="5913197" cy="63157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98" y="2018195"/>
            <a:ext cx="2272074" cy="10649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719" y="2018194"/>
            <a:ext cx="1749795" cy="10601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423" y="4118210"/>
            <a:ext cx="2315205" cy="250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93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Semiconductor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3943" y="5573487"/>
            <a:ext cx="179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Bias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186" y="-87085"/>
            <a:ext cx="6040299" cy="2336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4" y="2488469"/>
            <a:ext cx="5157680" cy="30850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886" y="3008407"/>
            <a:ext cx="5897138" cy="27651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57449" y="5773542"/>
            <a:ext cx="179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Bias</a:t>
            </a:r>
          </a:p>
        </p:txBody>
      </p:sp>
    </p:spTree>
    <p:extLst>
      <p:ext uri="{BB962C8B-B14F-4D97-AF65-F5344CB8AC3E}">
        <p14:creationId xmlns:p14="http://schemas.microsoft.com/office/powerpoint/2010/main" val="3693607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Semiconductor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943" y="3830923"/>
            <a:ext cx="179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Bias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34" y="745905"/>
            <a:ext cx="5157680" cy="308501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771" y="523220"/>
            <a:ext cx="5290310" cy="53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3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Semiconductor Devices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771" y="523220"/>
            <a:ext cx="5290310" cy="53550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7" y="1339265"/>
            <a:ext cx="5897138" cy="2765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67880" y="4104400"/>
            <a:ext cx="179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Bias</a:t>
            </a:r>
          </a:p>
        </p:txBody>
      </p:sp>
    </p:spTree>
    <p:extLst>
      <p:ext uri="{BB962C8B-B14F-4D97-AF65-F5344CB8AC3E}">
        <p14:creationId xmlns:p14="http://schemas.microsoft.com/office/powerpoint/2010/main" val="1322777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Semiconductor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2166" y="3565869"/>
            <a:ext cx="179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Voltage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277"/>
            <a:ext cx="5399314" cy="2754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638" y="523220"/>
            <a:ext cx="5285362" cy="2757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12223" y="3565869"/>
            <a:ext cx="179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Current</a:t>
            </a:r>
          </a:p>
        </p:txBody>
      </p:sp>
    </p:spTree>
    <p:extLst>
      <p:ext uri="{BB962C8B-B14F-4D97-AF65-F5344CB8AC3E}">
        <p14:creationId xmlns:p14="http://schemas.microsoft.com/office/powerpoint/2010/main" val="2018835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 Transistor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" y="523220"/>
            <a:ext cx="4978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or Bimodal Transistors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Oxide Semiconductors Field–Effect Transistor (MOSFET)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947" y="0"/>
            <a:ext cx="7296054" cy="49908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240"/>
          <a:stretch/>
        </p:blipFill>
        <p:spPr>
          <a:xfrm>
            <a:off x="333829" y="1898873"/>
            <a:ext cx="4572312" cy="18167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2929" r="-1"/>
          <a:stretch/>
        </p:blipFill>
        <p:spPr>
          <a:xfrm>
            <a:off x="276084" y="3831365"/>
            <a:ext cx="4630057" cy="252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44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 Transistor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" y="523220"/>
            <a:ext cx="4978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or Bimodal Transistors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Oxide Semiconductors Field–Effect Transistor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614" y="523220"/>
            <a:ext cx="7272386" cy="3540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6893" y="4064000"/>
            <a:ext cx="4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cross – section of MOSFET</a:t>
            </a:r>
          </a:p>
        </p:txBody>
      </p:sp>
    </p:spTree>
    <p:extLst>
      <p:ext uri="{BB962C8B-B14F-4D97-AF65-F5344CB8AC3E}">
        <p14:creationId xmlns:p14="http://schemas.microsoft.com/office/powerpoint/2010/main" val="575114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Electrical Conduction in Ionic Ceramics and Polymers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" y="523220"/>
            <a:ext cx="497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ionic Ceramics, conduction of current takes place through electron and ionic motion.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41" y="523220"/>
            <a:ext cx="6423259" cy="55872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6" y="1485606"/>
            <a:ext cx="5419262" cy="884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679" y="2795746"/>
            <a:ext cx="1949603" cy="10422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63" y="3925072"/>
            <a:ext cx="3264871" cy="22054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0865" y="6130503"/>
            <a:ext cx="1883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Polyacetylene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492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Dielectric Behaviour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" y="523220"/>
                <a:ext cx="5655120" cy="3739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Dielectric materials are insulators (non–metallic). Used in capacitors.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Capacitance,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Q/V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Units are Farad.</a:t>
                </a:r>
              </a:p>
              <a:p>
                <a:pPr algn="just"/>
                <a:endParaRPr lang="en-I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parallel–plate capacitor with vacuum in between,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=8.85×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F/m.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any other medium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relative permittivity or dielectric constant.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23220"/>
                <a:ext cx="5655120" cy="3739613"/>
              </a:xfrm>
              <a:prstGeom prst="rect">
                <a:avLst/>
              </a:prstGeom>
              <a:blipFill rotWithShape="0">
                <a:blip r:embed="rId2"/>
                <a:stretch>
                  <a:fillRect l="-1078" t="-979" r="-1078" b="-21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24" y="5049578"/>
            <a:ext cx="1491132" cy="9789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133" y="0"/>
            <a:ext cx="6551867" cy="383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15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29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Field Vectors and Polarization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27" y="523220"/>
            <a:ext cx="6257375" cy="30845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098"/>
            <a:ext cx="3308902" cy="30697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49" y="4441573"/>
            <a:ext cx="1720603" cy="7869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7486" y="3930897"/>
            <a:ext cx="7634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getting aligned along the direction of electric field – Polarization</a:t>
            </a:r>
          </a:p>
        </p:txBody>
      </p:sp>
    </p:spTree>
    <p:extLst>
      <p:ext uri="{BB962C8B-B14F-4D97-AF65-F5344CB8AC3E}">
        <p14:creationId xmlns:p14="http://schemas.microsoft.com/office/powerpoint/2010/main" val="3249694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Field Vectors and Polarization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1297"/>
            <a:ext cx="63427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charge per unit area or charge density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given by,</a:t>
            </a:r>
          </a:p>
          <a:p>
            <a:pPr algn="just"/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vacuum </a:t>
            </a:r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any dielectric material.</a:t>
            </a:r>
          </a:p>
          <a:p>
            <a:pPr algn="just"/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sometimes called dielectric displacement.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2" y="2601494"/>
            <a:ext cx="4862286" cy="39458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645" y="1500793"/>
            <a:ext cx="6662984" cy="4392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1364" y="6002406"/>
            <a:ext cx="6342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+ P; P =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810182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23220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parallel-plate capacitor having an area of 0.0006 m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plate separation of 0.002 m across which a potential of 10 V is applied. If a material having a dielectric constant of 6.0 is positioned within the region between the plates, compute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capacitance.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magnitude of the charge stored on each plate.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dielectric displacement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polarization.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Field Vectors and Polarization</a:t>
            </a:r>
          </a:p>
        </p:txBody>
      </p:sp>
    </p:spTree>
    <p:extLst>
      <p:ext uri="{BB962C8B-B14F-4D97-AF65-F5344CB8AC3E}">
        <p14:creationId xmlns:p14="http://schemas.microsoft.com/office/powerpoint/2010/main" val="3636999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Types of Polarization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18383"/>
            <a:ext cx="39043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Polarization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Ionic Polarization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Polarization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494" y="0"/>
            <a:ext cx="5439947" cy="231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1243" y="2251919"/>
            <a:ext cx="6962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Electronic polarization that results from </a:t>
            </a:r>
            <a:r>
              <a:rPr lang="en-US" sz="2000" dirty="0"/>
              <a:t>the distortion of an atomic electron cloud by an electric </a:t>
            </a:r>
            <a:r>
              <a:rPr lang="en-IN" sz="2000" dirty="0"/>
              <a:t>field.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79" y="3047159"/>
            <a:ext cx="5124814" cy="23551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094" y="5648463"/>
            <a:ext cx="4814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Ionic polarization that results from the relative displacements of electrically charged ions in response to an electric field.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251" y="3076072"/>
            <a:ext cx="5621120" cy="19753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13251" y="5415928"/>
            <a:ext cx="5751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of permanent electric dipoles (arrows) to an applied electric field, producing orientation polarization.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18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Frequency dependence of dielectric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217280"/>
            <a:ext cx="4528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applied voltage of alternating direction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2" y="1089848"/>
            <a:ext cx="5513128" cy="29609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61" y="525067"/>
            <a:ext cx="6487216" cy="496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57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Frequency dependence of dielectric constant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26" y="523220"/>
            <a:ext cx="9552927" cy="523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91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Ferroelectricity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704823"/>
            <a:ext cx="11742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Spontaneous polarization – a dielectric analogue to ferromagnetism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536"/>
            <a:ext cx="5187677" cy="52594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23" y="1286536"/>
            <a:ext cx="4330552" cy="425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70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Piezoelectricity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04823"/>
            <a:ext cx="11742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stress induces voltage. Applications–transducers, phonograph cartridges, speakers, audible alarms.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62" y="1786079"/>
            <a:ext cx="6235675" cy="388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23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</TotalTime>
  <Words>790</Words>
  <Application>Microsoft Office PowerPoint</Application>
  <PresentationFormat>Widescreen</PresentationFormat>
  <Paragraphs>171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129</cp:revision>
  <dcterms:created xsi:type="dcterms:W3CDTF">2018-09-04T10:03:30Z</dcterms:created>
  <dcterms:modified xsi:type="dcterms:W3CDTF">2024-08-20T05:42:42Z</dcterms:modified>
</cp:coreProperties>
</file>