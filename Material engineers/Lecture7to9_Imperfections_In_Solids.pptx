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76" r:id="rId7"/>
    <p:sldId id="280" r:id="rId8"/>
    <p:sldId id="278" r:id="rId9"/>
    <p:sldId id="279" r:id="rId10"/>
    <p:sldId id="261" r:id="rId11"/>
    <p:sldId id="277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4DB9B-14D1-469F-8522-A21C65B8D7B4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5BC86-2116-42F3-8B7E-AA5270F6B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99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1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5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1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9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8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4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7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329" r="5306" b="2876"/>
          <a:stretch/>
        </p:blipFill>
        <p:spPr>
          <a:xfrm>
            <a:off x="8707278" y="6"/>
            <a:ext cx="2700843" cy="2700843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0" y="3053892"/>
            <a:ext cx="12192000" cy="701731"/>
          </a:xfr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+mn-lt"/>
                <a:ea typeface="+mn-ea"/>
                <a:cs typeface="+mn-cs"/>
              </a:rPr>
              <a:t>Imperfections in Solids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387522" y="4121624"/>
            <a:ext cx="9144000" cy="1450074"/>
          </a:xfrm>
        </p:spPr>
        <p:txBody>
          <a:bodyPr anchor="ctr">
            <a:normAutofit fontScale="92500" lnSpcReduction="20000"/>
          </a:bodyPr>
          <a:lstStyle/>
          <a:p>
            <a:r>
              <a:rPr lang="en-IN" b="1" dirty="0"/>
              <a:t> </a:t>
            </a:r>
          </a:p>
          <a:p>
            <a:r>
              <a:rPr lang="en-IN" b="1" dirty="0" err="1"/>
              <a:t>Dr.</a:t>
            </a:r>
            <a:r>
              <a:rPr lang="en-IN" b="1" dirty="0"/>
              <a:t> J. </a:t>
            </a:r>
            <a:r>
              <a:rPr lang="en-IN" b="1" dirty="0" err="1"/>
              <a:t>Venkatramani</a:t>
            </a:r>
            <a:endParaRPr lang="en-IN" b="1" dirty="0"/>
          </a:p>
          <a:p>
            <a:r>
              <a:rPr lang="en-IN" b="1" dirty="0"/>
              <a:t>219-B</a:t>
            </a:r>
          </a:p>
          <a:p>
            <a:r>
              <a:rPr lang="en-IN" b="1"/>
              <a:t>venkatramani@iiitdm.ac.in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75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Point Defects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011" y="1050430"/>
            <a:ext cx="17878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Vacancies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Impurities 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705970" y="1377975"/>
            <a:ext cx="1310185" cy="49132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692322" y="1882943"/>
            <a:ext cx="1255594" cy="43672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16155" y="1207575"/>
            <a:ext cx="1787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Interstitial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" y="3058224"/>
            <a:ext cx="480401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Vacancies are driven by thermodynamics.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affecting the type of impurities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size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 structure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Electronegativity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Valences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224" y="523220"/>
            <a:ext cx="4412776" cy="42125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013" y="2780593"/>
            <a:ext cx="3064739" cy="97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66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523220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solid solution.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 and Ni, atomic radii are 1.28 A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1.29 A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electronegativities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1.9 and 1.8.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Interstitial: Iron and Carbon.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FCC metals, potential interstitial sites are located at the mid–point of the unit cell edge.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BCC metals, potential interstitial sites are located at the (0 ½ ¼) points on {1 0 0} planes.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Point Defects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9989"/>
            <a:ext cx="5373080" cy="3849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831" y="2958862"/>
            <a:ext cx="6073170" cy="344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20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fcc tetrahedral voi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840" y="256961"/>
            <a:ext cx="8265093" cy="620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35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tetrahedral voids in bc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828" y="270609"/>
            <a:ext cx="8310478" cy="623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14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50360" y="944663"/>
            <a:ext cx="232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percent: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 Percent: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Specifying Composition of a Solid Solution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480" y="847359"/>
            <a:ext cx="2365307" cy="6798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480" y="1901981"/>
            <a:ext cx="2604197" cy="6756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68" y="2901792"/>
            <a:ext cx="3048766" cy="38685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642" y="2952393"/>
            <a:ext cx="3148980" cy="27495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12645" y="5701973"/>
            <a:ext cx="2779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Concentrations in kg/m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661" y="1615323"/>
            <a:ext cx="2552130" cy="46988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3815" y="6360027"/>
            <a:ext cx="4221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and Atomic weight of the alloy</a:t>
            </a:r>
          </a:p>
        </p:txBody>
      </p:sp>
    </p:spTree>
    <p:extLst>
      <p:ext uri="{BB962C8B-B14F-4D97-AF65-F5344CB8AC3E}">
        <p14:creationId xmlns:p14="http://schemas.microsoft.com/office/powerpoint/2010/main" val="152342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23220"/>
            <a:ext cx="12192000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number of vacancies per cubic meter in gold (Au) at 900</a:t>
            </a:r>
            <a:r>
              <a:rPr 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energy for vacancy formation is 0.98 eV/atom. Furthermore, the density and atomic weight for Au are 18.63 g/cm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(at 900</a:t>
            </a:r>
            <a:r>
              <a:rPr 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and 196.9 g/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2978348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Class Assignment – 1 (Open Note Book/Text Book)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322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Sketch within a cubic unit cell (212) plane.</a:t>
            </a:r>
          </a:p>
          <a:p>
            <a:pPr marL="342900" indent="-342900">
              <a:buFont typeface="+mj-lt"/>
              <a:buAutoNum type="arabicParenR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c/a be less than 1.633 in a Hexagonal Crystal Structure? Draw how the Hexagonal unit cell with c/a &lt; 1.633 will look like. </a:t>
            </a:r>
          </a:p>
          <a:p>
            <a:pPr marL="342900" indent="-342900">
              <a:buFont typeface="+mj-lt"/>
              <a:buAutoNum type="arabicParenR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packing factor of a Hexagonal unit cell with c/a = 1.5?</a:t>
            </a:r>
          </a:p>
          <a:p>
            <a:pPr marL="342900" indent="-342900">
              <a:buFont typeface="+mj-lt"/>
              <a:buAutoNum type="arabicParenR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planar density of (0001) plane in a HCP unit cell with c/a = 1.633.</a:t>
            </a:r>
          </a:p>
        </p:txBody>
      </p:sp>
    </p:spTree>
    <p:extLst>
      <p:ext uri="{BB962C8B-B14F-4D97-AF65-F5344CB8AC3E}">
        <p14:creationId xmlns:p14="http://schemas.microsoft.com/office/powerpoint/2010/main" val="2531665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Class Assignment – 1: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861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1) Sketch within a cubic unit cell (212) plane.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7" t="6590" r="18443" b="4030"/>
          <a:stretch/>
        </p:blipFill>
        <p:spPr>
          <a:xfrm>
            <a:off x="7544031" y="518612"/>
            <a:ext cx="4665260" cy="5157376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8674521" y="1665027"/>
            <a:ext cx="3193576" cy="2006221"/>
          </a:xfrm>
          <a:custGeom>
            <a:avLst/>
            <a:gdLst>
              <a:gd name="connsiteX0" fmla="*/ 0 w 3193576"/>
              <a:gd name="connsiteY0" fmla="*/ 1897039 h 2006221"/>
              <a:gd name="connsiteX1" fmla="*/ 709684 w 3193576"/>
              <a:gd name="connsiteY1" fmla="*/ 0 h 2006221"/>
              <a:gd name="connsiteX2" fmla="*/ 709684 w 3193576"/>
              <a:gd name="connsiteY2" fmla="*/ 0 h 2006221"/>
              <a:gd name="connsiteX3" fmla="*/ 3193576 w 3193576"/>
              <a:gd name="connsiteY3" fmla="*/ 2006221 h 2006221"/>
              <a:gd name="connsiteX4" fmla="*/ 3193576 w 3193576"/>
              <a:gd name="connsiteY4" fmla="*/ 2006221 h 2006221"/>
              <a:gd name="connsiteX5" fmla="*/ 0 w 3193576"/>
              <a:gd name="connsiteY5" fmla="*/ 1897039 h 2006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93576" h="2006221">
                <a:moveTo>
                  <a:pt x="0" y="1897039"/>
                </a:moveTo>
                <a:lnTo>
                  <a:pt x="709684" y="0"/>
                </a:lnTo>
                <a:lnTo>
                  <a:pt x="709684" y="0"/>
                </a:lnTo>
                <a:lnTo>
                  <a:pt x="3193576" y="2006221"/>
                </a:lnTo>
                <a:lnTo>
                  <a:pt x="3193576" y="2006221"/>
                </a:lnTo>
                <a:lnTo>
                  <a:pt x="0" y="1897039"/>
                </a:lnTo>
                <a:close/>
              </a:path>
            </a:pathLst>
          </a:custGeom>
          <a:solidFill>
            <a:srgbClr val="FFFF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0" y="1023920"/>
                <a:ext cx="7544031" cy="529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2) Can c/a be less than 1.633 in a HCP structure? Draw how a HCP unit cell with c/a &lt; 1.633 look like. </a:t>
                </a:r>
              </a:p>
              <a:p>
                <a:endParaRPr lang="en-IN" sz="2000" dirty="0"/>
              </a:p>
              <a:p>
                <a:r>
                  <a:rPr lang="en-IN" sz="2000" b="1" dirty="0"/>
                  <a:t>ANS:</a:t>
                </a:r>
                <a:r>
                  <a:rPr lang="en-IN" sz="2000" dirty="0"/>
                  <a:t> Lattice parameter a &gt; 2R. </a:t>
                </a:r>
              </a:p>
              <a:p>
                <a:endParaRPr lang="en-IN" sz="2000" dirty="0"/>
              </a:p>
              <a:p>
                <a:r>
                  <a:rPr lang="en-IN" sz="2000" dirty="0"/>
                  <a:t>3) What is the packing factor of a HCP unit cell with c/a = 1.5?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 = 1.5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from above condition,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2.1131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R.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APF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=0.6835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4) PD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(0001)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c/a = 1.633: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23920"/>
                <a:ext cx="7544031" cy="5294655"/>
              </a:xfrm>
              <a:prstGeom prst="rect">
                <a:avLst/>
              </a:prstGeom>
              <a:blipFill rotWithShape="0">
                <a:blip r:embed="rId3"/>
                <a:stretch>
                  <a:fillRect l="-808" t="-6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323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Line Defects – Edge Dislocation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4" y="958312"/>
            <a:ext cx="4860728" cy="41452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48300" y="523219"/>
            <a:ext cx="33362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to note: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Burger’s vector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Dislocation line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Dislocation motion</a:t>
            </a:r>
          </a:p>
        </p:txBody>
      </p:sp>
    </p:spTree>
    <p:extLst>
      <p:ext uri="{BB962C8B-B14F-4D97-AF65-F5344CB8AC3E}">
        <p14:creationId xmlns:p14="http://schemas.microsoft.com/office/powerpoint/2010/main" val="31179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Line Defects – Edge Dislocation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48300" y="523219"/>
            <a:ext cx="33362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to note: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Burger’s vector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Dislocation line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Dislocation motion</a:t>
            </a:r>
          </a:p>
        </p:txBody>
      </p:sp>
      <p:pic>
        <p:nvPicPr>
          <p:cNvPr id="1026" name="Picture 2" descr="Image result for perfect crystal vs edge dislocat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5" t="15008" r="61658" b="33243"/>
          <a:stretch/>
        </p:blipFill>
        <p:spPr bwMode="auto">
          <a:xfrm>
            <a:off x="-1" y="523219"/>
            <a:ext cx="3343701" cy="385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perfect crystal vs edge dislocat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16" t="22604" r="2673" b="3041"/>
          <a:stretch/>
        </p:blipFill>
        <p:spPr bwMode="auto">
          <a:xfrm>
            <a:off x="3357348" y="530946"/>
            <a:ext cx="5390866" cy="5540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754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Line Defects – Screw Dislocation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656"/>
          <a:stretch/>
        </p:blipFill>
        <p:spPr>
          <a:xfrm>
            <a:off x="172124" y="818864"/>
            <a:ext cx="6365154" cy="56276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383" y="1420654"/>
            <a:ext cx="5115408" cy="442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58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Line Defects – Mixed Dislocation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1895"/>
          <a:stretch/>
        </p:blipFill>
        <p:spPr>
          <a:xfrm>
            <a:off x="20522" y="523220"/>
            <a:ext cx="5640552" cy="50710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523220"/>
            <a:ext cx="5168888" cy="38943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7280"/>
          <a:stretch/>
        </p:blipFill>
        <p:spPr>
          <a:xfrm>
            <a:off x="5084421" y="4355748"/>
            <a:ext cx="2502185" cy="24770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6606" y="5117350"/>
            <a:ext cx="24975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Electron Microscopic Image of a Ti alloy</a:t>
            </a:r>
          </a:p>
        </p:txBody>
      </p:sp>
    </p:spTree>
    <p:extLst>
      <p:ext uri="{BB962C8B-B14F-4D97-AF65-F5344CB8AC3E}">
        <p14:creationId xmlns:p14="http://schemas.microsoft.com/office/powerpoint/2010/main" val="459946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Interfacial Defects – External 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23220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object terminates at some point and hence, has boundaries or surfaces.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surfaces are themselves interfacial defects as they are deprived of some nearest neighbouring atoms, unlike in the case of interior ones.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surfaces have some surface energy 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associated with them. The surfaces tend to lower this energy by minimizing the surface area. Liquid droplets are spherical due to this reason. Solids, being rigid, cannot.</a:t>
            </a:r>
          </a:p>
        </p:txBody>
      </p:sp>
    </p:spTree>
    <p:extLst>
      <p:ext uri="{BB962C8B-B14F-4D97-AF65-F5344CB8AC3E}">
        <p14:creationId xmlns:p14="http://schemas.microsoft.com/office/powerpoint/2010/main" val="2184039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Interfacial Defects – Grain Boundaries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33" y="523220"/>
            <a:ext cx="6936368" cy="6082296"/>
          </a:xfrm>
          <a:prstGeom prst="rect">
            <a:avLst/>
          </a:prstGeom>
        </p:spPr>
      </p:pic>
      <p:pic>
        <p:nvPicPr>
          <p:cNvPr id="1026" name="Picture 2" descr="Image result for grain boundaries sem image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74"/>
          <a:stretch/>
        </p:blipFill>
        <p:spPr bwMode="auto">
          <a:xfrm>
            <a:off x="510418" y="803937"/>
            <a:ext cx="3693094" cy="368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74675" y="4490113"/>
            <a:ext cx="3528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 Image of grain boundaries</a:t>
            </a:r>
          </a:p>
        </p:txBody>
      </p:sp>
    </p:spTree>
    <p:extLst>
      <p:ext uri="{BB962C8B-B14F-4D97-AF65-F5344CB8AC3E}">
        <p14:creationId xmlns:p14="http://schemas.microsoft.com/office/powerpoint/2010/main" val="3899445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Interfacial Defects – Grain Boundaries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077" y="523220"/>
            <a:ext cx="2816949" cy="56348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98806" y="6158081"/>
            <a:ext cx="35288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 boundary due to alignment of edge dislocations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003" y="698977"/>
            <a:ext cx="727645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adjacent figure shows a type of interfacial defect called tilt boundary.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similar type of defect is twist boundary which can be described using screw type of dislocations.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atoms along the grain boundaries are less regularly arranged.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boundaries also are at a higher energy state. The magnitude of this energy is function of the degree of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misorientation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138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Interfacial Defects – Twin Boundaries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924" y="1009953"/>
            <a:ext cx="6817154" cy="464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59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Interfacial Defects – Miscellaneous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003" y="853721"/>
            <a:ext cx="115673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stacking fault – say, in FCC, a break in the sequence of stacking of {111} planes ABCABCABC…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boundaries in multiphase materials.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Ferromagnetic domain walls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" y="3018430"/>
            <a:ext cx="12192001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Bulk or Volume Defects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537" y="4009795"/>
            <a:ext cx="11567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Pores, cracks, foreign inclusions and other phases.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698032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Atomic vibrations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63675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vibrations are also a kind of defect, especially at very high temperatures which affect the properties of a solid.</a:t>
            </a:r>
          </a:p>
        </p:txBody>
      </p:sp>
    </p:spTree>
    <p:extLst>
      <p:ext uri="{BB962C8B-B14F-4D97-AF65-F5344CB8AC3E}">
        <p14:creationId xmlns:p14="http://schemas.microsoft.com/office/powerpoint/2010/main" val="2937274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Microscopic Examination – Optical Microscopy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470" y="505511"/>
            <a:ext cx="68042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Metallographic microscopy – applicable to polymers also.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preparation is very crucial.  Surface must be 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polished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smooth and mirror like finish.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this, surface treatment using a chemical reagent to etch the grains is to be done.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470" r="14128" b="2580"/>
          <a:stretch/>
        </p:blipFill>
        <p:spPr>
          <a:xfrm>
            <a:off x="7424144" y="563153"/>
            <a:ext cx="4767856" cy="3209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4835" b="6224"/>
          <a:stretch/>
        </p:blipFill>
        <p:spPr>
          <a:xfrm>
            <a:off x="215428" y="2752280"/>
            <a:ext cx="6076950" cy="405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512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Microscopic Examination – Optical Microscopy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5057740" cy="31347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828" y="641744"/>
            <a:ext cx="3118665" cy="36730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3781073"/>
            <a:ext cx="5102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schematic demonstrating optical 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3521" y="4421754"/>
            <a:ext cx="2873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optical micrograph of polycrystalline Brass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5650" y="5869081"/>
            <a:ext cx="3343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Magnification limits: 2000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5730" y="872013"/>
            <a:ext cx="3082401" cy="25602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40031" y="3598209"/>
            <a:ext cx="24737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Iron–Chromium alloy 100X magnification</a:t>
            </a:r>
          </a:p>
        </p:txBody>
      </p:sp>
    </p:spTree>
    <p:extLst>
      <p:ext uri="{BB962C8B-B14F-4D97-AF65-F5344CB8AC3E}">
        <p14:creationId xmlns:p14="http://schemas.microsoft.com/office/powerpoint/2010/main" val="927349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Microscopic Examination – Electron Microscopy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470" y="505511"/>
            <a:ext cx="63033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 beams are incident on the sample instead of light. Electron beams can have wavelengths in the order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picometers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gives a very good magnification of the sample under observation.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Electron Microscopy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 beam passes through the specimen.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Specimens should be in the form of a thin foil so as to allow the incident beam to be transmitted.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Transmitted beam is projected on to a fluorescent screen or a photographic film.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magnifications: 1000000 X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041" y="1890207"/>
            <a:ext cx="5721959" cy="36234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0" y="551369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 resolution TEM image of a triple and a quadruple line at the interface between Σ3 boundaries and a Σ9 boundary in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nanocrystalline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palladium.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084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Microscopic Examination – Electron Microscopy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470" y="505511"/>
            <a:ext cx="63033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 Electron Microscopy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surface of the specimen is scanned and the reflected beam of electrons is collected to be displayed on a CRT (Cathode Ray Tube).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surface features of the specimen can be viewed.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surface has to be electrically conductive.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very thin metallic surface coating is to be applied for non–conducting materials.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magnifications: 50000 X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616" y="630168"/>
            <a:ext cx="5441900" cy="36279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2126" y="4365049"/>
            <a:ext cx="1578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Tokay Gecko</a:t>
            </a:r>
          </a:p>
        </p:txBody>
      </p:sp>
    </p:spTree>
    <p:extLst>
      <p:ext uri="{BB962C8B-B14F-4D97-AF65-F5344CB8AC3E}">
        <p14:creationId xmlns:p14="http://schemas.microsoft.com/office/powerpoint/2010/main" val="4122858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Microscopic Examination – Scanning Probe Microscopy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300" y="1283433"/>
            <a:ext cx="63033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deflections of the tip of a probe that is being scanned over the surface of specimen.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Piezoelectric tips transfer these deflections into electronic signals, which upon deciphering using a computer renders 3–D surface images.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662" t="5624" r="8368" b="10217"/>
          <a:stretch/>
        </p:blipFill>
        <p:spPr>
          <a:xfrm>
            <a:off x="7151426" y="1105469"/>
            <a:ext cx="4913194" cy="380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49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Grain size determination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15" y="523220"/>
            <a:ext cx="70270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lines of equal length on the photomicrograph.</a:t>
            </a:r>
          </a:p>
          <a:p>
            <a:pPr marL="457200" indent="-457200" algn="just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the number of grains intersected by each of these line segment and take an average.</a:t>
            </a:r>
          </a:p>
          <a:p>
            <a:pPr marL="457200" indent="-457200" algn="just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line segment length with this average number.</a:t>
            </a:r>
          </a:p>
          <a:p>
            <a:pPr marL="457200" indent="-457200" algn="just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this grain size with the magnification of the micrograph.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4319"/>
          <a:stretch/>
        </p:blipFill>
        <p:spPr>
          <a:xfrm>
            <a:off x="7042245" y="523220"/>
            <a:ext cx="4885898" cy="616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51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Microscopic Examination – 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06" y="523220"/>
            <a:ext cx="7088384" cy="34892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81" y="4059245"/>
            <a:ext cx="6957844" cy="279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4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8022</TotalTime>
  <Words>1078</Words>
  <Application>Microsoft Office PowerPoint</Application>
  <PresentationFormat>Widescreen</PresentationFormat>
  <Paragraphs>152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Imperfections in Solids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Siva Prasad A V S</dc:creator>
  <cp:lastModifiedBy>jagadish151223@outlook.com</cp:lastModifiedBy>
  <cp:revision>404</cp:revision>
  <dcterms:created xsi:type="dcterms:W3CDTF">2018-09-04T10:03:30Z</dcterms:created>
  <dcterms:modified xsi:type="dcterms:W3CDTF">2024-08-20T05:41:07Z</dcterms:modified>
</cp:coreProperties>
</file>