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B1E19-955A-456C-9E5D-553061E3F00B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BC38F-76A6-475D-9A87-1AA0B17BE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79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11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78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74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540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60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584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168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88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969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777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229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72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819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92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255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48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39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3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E4E50-9F75-4DA7-AD0F-4A53F33CAD7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9829-FB65-4A74-B93B-A2AC0DB3CA32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48FA-12EB-49D9-9A61-EBD84431EF7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4C9B-7394-44BA-BD30-2FF87C825A48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86D17-2118-47D8-B830-EFA5A080548D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7C01-0CB4-4708-85FC-6ABDAE56C6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CED3-45F8-402A-AA03-55028586046B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2DD-8FE3-42BF-9189-77504FF52A2E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7DCB7-B57A-4F0A-B618-78C9CD8220ED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19BBA-3CEC-4F9D-8CFD-0F564BA72DC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2067-29E4-4E30-A301-5F219282EE4A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A31BE-42BD-4507-AD17-26440FDCE293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Failure of Metals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– Material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604" y="889902"/>
            <a:ext cx="57768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fracture modes: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131" y="523220"/>
            <a:ext cx="7269870" cy="52907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04" y="2521118"/>
            <a:ext cx="4612943" cy="413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– Material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5" y="523220"/>
            <a:ext cx="10467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fracture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nucleation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3" y="2154436"/>
            <a:ext cx="5308978" cy="4158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6593" y="6236642"/>
            <a:ext cx="896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32" y="574022"/>
            <a:ext cx="5677468" cy="21036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5331" y="6160655"/>
            <a:ext cx="1705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ductile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4128" y="6160655"/>
            <a:ext cx="2415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Moderately ductile</a:t>
            </a:r>
          </a:p>
        </p:txBody>
      </p:sp>
    </p:spTree>
    <p:extLst>
      <p:ext uri="{BB962C8B-B14F-4D97-AF65-F5344CB8AC3E}">
        <p14:creationId xmlns:p14="http://schemas.microsoft.com/office/powerpoint/2010/main" val="405759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– Material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5" y="523220"/>
            <a:ext cx="10467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fracture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nucleation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propagation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61" y="2677656"/>
            <a:ext cx="5117994" cy="2725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99" y="2677655"/>
            <a:ext cx="4353291" cy="2780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09972" y="5581027"/>
            <a:ext cx="7772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Cup – Cone fracture process involved in ductile mode of failure of metals</a:t>
            </a:r>
          </a:p>
        </p:txBody>
      </p:sp>
    </p:spTree>
    <p:extLst>
      <p:ext uri="{BB962C8B-B14F-4D97-AF65-F5344CB8AC3E}">
        <p14:creationId xmlns:p14="http://schemas.microsoft.com/office/powerpoint/2010/main" val="345397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Fractographic</a:t>
            </a:r>
            <a:r>
              <a:rPr lang="en-IN" sz="2800" dirty="0"/>
              <a:t> Studies – Ductile fracture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462" y="523220"/>
            <a:ext cx="8843075" cy="403095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2996" y="5077398"/>
            <a:ext cx="11546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Scanning electron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fractograph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spherical dimples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characteristic of ductile fracture resulting from uniaxial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loads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3300X. (b) Scanning electron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fractograph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parabolic-shaped dimples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characteristic of ductile fracture resulting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loading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@ 5000X. (From R.W. Hertzberg, Deformation and Fracture Mechanics of Engineering Materials, 3rd edition. Copyright © 1989 by John Wiley &amp; Sons, New York. Reprinted by permission of John Wiley &amp; Sons, Inc.)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2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Fractographic</a:t>
            </a:r>
            <a:r>
              <a:rPr lang="en-IN" sz="2800" dirty="0"/>
              <a:t> Studies – Brittle fracture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996" y="5077398"/>
            <a:ext cx="115460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Arrows indicate the points of origin of the cracks. V–shaped “Chevron” markings are a typical feature of brittle fracture.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78" y="550515"/>
            <a:ext cx="7282397" cy="38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Fractographic</a:t>
            </a:r>
            <a:r>
              <a:rPr lang="en-IN" sz="2800" dirty="0"/>
              <a:t> Studies – Brittle fracture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7739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indicates the location of origin of the cracks. Fan shaped radial crack pattern is also typical feature of brittle fracture.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721" y="913070"/>
            <a:ext cx="7606012" cy="37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2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Fractographic</a:t>
            </a:r>
            <a:r>
              <a:rPr lang="en-IN" sz="2800" dirty="0"/>
              <a:t> Studies – Brittle fracture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3220"/>
            <a:ext cx="11546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 fracture occurs by cleavage of atomic bonds on certain specific crystallographic planes.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Transgranular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crack propagation through the grains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crack propagation along the grain boundaries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10" y="2028881"/>
            <a:ext cx="4162568" cy="47745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569" y="2523768"/>
            <a:ext cx="4571070" cy="412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5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 err="1"/>
              <a:t>Fractographic</a:t>
            </a:r>
            <a:r>
              <a:rPr lang="en-IN" sz="2800" dirty="0"/>
              <a:t> Studies – Brittle fracture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3220"/>
            <a:ext cx="11546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 fracture occurs by cleavage of atomic bonds on certain specific crystallographic planes.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Transgranular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crack propagation through the grains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crack propagation along the grain boundaries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85" y="2000548"/>
            <a:ext cx="4107976" cy="47786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00" y="2914808"/>
            <a:ext cx="4066101" cy="38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7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Fracture Mechanics – Stress Intensity Factor – Fracture Toughness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02" y="2297442"/>
            <a:ext cx="3489195" cy="2734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26790"/>
          <a:stretch/>
        </p:blipFill>
        <p:spPr>
          <a:xfrm>
            <a:off x="2689132" y="1555844"/>
            <a:ext cx="668218" cy="8390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6339" t="26135" r="42812"/>
          <a:stretch/>
        </p:blipFill>
        <p:spPr>
          <a:xfrm rot="10800000">
            <a:off x="2750286" y="5031451"/>
            <a:ext cx="272955" cy="8465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565" y="1386522"/>
            <a:ext cx="4403791" cy="44914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29919" y="569335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6763" y="129043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5028" y="533394"/>
            <a:ext cx="7558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concentration → Stress Intensity Factor → Fracture Toughness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Impact Fracture Testing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23218"/>
            <a:ext cx="58275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for measuring impact energy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440"/>
            <a:ext cx="5507461" cy="30661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78" y="4112581"/>
            <a:ext cx="3625403" cy="2664017"/>
          </a:xfrm>
          <a:prstGeom prst="rect">
            <a:avLst/>
          </a:prstGeom>
        </p:spPr>
      </p:pic>
      <p:pic>
        <p:nvPicPr>
          <p:cNvPr id="1026" name="Picture 2" descr="Image result for charpy impact tes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740" y="523218"/>
            <a:ext cx="4540264" cy="518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30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Impact Fracture Testing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23220"/>
            <a:ext cx="4080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for measuring impact energy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440"/>
            <a:ext cx="5507461" cy="3066141"/>
          </a:xfrm>
          <a:prstGeom prst="rect">
            <a:avLst/>
          </a:prstGeom>
        </p:spPr>
      </p:pic>
      <p:pic>
        <p:nvPicPr>
          <p:cNvPr id="1026" name="Picture 2" descr="Image result for charpy impact te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740" y="523218"/>
            <a:ext cx="4540264" cy="518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b="5842"/>
          <a:stretch/>
        </p:blipFill>
        <p:spPr>
          <a:xfrm>
            <a:off x="2710451" y="2988512"/>
            <a:ext cx="2740460" cy="373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6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00" y="1046440"/>
            <a:ext cx="5948551" cy="5135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Ductile–to–Brittle Transition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2322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of temperatures over which a normally ductile material behaves like a brittle material and undergoes brittle failure.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19" y="1542420"/>
            <a:ext cx="5792281" cy="46400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40993" y="6013589"/>
            <a:ext cx="64690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carbon content on the dependence of impact energy on temperature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80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55" y="1179155"/>
            <a:ext cx="5842245" cy="2751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925" y="1179155"/>
            <a:ext cx="5211303" cy="23556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379" y="4217158"/>
            <a:ext cx="5073241" cy="223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5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23220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ratio,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514" y="707886"/>
            <a:ext cx="2906140" cy="10564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89" y="1162459"/>
            <a:ext cx="3502238" cy="7891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314" y="1868618"/>
            <a:ext cx="3174060" cy="848411"/>
          </a:xfrm>
          <a:prstGeom prst="rect">
            <a:avLst/>
          </a:prstGeom>
        </p:spPr>
      </p:pic>
      <p:pic>
        <p:nvPicPr>
          <p:cNvPr id="2050" name="Picture 2" descr="Image result for fatigue testing machine schematic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518" y="3125337"/>
            <a:ext cx="7655921" cy="305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54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Failure: S–N curve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3" y="838072"/>
            <a:ext cx="5775272" cy="37748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294" y="674753"/>
            <a:ext cx="6149706" cy="40473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32301" y="4722125"/>
            <a:ext cx="29479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Ferrous Alloys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65364" y="4722125"/>
            <a:ext cx="29479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– Ferrous Alloys</a:t>
            </a:r>
          </a:p>
        </p:txBody>
      </p:sp>
    </p:spTree>
    <p:extLst>
      <p:ext uri="{BB962C8B-B14F-4D97-AF65-F5344CB8AC3E}">
        <p14:creationId xmlns:p14="http://schemas.microsoft.com/office/powerpoint/2010/main" val="138685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Failure: S–N curve – Probability of failure of materials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524" y="523221"/>
            <a:ext cx="8442109" cy="520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37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Failure: Mechanisms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131558" cy="51207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708" y="849122"/>
            <a:ext cx="4582298" cy="425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2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407" y="803901"/>
            <a:ext cx="5257027" cy="60540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Fatigue Failure: Micrograph showing various stages of fatigue crack growth</a:t>
            </a:r>
          </a:p>
        </p:txBody>
      </p:sp>
    </p:spTree>
    <p:extLst>
      <p:ext uri="{BB962C8B-B14F-4D97-AF65-F5344CB8AC3E}">
        <p14:creationId xmlns:p14="http://schemas.microsoft.com/office/powerpoint/2010/main" val="3787282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Creep Deformation and Failure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19" y="850858"/>
            <a:ext cx="5483942" cy="42943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9291" y="1778814"/>
            <a:ext cx="45640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Stress–induced vacancy diffusion; grain boundary diffusion; dislocation motion; grain boundary sliding.</a:t>
            </a:r>
          </a:p>
        </p:txBody>
      </p:sp>
    </p:spTree>
    <p:extLst>
      <p:ext uri="{BB962C8B-B14F-4D97-AF65-F5344CB8AC3E}">
        <p14:creationId xmlns:p14="http://schemas.microsoft.com/office/powerpoint/2010/main" val="2676047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453</Words>
  <Application>Microsoft Office PowerPoint</Application>
  <PresentationFormat>Widescreen</PresentationFormat>
  <Paragraphs>85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109</cp:revision>
  <dcterms:created xsi:type="dcterms:W3CDTF">2018-09-04T10:03:30Z</dcterms:created>
  <dcterms:modified xsi:type="dcterms:W3CDTF">2024-08-20T05:41:56Z</dcterms:modified>
</cp:coreProperties>
</file>