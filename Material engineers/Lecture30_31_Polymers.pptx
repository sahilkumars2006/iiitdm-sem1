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8" r:id="rId42"/>
    <p:sldId id="299" r:id="rId43"/>
    <p:sldId id="300" r:id="rId44"/>
    <p:sldId id="301" r:id="rId45"/>
    <p:sldId id="302" r:id="rId46"/>
    <p:sldId id="303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CB1E19-955A-456C-9E5D-553061E3F00B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BC38F-76A6-475D-9A87-1AA0B17BE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795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547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842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690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022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223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950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993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302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FBC38F-76A6-475D-9A87-1AA0B17BE2AC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536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E4E50-9F75-4DA7-AD0F-4A53F33CAD71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37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9829-FB65-4A74-B93B-A2AC0DB3CA32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30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48FA-12EB-49D9-9A61-EBD84431EF7A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411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4C9B-7394-44BA-BD30-2FF87C825A48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65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6D17-2118-47D8-B830-EFA5A080548D}" type="datetime1">
              <a:rPr lang="en-IN" smtClean="0"/>
              <a:t>20-08-2024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30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7C01-0CB4-4708-85FC-6ABDAE56C6E9}" type="datetime1">
              <a:rPr lang="en-IN" smtClean="0"/>
              <a:t>20-08-2024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58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CED3-45F8-402A-AA03-55028586046B}" type="datetime1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16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32DD-8FE3-42BF-9189-77504FF52A2E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76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7DCB7-B57A-4F0A-B618-78C9CD8220ED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99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19BBA-3CEC-4F9D-8CFD-0F564BA72DCF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583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42067-29E4-4E30-A301-5F219282EE4A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34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A31BE-42BD-4507-AD17-26440FDCE293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7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gif"/><Relationship Id="rId4" Type="http://schemas.openxmlformats.org/officeDocument/2006/relationships/image" Target="../media/image12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 preferRelativeResize="0"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3" t="5329" r="5306" b="2876"/>
          <a:stretch/>
        </p:blipFill>
        <p:spPr>
          <a:xfrm>
            <a:off x="8707278" y="6"/>
            <a:ext cx="2700843" cy="2700843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0" y="3053892"/>
            <a:ext cx="12192000" cy="7017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dirty="0">
                <a:latin typeface="+mn-lt"/>
                <a:ea typeface="+mn-ea"/>
                <a:cs typeface="+mn-cs"/>
              </a:rPr>
              <a:t>Polymers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387522" y="4121624"/>
            <a:ext cx="9144000" cy="1450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</a:t>
            </a:r>
          </a:p>
          <a:p>
            <a:r>
              <a:rPr lang="en-IN" b="1" dirty="0"/>
              <a:t> </a:t>
            </a:r>
          </a:p>
          <a:p>
            <a:r>
              <a:rPr lang="en-IN" b="1" dirty="0" err="1"/>
              <a:t>Dr.</a:t>
            </a:r>
            <a:r>
              <a:rPr lang="en-IN" b="1" dirty="0"/>
              <a:t> J. </a:t>
            </a:r>
            <a:r>
              <a:rPr lang="en-IN" b="1" dirty="0" err="1"/>
              <a:t>Venkatramani</a:t>
            </a:r>
            <a:endParaRPr lang="en-IN" b="1" dirty="0"/>
          </a:p>
          <a:p>
            <a:r>
              <a:rPr lang="en-IN" b="1" dirty="0"/>
              <a:t>219-B</a:t>
            </a:r>
          </a:p>
          <a:p>
            <a:r>
              <a:rPr lang="en-IN" b="1"/>
              <a:t>venkatramani@iiitdm.ac.in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8759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Polymers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3220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Naturally occurring polymers – wood, rubber, cotton, wool, leather and silk, proteins, enzymes, starches and cellulose.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polymers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586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Hydrocarbons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322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organic materials are hydrocarbons – hydrogen and carbon.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3</a:t>
            </a:fld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397" y="923330"/>
            <a:ext cx="8441673" cy="579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78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Polymer molecules – macromolecules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322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Replication of repeat units. Not to be confused with monomers.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4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57" y="923330"/>
            <a:ext cx="7690339" cy="586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628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Polymer molecules – Chemistry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5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52322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Polyethylene, a solid material from ethylene, which is gaseous state under room temperature and pressure.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943" y="1046440"/>
            <a:ext cx="5251022" cy="136087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24" y="1046440"/>
            <a:ext cx="1046969" cy="15782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5138" y="979814"/>
            <a:ext cx="3365160" cy="1568507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V="1">
            <a:off x="1569493" y="1808277"/>
            <a:ext cx="736979" cy="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5834631" y="1726877"/>
            <a:ext cx="736979" cy="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2401" y="3679067"/>
            <a:ext cx="1714564" cy="1586372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>
            <a:off x="11019683" y="2548321"/>
            <a:ext cx="0" cy="1027392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9245221" y="4472253"/>
            <a:ext cx="736979" cy="1"/>
          </a:xfrm>
          <a:prstGeom prst="straightConnector1">
            <a:avLst/>
          </a:prstGeom>
          <a:ln w="28575"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524" y="3808114"/>
            <a:ext cx="8320880" cy="204677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774209" y="3808114"/>
            <a:ext cx="900752" cy="15691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1774209" y="5377218"/>
            <a:ext cx="10781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Unit</a:t>
            </a:r>
            <a:endParaRPr lang="en-IN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523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Polymer molecules – Chemistry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6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52322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Polytetrafluroethylene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(PTFE) a fluorocarbon, is hydrophobic.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459" y="923330"/>
            <a:ext cx="5026306" cy="21160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3239412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Polyvinylchloride (PVC)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459" y="3807850"/>
            <a:ext cx="5178143" cy="204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700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Polymer molecules – Chemistry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7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523220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all the repeating units are same, polymers are called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homopolymers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or more repeat units result in formation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copolymers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Block, Alternating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copolymers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types within this category.</a:t>
            </a:r>
          </a:p>
        </p:txBody>
      </p:sp>
      <p:pic>
        <p:nvPicPr>
          <p:cNvPr id="1026" name="Picture 2" descr="https://pslc.ws/macrog/images/copol0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326" y="3772486"/>
            <a:ext cx="7982679" cy="126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pslc.ws/macrog/images/copol03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748" y="5287923"/>
            <a:ext cx="7922918" cy="1250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pslc.ws/macrog/images/copol01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743" y="2364737"/>
            <a:ext cx="6695349" cy="1152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3244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Polymer molecules – Chemistry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8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52322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units for various copolymer rubbers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52" y="1046440"/>
            <a:ext cx="10426094" cy="567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65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Polymer molecules – Chemistry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9</a:t>
            </a:fld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165" y="659745"/>
            <a:ext cx="6434707" cy="619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055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10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936" y="523220"/>
            <a:ext cx="7122249" cy="63347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Polymer molecules – Chemistry</a:t>
            </a:r>
          </a:p>
        </p:txBody>
      </p:sp>
    </p:spTree>
    <p:extLst>
      <p:ext uri="{BB962C8B-B14F-4D97-AF65-F5344CB8AC3E}">
        <p14:creationId xmlns:p14="http://schemas.microsoft.com/office/powerpoint/2010/main" val="118221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11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/>
              <a:t>Concept </a:t>
            </a:r>
            <a:r>
              <a:rPr lang="en-IN" sz="2800" dirty="0"/>
              <a:t>of Molecular Weight of Polymers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0" y="523220"/>
                <a:ext cx="12192000" cy="2280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molecular weight is specified.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average molecular weight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I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IN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IN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where,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number fraction of molecules with molecular weight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I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 average molecular weight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IN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where,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I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weight fraction of molecules with molecular weight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I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3220"/>
                <a:ext cx="12192000" cy="2280496"/>
              </a:xfrm>
              <a:prstGeom prst="rect">
                <a:avLst/>
              </a:prstGeom>
              <a:blipFill rotWithShape="0">
                <a:blip r:embed="rId2"/>
                <a:stretch>
                  <a:fillRect l="-450" t="-1604" r="-500" b="-181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9002"/>
            <a:ext cx="7634976" cy="38789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381" y="2803716"/>
            <a:ext cx="3863673" cy="355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387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12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Concepts of Molecular Weight of Polymers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0" y="523220"/>
                <a:ext cx="12192000" cy="1790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Degree of polymerization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IN" sz="20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</m:e>
                            </m:acc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where,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molecular weight of the repeat unit.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IN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Polymer properties are strongly dependent on the degree of polymerization or average length of polymer chains.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melting or softening temperature increases with increasing molecular weight.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3220"/>
                <a:ext cx="12192000" cy="1790362"/>
              </a:xfrm>
              <a:prstGeom prst="rect">
                <a:avLst/>
              </a:prstGeom>
              <a:blipFill rotWithShape="0">
                <a:blip r:embed="rId2"/>
                <a:stretch>
                  <a:fillRect l="-450" b="-51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6348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678" y="523220"/>
            <a:ext cx="9354782" cy="196804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13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Polymer Shapes, Structures, Configurations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0312" y="1808569"/>
            <a:ext cx="21972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Infinite possibilities of keeping the third atom without violating the 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9422" y="1976985"/>
            <a:ext cx="2197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Straight chain without any twists or kinks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2298" y="2237915"/>
            <a:ext cx="2197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Twisted Chain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571" y="3074874"/>
            <a:ext cx="3525459" cy="37831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38030" y="4790395"/>
            <a:ext cx="2197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of the configuration of a long polymer chain</a:t>
            </a:r>
          </a:p>
        </p:txBody>
      </p:sp>
    </p:spTree>
    <p:extLst>
      <p:ext uri="{BB962C8B-B14F-4D97-AF65-F5344CB8AC3E}">
        <p14:creationId xmlns:p14="http://schemas.microsoft.com/office/powerpoint/2010/main" val="2957524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14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Polymer Shapes, Structures, Configurations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9484" y="3012767"/>
            <a:ext cx="2197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Polymers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26" y="743394"/>
            <a:ext cx="4603876" cy="22492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167" y="495301"/>
            <a:ext cx="3900464" cy="26856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83556" y="2915020"/>
            <a:ext cx="2197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Branched Polymers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005" y="3516461"/>
            <a:ext cx="4879763" cy="19153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60553" y="5831026"/>
            <a:ext cx="2197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Cross–linked Polymers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665" y="3516461"/>
            <a:ext cx="3913020" cy="24468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00111" y="5831026"/>
            <a:ext cx="2197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Polymers</a:t>
            </a:r>
          </a:p>
        </p:txBody>
      </p:sp>
    </p:spTree>
    <p:extLst>
      <p:ext uri="{BB962C8B-B14F-4D97-AF65-F5344CB8AC3E}">
        <p14:creationId xmlns:p14="http://schemas.microsoft.com/office/powerpoint/2010/main" val="1025177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15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Polymer Shapes, Structures, Configurations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2124620"/>
            <a:ext cx="27147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to Tail Configuration – more predominant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11" y="596282"/>
            <a:ext cx="2522553" cy="1528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77451" y="2307905"/>
            <a:ext cx="2714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to Head Configuration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482" y="621430"/>
            <a:ext cx="4338485" cy="163136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99256" y="2351003"/>
            <a:ext cx="537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Isotactic configuration under Stereoisomerism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96" y="5574699"/>
            <a:ext cx="537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Syndiotactic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configuration under Stereoisomerism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54" y="3726020"/>
            <a:ext cx="4485551" cy="16542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95458" y="5530845"/>
            <a:ext cx="537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Atactic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configuration under Stereoisomerism– Random Positioning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097" y="3639399"/>
            <a:ext cx="4519331" cy="16267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3802" y="567061"/>
            <a:ext cx="2673892" cy="154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304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664" y="1906305"/>
            <a:ext cx="2374168" cy="16692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507" y="1906305"/>
            <a:ext cx="2746576" cy="173204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16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Polymer Shapes, Structures, Configurations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970" y="3711250"/>
            <a:ext cx="537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 of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Polyisoprene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natural rubber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16151"/>
            <a:ext cx="2920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Geometrical Isomerism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571" y="3790272"/>
            <a:ext cx="537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 Structure of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Polyisoprene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461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17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715" y="559559"/>
            <a:ext cx="7434943" cy="62984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A Summary of Story So Far…</a:t>
            </a:r>
          </a:p>
        </p:txBody>
      </p:sp>
    </p:spTree>
    <p:extLst>
      <p:ext uri="{BB962C8B-B14F-4D97-AF65-F5344CB8AC3E}">
        <p14:creationId xmlns:p14="http://schemas.microsoft.com/office/powerpoint/2010/main" val="3522633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18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Thermoplastic and Thermosetting Polymers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3220"/>
            <a:ext cx="12192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Thermoplastic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polymers are the ones that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soften upon heating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harden upon cooling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changes are reversible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Polyethylene, Polystyrene, Polyethylene terephthalate, Polyvinyl Chloride are some of the examples of thermoplastic polymers.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Thermosetting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polymers are the network polymers involving covalent cross–linking between adjacent chains. They harden upon formation and cannot be softened upon heating.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Vulcanized rubbers, epoxies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phenolics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some polyester resins.</a:t>
            </a:r>
          </a:p>
        </p:txBody>
      </p:sp>
    </p:spTree>
    <p:extLst>
      <p:ext uri="{BB962C8B-B14F-4D97-AF65-F5344CB8AC3E}">
        <p14:creationId xmlns:p14="http://schemas.microsoft.com/office/powerpoint/2010/main" val="1973661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19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Polymer Crystallinity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3220"/>
            <a:ext cx="69603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Molecular substances of small molecules tend to form crystalline structures.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density of crystalline polymers are more than the amorphous ones of same molecular weight.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polymers tend to form crystalline structures upon controlled, slow cooling.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stereoisomers,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atactic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polymers (being random) cannot attain crystallinity.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Syndiotactic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isotactic can form crystalline structures.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copolymers have a tendency to form crystalline structures.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417" y="570648"/>
            <a:ext cx="4860429" cy="531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877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20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Defects in polymers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026" y="523220"/>
            <a:ext cx="8486818" cy="60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088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21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Mechanical Behaviour of Polymers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3220"/>
            <a:ext cx="69603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 A – Brittle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 B – Elastic-Plastic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 C – Highly Elastic (Elastomers)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368" y="523220"/>
            <a:ext cx="7141874" cy="518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57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22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Mechanical Behaviour of Polymers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275" y="523220"/>
            <a:ext cx="9286052" cy="633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032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23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Mechanical Behaviour of Polymers – Influence of Temperature &amp; Strain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3220"/>
            <a:ext cx="5505707" cy="337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yield strength and ductility, Elastic modulus also changes (decreases with increase in temperature).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– Strain curves shown in the adjacent figure are for PMMA.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PMMA is 105</a:t>
            </a:r>
            <a:r>
              <a:rPr lang="en-IN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Decreasing the rate of strain applied has the same influence as increasing the temperature.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707" y="523220"/>
            <a:ext cx="6686293" cy="488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500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24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Macroscopic Deformation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3220"/>
            <a:ext cx="861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Semi–crystalline polymers undergo very large strains and have stress–strain curves as shown in the figure below.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770" y="1353980"/>
            <a:ext cx="6599305" cy="514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47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25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Viscoelastic Deformation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76" y="583919"/>
            <a:ext cx="3213321" cy="19169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3679" y="2556878"/>
            <a:ext cx="2661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loading history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160" y="583918"/>
            <a:ext cx="3248101" cy="19729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94539" y="2500897"/>
            <a:ext cx="3865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response Strain history for an elastic solid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676" y="5763081"/>
            <a:ext cx="3865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response Strain history for a viscoelastic solid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74" y="3370899"/>
            <a:ext cx="3502231" cy="2279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12923" y="5760843"/>
            <a:ext cx="3865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response Strain history for a viscous medium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305" y="3370899"/>
            <a:ext cx="3591196" cy="219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639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26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Viscoelastic Deformation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23220"/>
            <a:ext cx="68511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Viscoelastic behaviour of polymers is strongly dependent on both time and temperature.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relaxation measurements where, an instantaneous, low strain is applied on the specimen, is normally used for testing viscoelastic polymers.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275" y="3737721"/>
            <a:ext cx="2294797" cy="12943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144" y="-33138"/>
            <a:ext cx="4353635" cy="680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008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27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Viscoelastic Deformation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23220"/>
            <a:ext cx="6864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 modulus is a function of the temperature.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739" y="0"/>
            <a:ext cx="5306262" cy="63563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7" y="923330"/>
            <a:ext cx="5853023" cy="4917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67" y="6041297"/>
            <a:ext cx="68648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 modulus for (A) isotactic, (B) lightly cross–linked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atactic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(C) amorphous polystyrene</a:t>
            </a:r>
          </a:p>
        </p:txBody>
      </p:sp>
    </p:spTree>
    <p:extLst>
      <p:ext uri="{BB962C8B-B14F-4D97-AF65-F5344CB8AC3E}">
        <p14:creationId xmlns:p14="http://schemas.microsoft.com/office/powerpoint/2010/main" val="3184297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28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Fracture of Polymers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23220"/>
            <a:ext cx="119690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Thermosetting polymers fail in brittle manner. The covalent bonds of cross–linked structure or the network break.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Thermoplastic polymers may undergo either brittle or ductile modes of failure.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5205" y="1883470"/>
            <a:ext cx="2852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Phenomenon of Crazing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3579"/>
            <a:ext cx="5095364" cy="369413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007" y="2380569"/>
            <a:ext cx="4730712" cy="3366669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H="1" flipV="1">
            <a:off x="9171296" y="3704679"/>
            <a:ext cx="168067" cy="2035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930185" y="5644172"/>
            <a:ext cx="10520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Fibrils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10278088" y="3638115"/>
            <a:ext cx="168067" cy="2035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36977" y="5577608"/>
            <a:ext cx="1667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Microvoids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018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29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Fracture of Polymers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23220"/>
            <a:ext cx="350747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Strength</a:t>
            </a:r>
          </a:p>
          <a:p>
            <a:pPr algn="just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Fatigue Strength</a:t>
            </a:r>
          </a:p>
          <a:p>
            <a:pPr algn="just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Tear Strength and Hardness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45" y="523220"/>
            <a:ext cx="7397756" cy="530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7540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30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7438030" cy="9541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Mechanisms of Deformation and Strengthening of Polymers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1" y="984210"/>
            <a:ext cx="7438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Semi–crystalline polymers have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spherulitic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microstructure with crystallites embedded within amorphous zones.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212" y="0"/>
            <a:ext cx="4478714" cy="64273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2" y="2077267"/>
            <a:ext cx="6187145" cy="40672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1861" y="6156295"/>
            <a:ext cx="4926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Spherulitic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microstructure of polyethylene</a:t>
            </a:r>
          </a:p>
        </p:txBody>
      </p:sp>
    </p:spTree>
    <p:extLst>
      <p:ext uri="{BB962C8B-B14F-4D97-AF65-F5344CB8AC3E}">
        <p14:creationId xmlns:p14="http://schemas.microsoft.com/office/powerpoint/2010/main" val="32027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31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Deformation of </a:t>
            </a:r>
            <a:r>
              <a:rPr lang="en-IN" sz="2800" dirty="0" err="1"/>
              <a:t>Semicrystalline</a:t>
            </a:r>
            <a:r>
              <a:rPr lang="en-IN" sz="2800" dirty="0"/>
              <a:t> Polymers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1" y="534957"/>
            <a:ext cx="12192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 deformation occurs in two stages – (1) amorphous (2) both amorphous and lamellae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6163"/>
          <a:stretch/>
        </p:blipFill>
        <p:spPr>
          <a:xfrm>
            <a:off x="-1" y="2246085"/>
            <a:ext cx="3098043" cy="31067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424" y="1309165"/>
            <a:ext cx="3907400" cy="457900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5256" y="1309165"/>
            <a:ext cx="3793887" cy="463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208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32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Deformation of </a:t>
            </a:r>
            <a:r>
              <a:rPr lang="en-IN" sz="2800" dirty="0" err="1"/>
              <a:t>Semicrystalline</a:t>
            </a:r>
            <a:r>
              <a:rPr lang="en-IN" sz="2800" dirty="0"/>
              <a:t> Polymers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1" y="534957"/>
            <a:ext cx="12192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stage 2, plastic deformation begins. In stage 3, lamellae orients such that the chains of lamellae are aligned in the direction of the load.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052" y="1198238"/>
            <a:ext cx="6829766" cy="534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191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33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Deformation of </a:t>
            </a:r>
            <a:r>
              <a:rPr lang="en-IN" sz="2800" dirty="0" err="1"/>
              <a:t>Semicrystalline</a:t>
            </a:r>
            <a:r>
              <a:rPr lang="en-IN" sz="2800" dirty="0"/>
              <a:t> Polymers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1" y="534957"/>
            <a:ext cx="12192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stage 4, many chains in the lamellae region unwind.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699" y="1167395"/>
            <a:ext cx="5490208" cy="518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928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34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Deformation of </a:t>
            </a:r>
            <a:r>
              <a:rPr lang="en-IN" sz="2800" dirty="0" err="1"/>
              <a:t>Semicrystalline</a:t>
            </a:r>
            <a:r>
              <a:rPr lang="en-IN" sz="2800" dirty="0"/>
              <a:t> Polymers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34957"/>
            <a:ext cx="7383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stage 5, many chains in the lamellae region unwind significantly and orient along the direction of load.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916" y="1106857"/>
            <a:ext cx="2518069" cy="54320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439" y="0"/>
            <a:ext cx="2383808" cy="688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276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35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Factors influencing the mechanical properties of </a:t>
            </a:r>
            <a:r>
              <a:rPr lang="en-IN" sz="2800" dirty="0" err="1"/>
              <a:t>semicrystalline</a:t>
            </a:r>
            <a:r>
              <a:rPr lang="en-IN" sz="2800" dirty="0"/>
              <a:t> polymers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34957"/>
            <a:ext cx="446527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Strain rate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Molecular weight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Degree of crystallinity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Predeformation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drawing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Annealing – to increase yield strength, increase tensile modulus and reduce ductility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273" y="534957"/>
            <a:ext cx="7586383" cy="446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1906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36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Deformation of Elastomers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57" y="523220"/>
            <a:ext cx="2927110" cy="42171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824" y="523220"/>
            <a:ext cx="7616759" cy="24722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97376" y="3968048"/>
            <a:ext cx="44652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material must be above glass transition temperature</a:t>
            </a:r>
          </a:p>
        </p:txBody>
      </p:sp>
    </p:spTree>
    <p:extLst>
      <p:ext uri="{BB962C8B-B14F-4D97-AF65-F5344CB8AC3E}">
        <p14:creationId xmlns:p14="http://schemas.microsoft.com/office/powerpoint/2010/main" val="38270008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37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Deformation of Elastomers – Vulcanization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991" y="1071405"/>
            <a:ext cx="4641734" cy="21531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81" y="655093"/>
            <a:ext cx="6701523" cy="513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06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38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Crystallization, Melting and Glass Transition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" y="523220"/>
            <a:ext cx="12078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Crystallization happens upon cooling.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031" y="1163516"/>
            <a:ext cx="7083188" cy="49681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9133" y="6043934"/>
            <a:ext cx="17969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Polypropylene</a:t>
            </a:r>
          </a:p>
        </p:txBody>
      </p:sp>
    </p:spTree>
    <p:extLst>
      <p:ext uri="{BB962C8B-B14F-4D97-AF65-F5344CB8AC3E}">
        <p14:creationId xmlns:p14="http://schemas.microsoft.com/office/powerpoint/2010/main" val="34521043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39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Crystallization, Melting and Glass Transition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3220"/>
            <a:ext cx="686482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Aromatic groups and double bonds increase melting temperature.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Bulky or large side group sizes increase melting temperature.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low molecular weights, increasing number average molecular weight increases the melting temperature.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Branching may decrease the melting temperature.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Glass transition temperature also has similar dependence. In addition,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stronger dependence on chain flexibility. Normally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lies between 0.5 – 0.8 T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233" y="523220"/>
            <a:ext cx="5336275" cy="557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9731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40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Various polymer types – Applications Perspective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3220"/>
            <a:ext cx="32072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Plastics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Elastomers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Coatings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Adhesives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615" y="523220"/>
            <a:ext cx="641785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Films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Foams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UHMWPE – Ultra High Molecular Weight Polyethylene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Liquid Crystal Polymers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Thermoplastic Elastomers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61815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41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Polymer Synthesis and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3220"/>
            <a:ext cx="7410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Polymer additives</a:t>
            </a:r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1" y="1046440"/>
            <a:ext cx="1172342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Fillers – Strength, hardness, abrasive resistance are improved. Typical fillers used are wood flour, sand particles, silica flour, glass, clay, carbon, talc, limestone.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Plasticizers – to soften and induce ductility. Generally low molecular weight liquids are added.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Stabilizers – to absorb UV light. UV light can degrade materials by causing breakage of existing bonds and further unwanted cross–linking.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Colorants – for imparting a specific colour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Flame Retardants – for fire fighting applications</a:t>
            </a:r>
          </a:p>
        </p:txBody>
      </p:sp>
    </p:spTree>
    <p:extLst>
      <p:ext uri="{BB962C8B-B14F-4D97-AF65-F5344CB8AC3E}">
        <p14:creationId xmlns:p14="http://schemas.microsoft.com/office/powerpoint/2010/main" val="8785961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42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Forming Techniques for Plastics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3220"/>
            <a:ext cx="7410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molding</a:t>
            </a:r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211" y="1046441"/>
            <a:ext cx="8026551" cy="516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6107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43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43" y="1946582"/>
            <a:ext cx="9640250" cy="38365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Forming Techniques for Plastics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3220"/>
            <a:ext cx="7410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molding</a:t>
            </a:r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5395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44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46" y="1379836"/>
            <a:ext cx="11500695" cy="36698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Forming Techniques for Plastics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3220"/>
            <a:ext cx="7410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Extrusion</a:t>
            </a:r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1264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45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49" y="928048"/>
            <a:ext cx="10936355" cy="50633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Forming Techniques for Plastics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3220"/>
            <a:ext cx="7410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Polymer Films</a:t>
            </a:r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5827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46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Forming Techniques for Plastics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3220"/>
            <a:ext cx="7410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Spinning</a:t>
            </a:r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554" name="Picture 2" descr="Image result for dry spinn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95" y="1337916"/>
            <a:ext cx="3147183" cy="4203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6" name="Picture 4" descr="Image result for wet spinn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4" y="1446550"/>
            <a:ext cx="7193171" cy="389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82388" y="5780459"/>
            <a:ext cx="1746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Dry Spinning</a:t>
            </a:r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53882" y="5780459"/>
            <a:ext cx="1746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Wet Spinning</a:t>
            </a:r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324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5048</TotalTime>
  <Words>1266</Words>
  <Application>Microsoft Office PowerPoint</Application>
  <PresentationFormat>Widescreen</PresentationFormat>
  <Paragraphs>257</Paragraphs>
  <Slides>46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Engineering</dc:title>
  <dc:creator>Siva Prasad A V S</dc:creator>
  <cp:lastModifiedBy>jagadish151223@outlook.com</cp:lastModifiedBy>
  <cp:revision>170</cp:revision>
  <dcterms:created xsi:type="dcterms:W3CDTF">2018-09-04T10:03:30Z</dcterms:created>
  <dcterms:modified xsi:type="dcterms:W3CDTF">2024-08-20T05:43:22Z</dcterms:modified>
</cp:coreProperties>
</file>