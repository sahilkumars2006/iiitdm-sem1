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83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494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115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55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83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22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679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92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18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1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01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899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2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135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235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9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135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075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246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602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2903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553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250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73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76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10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8027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0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Applications and Processing of Metals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320119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Types of Metal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1369381"/>
            <a:ext cx="3384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Ferrous Alloys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Non–Ferrous Alloys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843" r="1517" b="365"/>
          <a:stretch/>
        </p:blipFill>
        <p:spPr>
          <a:xfrm>
            <a:off x="2580665" y="0"/>
            <a:ext cx="9611335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41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Low Carbon Steels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427685"/>
            <a:ext cx="424445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Carbon Steels &lt; 0.25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carbon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Unresponsive to heat treatments intended to produce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is accomplished by cold work.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Microstructures consist of ferrite and pearlite constituents. Relatively soft and weak, but ductile. They are also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weldable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are least expensive.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automobile parts, structural shapes, sheets used in pipelines, buildings, bridges and tin cans.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455" y="1610436"/>
            <a:ext cx="7695720" cy="320722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2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466663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Strength low alloy steel (HSLA),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formable, ductile and corrosion resistant.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26" y="866772"/>
            <a:ext cx="9857036" cy="5970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Low Carbon Steels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88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Medium Carbon Steels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3682"/>
            <a:ext cx="428654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 to 0.6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carbon.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Austenitizing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quenching and then tempering → microstructures of tempered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low hardenability and can be heat treated in only thin sections of samples with very rapid quenching rates.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alloying elements improve their capacity to be heat treated. Stronger than the low carbon steels.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Nomenclature: AISI, SAE and ASTM designation – four digit number where first two digits denote the alloy content and the last two digits give the carbon concentration.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547" y="523220"/>
            <a:ext cx="7905453" cy="38539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7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High Carbon Steels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614" y="523219"/>
            <a:ext cx="9292387" cy="3557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" y="523220"/>
            <a:ext cx="286603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 to 1.4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carbon, hardest, strongest and least ductile. Used in hardened and tempered condition.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Tools, Cutting tools, dies, punches etc.,  are all made of these steels to have good wear resistance.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Alloying elements are V, Cr, W and Mo.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8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Stainless Steels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523220"/>
            <a:ext cx="395785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resistant to corrosion. 9–11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Cr is added.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types: Martensitic,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Austenitic microstructure.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Austenitic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cold worked to make them stronger and harder. They are not heat treatable.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Austentic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more corrosion resistant.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high temperature applications like gas turbines, steam boilers.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975" y="523219"/>
            <a:ext cx="8010026" cy="33118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211" y="3835020"/>
            <a:ext cx="7737510" cy="18970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5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Stainless Steels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523220"/>
            <a:ext cx="395785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resistant to corrosion. 9–11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Cr is added.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types: Martensitic,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Austenitic microstructure.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Austenitic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cold worked to make them stronger and harder. They are not heat treatable.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Austentic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more corrosion resistant.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high temperature applications like gas turbines, steam boilers.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957852" y="523220"/>
            <a:ext cx="7888406" cy="5324535"/>
            <a:chOff x="4556378" y="523220"/>
            <a:chExt cx="6491175" cy="408396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82304"/>
            <a:stretch/>
          </p:blipFill>
          <p:spPr>
            <a:xfrm>
              <a:off x="4556378" y="523220"/>
              <a:ext cx="6491175" cy="74602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10774" y="1232702"/>
              <a:ext cx="6382384" cy="3374485"/>
            </a:xfrm>
            <a:prstGeom prst="rect">
              <a:avLst/>
            </a:prstGeom>
          </p:spPr>
        </p:pic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46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Cast Irons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" y="523220"/>
            <a:ext cx="46118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content &gt; 2.14% (Austenite phase solubility). Typically 3–4.5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carbon.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melted and amenable to casting.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 irons are generally brittle, although it is possible to induce some ductility.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Cementite is a metastable compound.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cooling rates and/ or Si concentrations (of about 1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 favour formation of graphite.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882" y="523219"/>
            <a:ext cx="7467265" cy="57956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32" y="4995865"/>
            <a:ext cx="4562534" cy="55877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0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Gray</a:t>
            </a:r>
            <a:r>
              <a:rPr lang="en-IN" sz="2800" dirty="0"/>
              <a:t> Irons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65782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to 4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carbon and 1 to 3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Si.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Graphite exists in the form of flakes.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and brittle in tension.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at damping vibrational energy. Base to the structures requiring damping are constructed using these materials.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Casting pieces of intricate shapes are possible because of their high fluidity at casting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expensive of all metallic materials.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676" y="523220"/>
            <a:ext cx="3355754" cy="38461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74005" y="4369391"/>
            <a:ext cx="4611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Flake like graphite structure within ferrite or pearlite phase. Length scale 20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8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Gray</a:t>
            </a:r>
            <a:r>
              <a:rPr lang="en-IN" sz="2800" dirty="0"/>
              <a:t> Irons – Other possible </a:t>
            </a:r>
            <a:r>
              <a:rPr lang="en-IN" sz="2800" dirty="0" err="1"/>
              <a:t>microstructres</a:t>
            </a:r>
            <a:endParaRPr lang="en-IN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26" y="0"/>
            <a:ext cx="5213444" cy="6835522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78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Nodular (Ductile) Irons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65782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Mg or Cerium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cast iron.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yield and tensile strengths compared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is also higher (10 to 20%).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Valves, pump bodies, crank–shafts, gears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74005" y="4356053"/>
            <a:ext cx="4611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Nodular shaped graphite regions within ferrite or pearlite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009" y="593876"/>
            <a:ext cx="3009874" cy="349209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0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White Iron and Malleable Iron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46091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&lt; 1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and rapid cooling rates. Results in white appearance of the fracture surface of this alloy.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hard and wear resistant due to presence of large amounts of cementite.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treating white iron at around 800 to 900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in an inert atmosphere results in malleable iron.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Appreciable ductility and malleability.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194" y="4287814"/>
            <a:ext cx="2973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cast iron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194" y="523220"/>
            <a:ext cx="2973611" cy="3483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33" y="523220"/>
            <a:ext cx="3046138" cy="347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00596" y="4267260"/>
            <a:ext cx="2973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Malleable iron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3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Compacted Graphite Iron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60438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content between 1.7 and 3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while, carbon between 3.1 and 4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thermal conductivity better resistance to thermal shock, lower oxidation at elevated temperatures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diesel engine blocks; exhaust manifolds; gearbox housings; brake discs for high–speed trains and flywheels.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61" y="523220"/>
            <a:ext cx="3662363" cy="4144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6697" y="4790480"/>
            <a:ext cx="297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CGI with graphite as both nodules and flakes.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25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Non–Ferrous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11818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disadvantages of Ferrous alloys: higher density; lower electrical conductivity; susceptibility to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– Cast alloys and Wrought alloys.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Cu, Al, Mg, Ti, Refractory metals,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Superalloys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noble metals and others.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4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Copper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47494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Unalloyed copper is highly soft and ductile to be machined. Highly suitable for cold working and resistant to corrosion.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working and solid solution strengthening are the ways to strengthen Copper.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– Zn system gives brass alloy, with Zn as solid impurity in Copper.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91" y="523220"/>
            <a:ext cx="7187509" cy="633478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430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Aluminium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47494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density (2.7 g/cc), high electrical and thermal conductivities and good resistance to corrosion.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formable. Ductility retained at even very low temperatures.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low melting temperature (660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Cu, Mg, Si,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Zn are alloying elements.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69" y="-1"/>
            <a:ext cx="5600131" cy="684789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73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Magnesium and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517793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– 1.7 g/cc.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alloys are difficult to deform – mostly they are processed through casting and or hot working processes.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melting point: 650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and susceptible to corrosion.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powder ignites easily when heated in air.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Al, Zn,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major alloying elements.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Recyclable and less expensive to produce – usable as alternative to plastics for weight reduction.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864" y="0"/>
            <a:ext cx="7014060" cy="489954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822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Ti and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394420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– 4.5 g/cc.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melting point: 1668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strong – room temperature yield strength is around 1400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Highly ductile and easily forged and machined.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chemical reactivity at elevated temperatures. Requires nonconventional refining, melting and casting techniques – increasing its production cost.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resistance is also very good.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utilized in airplane structures.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563" y="0"/>
            <a:ext cx="8233438" cy="425810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43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Refractory Metals and </a:t>
            </a:r>
            <a:r>
              <a:rPr lang="en-IN" sz="2800" dirty="0" err="1"/>
              <a:t>Superalloys</a:t>
            </a:r>
            <a:endParaRPr lang="en-IN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117507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Refractory Metals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high melting point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Mo, W, Ta with melting temperatures ranging from 2468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to 3410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and Mo are alloyed with stainless steels to improve corrosion resistance.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Superalloys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Superlative combinations of properties, used in aircraft turbine components.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Inconel 718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Austentic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and Cr based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superalloy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Other possible base metals can be Iron and Cobalt.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alloying elements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Mo, W, Ta and Ti.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04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Noble metals and Other Miscellaneous non–alloys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117507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soft, ductile and oxidation resistant – silver, gold, platinum, palladium, rhodium, ruthenium, iridium and osmium.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 based alloy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pumps, valves and other components which are prone to corrosion. Contains 65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Ni, 28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Cu and the rest iron.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Lead, Tin and their alloys also have usage in soldering applications as their melting temperatures are lower and corrosion resistance is good.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coating on the inside of steel food containers for inhibiting any reactions between the steel and the food.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Unalloyed Zn is highly susceptible to corrosion. It is added as a sacrificial layer on plain carbon steel – Galvanization.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cladding for uranium fuel in water–cooled nuclear reactors.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916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Fabrication of Metals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5" y="523219"/>
            <a:ext cx="12178386" cy="432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46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operations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56" y="678192"/>
            <a:ext cx="4169286" cy="28975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753" y="1032279"/>
            <a:ext cx="3137035" cy="22022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719" y="4122963"/>
            <a:ext cx="4742599" cy="22333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893" y="3931685"/>
            <a:ext cx="4945841" cy="20460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33209" y="3330575"/>
            <a:ext cx="171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2582" y="3166801"/>
            <a:ext cx="171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3209" y="6338857"/>
            <a:ext cx="171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1872" y="6131931"/>
            <a:ext cx="171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</a:p>
        </p:txBody>
      </p:sp>
    </p:spTree>
    <p:extLst>
      <p:ext uri="{BB962C8B-B14F-4D97-AF65-F5344CB8AC3E}">
        <p14:creationId xmlns:p14="http://schemas.microsoft.com/office/powerpoint/2010/main" val="2864858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Thermal Processing of Metals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24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0" y="514418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Annealing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is exposed to elevated temperatures for extended periods and then cooled down slowly. Required to (1) Relieve stresses (2) Induce ductility and toughness (3) form a specific microstructure.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stages – (1) heating to a desired temperature (2) holding or “soaking” (3) cooling to room temperature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annealing – to negate the effects of cold working. Recovery and recrystallization happens.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relief – to relieve the stresses caused by machining, grinding, heat treatment, non–uniform cooling.</a:t>
            </a:r>
          </a:p>
        </p:txBody>
      </p:sp>
    </p:spTree>
    <p:extLst>
      <p:ext uri="{BB962C8B-B14F-4D97-AF65-F5344CB8AC3E}">
        <p14:creationId xmlns:p14="http://schemas.microsoft.com/office/powerpoint/2010/main" val="1130848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Thermal Processing of Metals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25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0" y="514418"/>
            <a:ext cx="49039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Annealing of ferrous alloys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performed to refine the elongated grains obtained after rolling like plastic deformation processes. Air cooled thereafter. Fine pearlite is formed.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annealing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done in low and medium carbon steels which experience severe plastic deformation during machining operations. Heated above A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compositions less than Eutectoid and above A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compositions more than Eutectoid. Furnace cooled thereafter. Coarse pearlite is formed. </a:t>
            </a:r>
            <a:endParaRPr lang="en-I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56" y="523219"/>
            <a:ext cx="7188251" cy="464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7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Thermal Processing of Metals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26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0" y="514418"/>
            <a:ext cx="49039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Annealing of ferrous alloys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Spheroidizing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performed on medium and high carbon steels to induce ductility and softness. Cold working enhances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spheroidizing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rate.</a:t>
            </a:r>
            <a:endParaRPr lang="en-I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56" y="523219"/>
            <a:ext cx="7188251" cy="464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5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27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0" y="514418"/>
            <a:ext cx="12091916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Martensitic Transformation and Hardenability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I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Hardenability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the influence of alloy composition on the tendency of a steel alloy to undergo martensitic transformation. A qualitative measure of ability to 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deeper into the material.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confused with the hardness of a material.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Jominy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– Quench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669" y="1985216"/>
            <a:ext cx="3365307" cy="48494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60" y="1985216"/>
            <a:ext cx="4831692" cy="45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83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28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736" y="523219"/>
            <a:ext cx="5976117" cy="5454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23220"/>
            <a:ext cx="54181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the hardenability of an alloy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 composition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 medium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 Size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</p:txBody>
      </p:sp>
    </p:spTree>
    <p:extLst>
      <p:ext uri="{BB962C8B-B14F-4D97-AF65-F5344CB8AC3E}">
        <p14:creationId xmlns:p14="http://schemas.microsoft.com/office/powerpoint/2010/main" val="3193691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15" y="523220"/>
            <a:ext cx="5691250" cy="5833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23220"/>
            <a:ext cx="54181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the hardenability of an alloy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 composition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 medium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 Size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</p:txBody>
      </p:sp>
    </p:spTree>
    <p:extLst>
      <p:ext uri="{BB962C8B-B14F-4D97-AF65-F5344CB8AC3E}">
        <p14:creationId xmlns:p14="http://schemas.microsoft.com/office/powerpoint/2010/main" val="3618754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786" y="0"/>
            <a:ext cx="5680831" cy="603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54181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the hardenability of an alloy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 composition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 medium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 Size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9137" y="5994275"/>
            <a:ext cx="384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Hardenability band for 8620 steel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377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54181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the hardenability of an alloy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 composition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 medium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 Size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9137" y="5994275"/>
            <a:ext cx="384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as the quench medium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671" y="523220"/>
            <a:ext cx="5218101" cy="51439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927" y="5702170"/>
            <a:ext cx="3683600" cy="32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35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Heat Treatment of Steels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54181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the hardenability of an alloy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Alloy composition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 medium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 Size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9137" y="5994275"/>
            <a:ext cx="384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as the quench medium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229" y="523220"/>
            <a:ext cx="4878177" cy="51439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927" y="5702170"/>
            <a:ext cx="3683600" cy="32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31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3538</TotalTime>
  <Words>1731</Words>
  <Application>Microsoft Office PowerPoint</Application>
  <PresentationFormat>Widescreen</PresentationFormat>
  <Paragraphs>328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133</cp:revision>
  <dcterms:created xsi:type="dcterms:W3CDTF">2018-09-04T10:03:30Z</dcterms:created>
  <dcterms:modified xsi:type="dcterms:W3CDTF">2024-08-20T05:43:03Z</dcterms:modified>
</cp:coreProperties>
</file>