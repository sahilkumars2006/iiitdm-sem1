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79" r:id="rId3"/>
    <p:sldId id="286" r:id="rId4"/>
    <p:sldId id="289" r:id="rId5"/>
    <p:sldId id="290" r:id="rId6"/>
    <p:sldId id="291" r:id="rId7"/>
    <p:sldId id="292" r:id="rId8"/>
    <p:sldId id="287" r:id="rId9"/>
    <p:sldId id="288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6" r:id="rId23"/>
    <p:sldId id="305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4DB9B-14D1-469F-8522-A21C65B8D7B4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5BC86-2116-42F3-8B7E-AA5270F6B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99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707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810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981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747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395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69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426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908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541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367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370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579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586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152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977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294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1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5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1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9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8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4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7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329" r="5306" b="2876"/>
          <a:stretch/>
        </p:blipFill>
        <p:spPr>
          <a:xfrm>
            <a:off x="8707278" y="6"/>
            <a:ext cx="2700843" cy="2700843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0" y="3053892"/>
            <a:ext cx="12192000" cy="701731"/>
          </a:xfr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+mn-lt"/>
                <a:ea typeface="+mn-ea"/>
                <a:cs typeface="+mn-cs"/>
              </a:rPr>
              <a:t>The Structure of Crystalline Solids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387522" y="4121624"/>
            <a:ext cx="9144000" cy="1450074"/>
          </a:xfrm>
        </p:spPr>
        <p:txBody>
          <a:bodyPr anchor="ctr">
            <a:normAutofit fontScale="92500" lnSpcReduction="20000"/>
          </a:bodyPr>
          <a:lstStyle/>
          <a:p>
            <a:r>
              <a:rPr lang="en-IN" b="1" dirty="0"/>
              <a:t> </a:t>
            </a:r>
          </a:p>
          <a:p>
            <a:r>
              <a:rPr lang="en-IN" b="1" dirty="0" err="1"/>
              <a:t>Dr.</a:t>
            </a:r>
            <a:r>
              <a:rPr lang="en-IN" b="1" dirty="0"/>
              <a:t> J. </a:t>
            </a:r>
            <a:r>
              <a:rPr lang="en-IN" b="1" dirty="0" err="1"/>
              <a:t>Venkatramani</a:t>
            </a:r>
            <a:endParaRPr lang="en-IN" b="1" dirty="0"/>
          </a:p>
          <a:p>
            <a:r>
              <a:rPr lang="en-IN" b="1" dirty="0"/>
              <a:t>219-B</a:t>
            </a:r>
          </a:p>
          <a:p>
            <a:r>
              <a:rPr lang="en-IN" b="1"/>
              <a:t>venkatramani@iiitdm.ac.in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75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Crystalline Solid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31" y="864411"/>
            <a:ext cx="74243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which exhibit long range regular arrangement of atoms.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atoms are represented as ‘hard spheres’ of which the nearest ones touch each other.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Cell (Crystal System) → Lattice →  Atomic positions constitute a material microstructure.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Unit Cell? – A repeat unit which can be translated (and rotated?) to generate a regular arrangement of atoms.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576" y="0"/>
            <a:ext cx="3734424" cy="36877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356" y="3687774"/>
            <a:ext cx="3009456" cy="30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Lattice Types or </a:t>
            </a:r>
            <a:r>
              <a:rPr lang="en-IN" sz="2800" i="1" dirty="0"/>
              <a:t>Crystal</a:t>
            </a:r>
            <a:r>
              <a:rPr lang="en-IN" sz="2800" dirty="0"/>
              <a:t> Structures in Metals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055483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of all, what is a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 pattern of points in space. Examples: Dots or Grid for making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Rangoli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geometrical construct for the sake of understanding material microstructure.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(FCC)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(BCC)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Hexagonal Close – Packed (HCP)</a:t>
            </a:r>
          </a:p>
        </p:txBody>
      </p:sp>
    </p:spTree>
    <p:extLst>
      <p:ext uri="{BB962C8B-B14F-4D97-AF65-F5344CB8AC3E}">
        <p14:creationId xmlns:p14="http://schemas.microsoft.com/office/powerpoint/2010/main" val="716853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 Systems – Based on Unit Cell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605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Unit Cell Geometry there are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 systems.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18109"/>
          <a:stretch/>
        </p:blipFill>
        <p:spPr>
          <a:xfrm>
            <a:off x="272955" y="1168990"/>
            <a:ext cx="10874728" cy="17878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05" y="3489109"/>
            <a:ext cx="10442079" cy="192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9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 Systems – Based on Unit Cell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605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Unit Cell Geometry there are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 systems.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14" y="1046159"/>
            <a:ext cx="11076734" cy="19200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14" y="3781408"/>
            <a:ext cx="11520576" cy="147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 Systems – Based on Unit Cell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605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Unit Cell Geometry there are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 systems.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33" y="1168989"/>
            <a:ext cx="11171070" cy="19881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33" y="3582223"/>
            <a:ext cx="11059733" cy="210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 Systems – Based on Unit Cell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605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Unit Cell Geometry there are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 systems.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941" y="2101756"/>
            <a:ext cx="8901033" cy="191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01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Face–</a:t>
            </a:r>
            <a:r>
              <a:rPr lang="en-IN" sz="2800" dirty="0" err="1"/>
              <a:t>Centered</a:t>
            </a:r>
            <a:r>
              <a:rPr lang="en-IN" sz="2800" dirty="0"/>
              <a:t> Cubic Crystal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974450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Activity: Execute this in MATLAB and view the plot and 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doing it for other structures as well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endParaRPr lang="en-IN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clear 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XY1 = [0 0 0;1 0 0;1 1 0;0 1 0];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XY2 = [0 0 1;1 0 1;1 1 1;0 1 1];</a:t>
            </a:r>
          </a:p>
          <a:p>
            <a:r>
              <a:rPr lang="pt-B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XZ1 = [0 0 0;0 0 1;1 0 1;1 0 0];</a:t>
            </a:r>
          </a:p>
          <a:p>
            <a:r>
              <a:rPr lang="pt-B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XZ2 = [0 1 0;0 1 1;1 1 1;1 1 0];</a:t>
            </a:r>
          </a:p>
          <a:p>
            <a:r>
              <a:rPr lang="pl-PL" sz="1200" dirty="0">
                <a:solidFill>
                  <a:srgbClr val="000000"/>
                </a:solidFill>
                <a:latin typeface="Courier New" panose="02070309020205020404" pitchFamily="49" charset="0"/>
              </a:rPr>
              <a:t>YZ1 = [0 0 0;0 1 0;0 1 1;0 0 1];</a:t>
            </a:r>
          </a:p>
          <a:p>
            <a:r>
              <a:rPr lang="pl-PL" sz="1200" dirty="0">
                <a:solidFill>
                  <a:srgbClr val="000000"/>
                </a:solidFill>
                <a:latin typeface="Courier New" panose="02070309020205020404" pitchFamily="49" charset="0"/>
              </a:rPr>
              <a:t>YZ2 = [1 0 0;1 1 0;1 1 1;0 1 1];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plot3(XY1(:,1),XY1(:,2),XY1(:,3),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'linewidth'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,2,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'o'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'markersize'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,12)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plot3(XY2(:,1),XY2(:,2),XY2(:,3),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'linewidth'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,2,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'o'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'markersize'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,12)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plot3(XZ1(:,1),XZ1(:,2),XZ1(:,3),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'linewidth'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,2,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'o'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'markersize'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,12)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plot3(XZ2(:,1),XZ2(:,2),XZ2(:,3),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'linewidth'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,2,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'o'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'markersize'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,12)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plot3(YZ1(:,1),YZ1(:,2),YZ1(:,3),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'linewidth'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,2,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'o'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'markersize'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,12)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plot3(YZ2(:,1),YZ2(:,2),YZ2(:,3),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'linewidth'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,2,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'o'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'markersize'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,12)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FACE = [0.5 1 0.5;0 0.5 0.5;0.5 0 0.5;1 0.5 0.5;0.5 0.5 0;0.5 0.5 1];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plot3(FACE(:,1),FACE(:,2),FACE(:,3),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'r'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'linestyle'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'none'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'o'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'linewidth'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,2,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'markersize'</a:t>
            </a:r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,12)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axis </a:t>
            </a:r>
            <a:r>
              <a:rPr lang="en-IN" sz="1200" dirty="0">
                <a:solidFill>
                  <a:srgbClr val="A020F0"/>
                </a:solidFill>
                <a:latin typeface="Courier New" panose="02070309020205020404" pitchFamily="49" charset="0"/>
              </a:rPr>
              <a:t>equal</a:t>
            </a:r>
          </a:p>
          <a:p>
            <a:r>
              <a:rPr lang="en-I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view(-50,15)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8" t="2836" r="11280" b="5054"/>
          <a:stretch/>
        </p:blipFill>
        <p:spPr>
          <a:xfrm>
            <a:off x="7938599" y="-1"/>
            <a:ext cx="4126022" cy="372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285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Face–</a:t>
            </a:r>
            <a:r>
              <a:rPr lang="en-IN" sz="2800" dirty="0" err="1"/>
              <a:t>Centered</a:t>
            </a:r>
            <a:r>
              <a:rPr lang="en-IN" sz="2800" dirty="0"/>
              <a:t> Cubic Crystal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478" y="2788749"/>
            <a:ext cx="112184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– ordination number: 12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between lattice parameter and atomic radius: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2√2 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Packing Factor: Ratio of volume of the atoms to volume of unit cell = 0.74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corner atoms and face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atoms are equivalent. One can move the lattice such that face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 corner and the corner become face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909" y="0"/>
            <a:ext cx="5256091" cy="2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575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Body–</a:t>
            </a:r>
            <a:r>
              <a:rPr lang="en-IN" sz="2800" dirty="0" err="1"/>
              <a:t>Centered</a:t>
            </a:r>
            <a:r>
              <a:rPr lang="en-IN" sz="2800" dirty="0"/>
              <a:t> Cubic Crystal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34" y="523220"/>
            <a:ext cx="112184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– ordination number: 8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between lattice parameter and atomic radius: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4R/√3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Packing Factor: Ratio of volume of the atoms to volume of unit cell = 0.68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the cube such that one of the corners coincide with the body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atom will not alter the crystal structure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60" y="3757675"/>
            <a:ext cx="10129712" cy="275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09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Hexagonal Close–Packed Crystal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34" y="523220"/>
            <a:ext cx="120964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– ordination number: 12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between lattice parameter and atomic radius: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lattice parameter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=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1.633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closest packing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Packing Factor: Ratio of volume of the atoms to volume of unit cell = 0.74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comment about translation of the hexagonal unit cell.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519" y="3049859"/>
            <a:ext cx="7750067" cy="370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3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Density Computations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239" y="759342"/>
            <a:ext cx="1836137" cy="10349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6727" y="2690336"/>
            <a:ext cx="11286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Example:</a:t>
            </a:r>
            <a:r>
              <a:rPr lang="en-US" dirty="0"/>
              <a:t> Copper has an atomic radius of 0.128 nm, an FCC crystal structure, and an atomic weight of 63.5 g/mol. Compute its theoretical density and compare the answer with its measured density.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7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Polymorphism and Allotropy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3220"/>
            <a:ext cx="119690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Polymorphism</a:t>
            </a:r>
            <a:r>
              <a:rPr lang="en-US" dirty="0"/>
              <a:t> refers to the existence of more than one crystal structure, commonly found in both metals and Non – metals.</a:t>
            </a:r>
          </a:p>
          <a:p>
            <a:pPr algn="just"/>
            <a:r>
              <a:rPr lang="en-US" dirty="0" err="1"/>
              <a:t>Eg</a:t>
            </a:r>
            <a:r>
              <a:rPr lang="en-US" dirty="0"/>
              <a:t>: Iron at room temperature has BCC crystal structure, while at a temperature of 912</a:t>
            </a:r>
            <a:r>
              <a:rPr lang="en-US" i="1" baseline="30000" dirty="0"/>
              <a:t>0</a:t>
            </a:r>
            <a:r>
              <a:rPr lang="en-US" dirty="0"/>
              <a:t>C it forms FCC crystal structure.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b="1" dirty="0"/>
              <a:t>Allotropy:</a:t>
            </a:r>
            <a:r>
              <a:rPr lang="en-US" dirty="0"/>
              <a:t> The similar condition found in elemental solids is called </a:t>
            </a:r>
            <a:r>
              <a:rPr lang="en-US" b="1" dirty="0"/>
              <a:t>Allotropy</a:t>
            </a:r>
            <a:r>
              <a:rPr lang="en-US" dirty="0"/>
              <a:t>.</a:t>
            </a: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79" y="3093586"/>
            <a:ext cx="9807727" cy="35528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51964" y="2724254"/>
            <a:ext cx="66146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Examples for the three lattice types or crystal structures discussed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7190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Points, Directions and Planes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3220"/>
            <a:ext cx="119690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A crystallographic point </a:t>
            </a:r>
            <a:r>
              <a:rPr lang="en-US" dirty="0"/>
              <a:t>is represented using 3 co–ordinates, but as </a:t>
            </a:r>
            <a:r>
              <a:rPr lang="en-US" b="1" dirty="0"/>
              <a:t>fractional multiples of unit cell lengths</a:t>
            </a:r>
            <a:r>
              <a:rPr lang="en-US" dirty="0"/>
              <a:t>. 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No commas or parenthesis.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3945"/>
          <a:stretch/>
        </p:blipFill>
        <p:spPr>
          <a:xfrm>
            <a:off x="351486" y="1147955"/>
            <a:ext cx="5271393" cy="44786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736" y="1349684"/>
            <a:ext cx="4568351" cy="36114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51818" y="5083018"/>
            <a:ext cx="43713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Example: </a:t>
            </a:r>
            <a:r>
              <a:rPr lang="en-US" dirty="0"/>
              <a:t>Locate ¼ 1 ½ in the above unit cell.</a:t>
            </a:r>
          </a:p>
        </p:txBody>
      </p:sp>
    </p:spTree>
    <p:extLst>
      <p:ext uri="{BB962C8B-B14F-4D97-AF65-F5344CB8AC3E}">
        <p14:creationId xmlns:p14="http://schemas.microsoft.com/office/powerpoint/2010/main" val="1656954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Points, Directions and Planes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0" y="523220"/>
                <a:ext cx="8474877" cy="53553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/>
                  <a:t>A crystallographic direction </a:t>
                </a:r>
                <a:r>
                  <a:rPr lang="en-US" dirty="0"/>
                  <a:t>is represented using 3 co–ordinates, determined by following the procedure mentioned below:</a:t>
                </a:r>
              </a:p>
              <a:p>
                <a:pPr algn="just"/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Choose a convenient origin.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Determine the components of the direction in terms of the unit cell dimensions.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Multiply or divide them with a common factor to reduce them to smallest possible integers.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algn="just"/>
                <a:r>
                  <a:rPr lang="en-US" b="1" dirty="0"/>
                  <a:t>NOTE: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US" dirty="0"/>
                  <a:t>A vector can be translated throughout the crystal lattice and it would still represent the same direction. It can be translated to the origin you chose.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US" dirty="0"/>
                  <a:t>The three components or </a:t>
                </a:r>
                <a:r>
                  <a:rPr lang="en-US" b="1" dirty="0"/>
                  <a:t>indices</a:t>
                </a:r>
                <a:r>
                  <a:rPr lang="en-US" dirty="0"/>
                  <a:t>, not separated commas, are kept in </a:t>
                </a:r>
                <a:r>
                  <a:rPr lang="en-US" b="1" dirty="0"/>
                  <a:t>square brackets</a:t>
                </a:r>
                <a:r>
                  <a:rPr lang="en-US" dirty="0"/>
                  <a:t>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US" dirty="0"/>
                  <a:t>Negative indices are denoted using a ‘bar’ over the number rather than a ‘–’ sign.</a:t>
                </a:r>
              </a:p>
              <a:p>
                <a:pPr algn="just"/>
                <a:r>
                  <a:rPr lang="en-US" dirty="0"/>
                  <a:t>      </a:t>
                </a:r>
                <a:r>
                  <a:rPr lang="en-US" dirty="0" err="1"/>
                  <a:t>Eg</a:t>
                </a:r>
                <a:r>
                  <a:rPr lang="en-US" dirty="0"/>
                  <a:t>: [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] or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IN" i="1" dirty="0"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dirty="0"/>
                  <a:t>]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3220"/>
                <a:ext cx="8474877" cy="5355312"/>
              </a:xfrm>
              <a:prstGeom prst="rect">
                <a:avLst/>
              </a:prstGeom>
              <a:blipFill rotWithShape="0">
                <a:blip r:embed="rId3"/>
                <a:stretch>
                  <a:fillRect l="-576" t="-683" r="-576" b="-10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6741"/>
          <a:stretch/>
        </p:blipFill>
        <p:spPr>
          <a:xfrm>
            <a:off x="8474877" y="523220"/>
            <a:ext cx="3605666" cy="39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375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Points, Directions and Planes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523220"/>
            <a:ext cx="95670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Example 1:</a:t>
            </a:r>
            <a:r>
              <a:rPr lang="en-IN" dirty="0"/>
              <a:t> Determine the crystallographic direction in the figure shown.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Example 2:</a:t>
            </a:r>
            <a:r>
              <a:rPr lang="en-IN" dirty="0"/>
              <a:t> Draw the crystallographic direction corresponding to [1 2 1] and [2 1 1] directions.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634" y="2379316"/>
            <a:ext cx="4614342" cy="377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934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Family of Crystallographic Directions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0" y="523220"/>
                <a:ext cx="12023677" cy="34174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b="1" dirty="0"/>
                  <a:t>Observation:</a:t>
                </a:r>
                <a:r>
                  <a:rPr lang="en-IN" dirty="0"/>
                  <a:t> In a cubic crystal system, all the directions drawn along the lattice or co–ordinate axes are equivalent. So,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00</m:t>
                        </m:r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e>
                    </m:d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IN" dirty="0"/>
                  <a:t> are all equivalent.</a:t>
                </a:r>
              </a:p>
              <a:p>
                <a:pPr algn="just"/>
                <a:endParaRPr lang="en-IN" dirty="0"/>
              </a:p>
              <a:p>
                <a:pPr algn="just"/>
                <a:r>
                  <a:rPr lang="en-IN" b="1" dirty="0"/>
                  <a:t>Points to note:</a:t>
                </a:r>
                <a:r>
                  <a:rPr lang="en-IN" dirty="0"/>
                  <a:t> </a:t>
                </a:r>
              </a:p>
              <a:p>
                <a:pPr algn="just"/>
                <a:endParaRPr lang="en-IN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All these directions are collectively represented as </a:t>
                </a:r>
                <a:r>
                  <a:rPr lang="en-IN" b="1" dirty="0"/>
                  <a:t>&lt;100&gt; family of directions.</a:t>
                </a:r>
                <a:r>
                  <a:rPr lang="en-IN" dirty="0"/>
                  <a:t> </a:t>
                </a:r>
              </a:p>
              <a:p>
                <a:pPr algn="just"/>
                <a:endParaRPr lang="en-IN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Likewise,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acc>
                          <m:accPr>
                            <m:chr m:val="̅"/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acc>
                      </m:e>
                    </m:d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123</m:t>
                        </m:r>
                      </m:e>
                    </m:d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are members of the family &lt;123&gt;.</a:t>
                </a:r>
                <a:endParaRPr lang="en-IN" b="1" dirty="0"/>
              </a:p>
              <a:p>
                <a:pPr algn="just"/>
                <a:endParaRPr lang="en-IN" dirty="0"/>
              </a:p>
              <a:p>
                <a:pPr algn="just"/>
                <a:r>
                  <a:rPr lang="en-IN" b="1" dirty="0"/>
                  <a:t>Question 1:</a:t>
                </a:r>
                <a:r>
                  <a:rPr lang="en-IN" dirty="0"/>
                  <a:t> Are [200] and [100] same for a cubic system?</a:t>
                </a:r>
              </a:p>
              <a:p>
                <a:pPr algn="just"/>
                <a:endParaRPr lang="en-IN" dirty="0"/>
              </a:p>
              <a:p>
                <a:pPr algn="just"/>
                <a:r>
                  <a:rPr lang="en-IN" b="1" dirty="0"/>
                  <a:t>Question 2:</a:t>
                </a:r>
                <a:r>
                  <a:rPr lang="en-IN" dirty="0"/>
                  <a:t> For a tetragonal system [100] and [010] are equivalent, but [100] and [001] are not. Is this true?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3220"/>
                <a:ext cx="12023677" cy="3417474"/>
              </a:xfrm>
              <a:prstGeom prst="rect">
                <a:avLst/>
              </a:prstGeom>
              <a:blipFill rotWithShape="0">
                <a:blip r:embed="rId3"/>
                <a:stretch>
                  <a:fillRect l="-406" t="-1071" r="-406" b="-19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546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Directions For Hexagonal Crystals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" y="523219"/>
                <a:ext cx="8541891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Activity to Identify the Road Block: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 the co – ordinate system as shown and express all the equivalent directions within the hexagonal face in terms of indices.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do you observe?</a:t>
                </a: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the following for the same directions and see if you stiff face the same problem:</a:t>
                </a: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Using four indices instead of three indices, called Miller–</a:t>
                </a: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Bravais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indices.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523219"/>
                <a:ext cx="8541891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714" t="-966" r="-714" b="-19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892" y="523219"/>
            <a:ext cx="3650108" cy="44582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/>
          <a:srcRect r="2258"/>
          <a:stretch/>
        </p:blipFill>
        <p:spPr>
          <a:xfrm>
            <a:off x="4051185" y="4308870"/>
            <a:ext cx="2035716" cy="232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8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852"/>
          <a:stretch/>
        </p:blipFill>
        <p:spPr>
          <a:xfrm>
            <a:off x="7369791" y="947090"/>
            <a:ext cx="3848668" cy="4511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Directions For Hexagonal Crystals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2258"/>
          <a:stretch/>
        </p:blipFill>
        <p:spPr>
          <a:xfrm>
            <a:off x="2331567" y="769217"/>
            <a:ext cx="1749113" cy="19965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2956" y="3662204"/>
            <a:ext cx="62097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/>
              <a:t>Example: </a:t>
            </a:r>
            <a:r>
              <a:rPr lang="en-IN" sz="2000" dirty="0"/>
              <a:t>Find the indices of the directions shown</a:t>
            </a:r>
          </a:p>
        </p:txBody>
      </p:sp>
    </p:spTree>
    <p:extLst>
      <p:ext uri="{BB962C8B-B14F-4D97-AF65-F5344CB8AC3E}">
        <p14:creationId xmlns:p14="http://schemas.microsoft.com/office/powerpoint/2010/main" val="3182222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Planes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23220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like to express crystallographic planes in terms of 3 indices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hkl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a manner similar to co–ordinate geometry of planes where we use direction cosines of the normal to denote a plane. These three indices are called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Miller Indices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plane passes through the selected origin, either another parallel plane must be constructed within the unit cell by an appropriate translation, or a new origin must be established at the corner of another unit cell.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point the crystallographic plane either intersects or parallels each of the three axes; the length of the planar intercept for each axis is determined in terms of the lattice parameters a, b, and c.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reciprocals of these numbers are taken. A plane that parallels an axis may be considered to have an infinite intercept, and, therefore, a zero index.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necessary, these three numbers are changed to the set of smallest integers by multiplication or division by a common factor. 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integer indices, not separated by commas, are enclosed within parentheses, thus: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hkl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195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Planes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0" y="523220"/>
                <a:ext cx="12192000" cy="1501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/>
                  <a:t>Examples: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endParaRPr lang="en-US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dirty="0"/>
                  <a:t>Find the Miller Indices for the planes shown in the figures below.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endParaRPr lang="en-US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dirty="0"/>
                  <a:t>Draw the planes with Miller indices 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0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), </a:t>
                </a:r>
                <a:r>
                  <a:rPr lang="en-US" dirty="0"/>
                  <a:t>(123), 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11</m:t>
                    </m:r>
                    <m:acc>
                      <m:accPr>
                        <m:chr m:val="̅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IN" dirty="0"/>
                  <a:t>) in a cubic crystal system.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3220"/>
                <a:ext cx="12192000" cy="1501758"/>
              </a:xfrm>
              <a:prstGeom prst="rect">
                <a:avLst/>
              </a:prstGeom>
              <a:blipFill rotWithShape="0">
                <a:blip r:embed="rId2"/>
                <a:stretch>
                  <a:fillRect l="-400" t="-2439" b="-44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27" y="2548198"/>
            <a:ext cx="3576740" cy="39492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876" y="2658744"/>
            <a:ext cx="4612471" cy="371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6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Atomic Arrangement and Equivalence of planes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304" y="523220"/>
            <a:ext cx="5762326" cy="25433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23220"/>
            <a:ext cx="1801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In FCC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0" y="3771387"/>
            <a:ext cx="1801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In BCC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640" y="3585665"/>
            <a:ext cx="6785193" cy="286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922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Planes – Equivalent planes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6511"/>
          <a:stretch/>
        </p:blipFill>
        <p:spPr>
          <a:xfrm>
            <a:off x="341193" y="632905"/>
            <a:ext cx="3875965" cy="41509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19" y="523220"/>
            <a:ext cx="5155805" cy="3270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1088" r="-1"/>
          <a:stretch/>
        </p:blipFill>
        <p:spPr>
          <a:xfrm>
            <a:off x="6955749" y="3955207"/>
            <a:ext cx="4612944" cy="29027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50125" y="5112755"/>
                <a:ext cx="6534194" cy="12009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dirty="0"/>
                  <a:t>A family of planes are expressed within flower brackets</a:t>
                </a:r>
              </a:p>
              <a:p>
                <a:pPr algn="just"/>
                <a:endParaRPr lang="en-IN" dirty="0"/>
              </a:p>
              <a:p>
                <a:pPr algn="just"/>
                <a:r>
                  <a:rPr lang="en-IN" dirty="0"/>
                  <a:t>For e.g., {111} represent eight crystallographic planes in a cubic system – (111),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IN" dirty="0"/>
                  <a:t>),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) and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11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IN" dirty="0"/>
                  <a:t>) and the negative of them.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25" y="5112755"/>
                <a:ext cx="6534194" cy="1200906"/>
              </a:xfrm>
              <a:prstGeom prst="rect">
                <a:avLst/>
              </a:prstGeom>
              <a:blipFill rotWithShape="0">
                <a:blip r:embed="rId5"/>
                <a:stretch>
                  <a:fillRect l="-840" t="-3046" r="-746" b="-7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960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Crystallographic Planes – Hexagonal Crystals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23220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while representing planes, we need to introduce an additional, dependent co–ordinate in order that a family of planes contain the same combination of indices.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indices h k and l are determined first in the same manner as for cubic systems. After this, an additional co – ordinate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defined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–(h + k). The four – index representation for crystallographic planes in Hexagonal systems is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hkil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14" y="2191617"/>
            <a:ext cx="3421936" cy="37653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104263" y="3101947"/>
            <a:ext cx="60596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Find the Miller indices of the crystallographic plane shown here.</a:t>
            </a:r>
          </a:p>
        </p:txBody>
      </p:sp>
    </p:spTree>
    <p:extLst>
      <p:ext uri="{BB962C8B-B14F-4D97-AF65-F5344CB8AC3E}">
        <p14:creationId xmlns:p14="http://schemas.microsoft.com/office/powerpoint/2010/main" val="798195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and Planar Densities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523220"/>
                <a:ext cx="12192000" cy="5407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Density is associated with a particular crystallographic direction.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Planar Density is associated with a particular crystallographic plane.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Density (LD)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atoms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centered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along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direction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length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direction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vector</m:t>
                        </m:r>
                      </m:den>
                    </m:f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Planar Density (PD)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atoms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centered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plane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area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plane</m:t>
                        </m:r>
                      </m:den>
                    </m:f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Equivalent directions have identical linear densities.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Likewise, equivalent planes have identical planar densities.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Exercise 1: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Determine LD100, LD110 and LD111 in FCC and BCC crystal systems. Which is the closest packed direction in each case?</a:t>
                </a: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Exercise 2: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Determine PD100, PD110 and PD111 in FCC and BCC crystal systems. Which is the closest packed plane in each case?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3220"/>
                <a:ext cx="12192000" cy="5407699"/>
              </a:xfrm>
              <a:prstGeom prst="rect">
                <a:avLst/>
              </a:prstGeom>
              <a:blipFill rotWithShape="0">
                <a:blip r:embed="rId2"/>
                <a:stretch>
                  <a:fillRect l="-400" t="-676" r="-400" b="-9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9129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– packed Crystal Structures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2322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FCC and HCP are the closest packed, with an Atomic Packing Factor value = 0.74.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unit cell representation, these two crystal structures can be visualized as stacking of close – packed planes in a certain pattern.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the stacking sequence decides the type of crystal structure.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9" y="2550600"/>
            <a:ext cx="5750743" cy="27174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0" y="3447653"/>
            <a:ext cx="54535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you realize HCP Crystal Structure from this picture? What kind of stacking sequence should we follow hereafter?</a:t>
            </a:r>
          </a:p>
        </p:txBody>
      </p:sp>
    </p:spTree>
    <p:extLst>
      <p:ext uri="{BB962C8B-B14F-4D97-AF65-F5344CB8AC3E}">
        <p14:creationId xmlns:p14="http://schemas.microsoft.com/office/powerpoint/2010/main" val="3391071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– packed Crystal Structures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2322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FCC and HCP are the closest packed, with an Atomic Packing Factor value = 0.74.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unit cell representation, these two crystal structures can be visualized as stacking of close – packed planes in a certain pattern.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the stacking sequence decides the type of crystal structure.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9" y="2550600"/>
            <a:ext cx="5750743" cy="27174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064" y="2441319"/>
            <a:ext cx="5984936" cy="266294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2060812" y="3152633"/>
            <a:ext cx="423081" cy="7779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 flipV="1">
            <a:off x="3404081" y="3131396"/>
            <a:ext cx="497107" cy="7779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2060812" y="3929789"/>
            <a:ext cx="497107" cy="7779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454661" y="3916142"/>
            <a:ext cx="423081" cy="7779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2545232" y="4694064"/>
            <a:ext cx="9094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2545232" y="3152633"/>
            <a:ext cx="9094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5414290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can occupy either B or C positions as shown in the picture on the right (pink ‘B’ spheres placed over blue ‘A’ spheres). So, if we occupy B positions, the next layer of atoms can occupy either C or A positions. If we choose A positions, we will get HCP. If we choose C positions we will get FCC.</a:t>
            </a:r>
          </a:p>
          <a:p>
            <a:pPr algn="just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FCC corresponds to ABCABCABC….stacking sequence.</a:t>
            </a:r>
          </a:p>
          <a:p>
            <a:pPr algn="just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HCP corresponds to ABABAB…..stacking sequence.</a:t>
            </a:r>
          </a:p>
        </p:txBody>
      </p:sp>
    </p:spTree>
    <p:extLst>
      <p:ext uri="{BB962C8B-B14F-4D97-AF65-F5344CB8AC3E}">
        <p14:creationId xmlns:p14="http://schemas.microsoft.com/office/powerpoint/2010/main" val="1874798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– packed Crystal Structures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4597" y="5176388"/>
            <a:ext cx="88028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FCC corresponds to ABCABCABC….stacking sequence. These planes are {111} family.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HCP corresponds to ABABAB…..stacking sequence. These planes are {0001} family.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3" y="938739"/>
            <a:ext cx="3571081" cy="35384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315" y="523220"/>
            <a:ext cx="2462499" cy="42376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9481" y="523220"/>
            <a:ext cx="3567757" cy="330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02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Crystalline and Non – Crystalline Solids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23220"/>
            <a:ext cx="815469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Crystal:</a:t>
            </a:r>
          </a:p>
          <a:p>
            <a:pPr algn="just"/>
            <a:endParaRPr lang="en-I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regular atomic arrangement spans through the entirety of the specimen, it is a single crystal material.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naturally available single crystal materials such as the one shown here. It is a garnet single crystal – stone containing silicate mineral.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Apart from the naturally available materials, artificially one can grow single crystals by maintaining stringent ambient conditions.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crystal materials have applications in electronic microcircuits and other semiconductors.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practical difficulties that you expect in growing a single crystal?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694" y="523220"/>
            <a:ext cx="3880200" cy="270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93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Crystalline and Non – Crystalline Solids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23220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Poly–crystalline Material: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3" y="1169551"/>
            <a:ext cx="2647239" cy="20174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191" y="1169551"/>
            <a:ext cx="2610975" cy="19903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191" y="4426493"/>
            <a:ext cx="2647239" cy="19812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73" y="4417446"/>
            <a:ext cx="2610975" cy="1990313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4067032" y="2306472"/>
            <a:ext cx="151490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8038678" y="3159864"/>
            <a:ext cx="0" cy="126662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067033" y="5308979"/>
            <a:ext cx="1514901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17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Crystalline and Non–Crystalline Solids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2322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Anisotropy: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dependency of a property is called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Anisotropy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material which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magnetically anisotropic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NOT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anisotropy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there is no directional dependence of a property, then we call the material to be isotropic.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polycrystalline material can be isotropic if there are a large number of crystals or grains, each with random orientation. Thus, although an individual grain may be anisotropic, a collection of such grains with random orientations can behave isotropic.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46" y="3737802"/>
            <a:ext cx="6738721" cy="245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15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of Crystal Structures Using X–Ray Diffraction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23220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Diffraction: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672" y="523220"/>
            <a:ext cx="7358094" cy="30934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448" y="3616657"/>
            <a:ext cx="7189838" cy="317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48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149" y="518622"/>
            <a:ext cx="6146851" cy="3630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of Crystal Structures Using X–Ray Diffraction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23220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Diffraction: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0" y="1226508"/>
                <a:ext cx="6045149" cy="26225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 for the diffraction to occur: the difference in the lengths of the path travelled by the two beams must be an integral multiple of the wavelength.</a:t>
                </a: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i.e.,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λ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𝑆𝑄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𝑄𝑇</m:t>
                        </m:r>
                      </m:e>
                    </m:acc>
                  </m:oMath>
                </a14:m>
                <a:endParaRPr lang="en-I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λ</m:t>
                    </m:r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h𝑘𝑙</m:t>
                        </m:r>
                      </m:sub>
                    </m:sSub>
                    <m:func>
                      <m:funcPr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h𝑘𝑙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26508"/>
                <a:ext cx="6045149" cy="2622577"/>
              </a:xfrm>
              <a:prstGeom prst="rect">
                <a:avLst/>
              </a:prstGeom>
              <a:blipFill rotWithShape="0">
                <a:blip r:embed="rId3"/>
                <a:stretch>
                  <a:fillRect l="-806" t="-1163" r="-7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0851" y="4392118"/>
            <a:ext cx="815145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condition is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sufficient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BCC,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+ k + 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even.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FCC,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h, k, 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must be either odd or even.</a:t>
            </a:r>
          </a:p>
        </p:txBody>
      </p:sp>
    </p:spTree>
    <p:extLst>
      <p:ext uri="{BB962C8B-B14F-4D97-AF65-F5344CB8AC3E}">
        <p14:creationId xmlns:p14="http://schemas.microsoft.com/office/powerpoint/2010/main" val="1024131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of Crystal Structures Using X–Ray Diffraction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23220"/>
            <a:ext cx="21836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Schematic of Setup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5772"/>
            <a:ext cx="4761020" cy="42398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020" y="2860782"/>
            <a:ext cx="7430980" cy="18924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58414" y="4835105"/>
            <a:ext cx="5236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typical plot of Intensity Vs Diffraction Angle</a:t>
            </a:r>
          </a:p>
        </p:txBody>
      </p:sp>
    </p:spTree>
    <p:extLst>
      <p:ext uri="{BB962C8B-B14F-4D97-AF65-F5344CB8AC3E}">
        <p14:creationId xmlns:p14="http://schemas.microsoft.com/office/powerpoint/2010/main" val="3836471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5119</TotalTime>
  <Words>2434</Words>
  <Application>Microsoft Office PowerPoint</Application>
  <PresentationFormat>Widescreen</PresentationFormat>
  <Paragraphs>261</Paragraphs>
  <Slides>34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Courier New</vt:lpstr>
      <vt:lpstr>Symbol</vt:lpstr>
      <vt:lpstr>Times New Roman</vt:lpstr>
      <vt:lpstr>Wingdings</vt:lpstr>
      <vt:lpstr>Office Theme</vt:lpstr>
      <vt:lpstr>The Structure of Crystalline Solids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Siva Prasad A V S</dc:creator>
  <cp:lastModifiedBy>jagadish151223@outlook.com</cp:lastModifiedBy>
  <cp:revision>332</cp:revision>
  <dcterms:created xsi:type="dcterms:W3CDTF">2018-09-04T10:03:30Z</dcterms:created>
  <dcterms:modified xsi:type="dcterms:W3CDTF">2024-08-20T05:40:58Z</dcterms:modified>
</cp:coreProperties>
</file>